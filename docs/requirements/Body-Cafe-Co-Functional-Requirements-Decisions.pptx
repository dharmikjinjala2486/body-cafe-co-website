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f03be1e39e412e" /><Relationship Type="http://schemas.openxmlformats.org/officeDocument/2006/relationships/extended-properties" Target="/docProps/app.xml" Id="R0011ad4482364d7c" /><Relationship Type="http://schemas.openxmlformats.org/officeDocument/2006/relationships/officeDocument" Target="/ppt/presentation.xml" Id="R8dcdb3f1a53d42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7b3942de5549c8"/>
  </p:sldMasterIdLst>
  <p:notesMasterIdLst>
    <p:notesMasterId xmlns:r="http://schemas.openxmlformats.org/officeDocument/2006/relationships" r:id="R5209374253704532"/>
  </p:notesMasterIdLst>
  <p:sldIdLst>
    <p:sldId xmlns:r="http://schemas.openxmlformats.org/officeDocument/2006/relationships" id="256" r:id="R12ff091a5a8845b2"/>
    <p:sldId xmlns:r="http://schemas.openxmlformats.org/officeDocument/2006/relationships" id="257" r:id="R474c185b72b140dc"/>
    <p:sldId xmlns:r="http://schemas.openxmlformats.org/officeDocument/2006/relationships" id="258" r:id="R1b9d3bc665d6440c"/>
    <p:sldId xmlns:r="http://schemas.openxmlformats.org/officeDocument/2006/relationships" id="259" r:id="R609213836020403e"/>
    <p:sldId xmlns:r="http://schemas.openxmlformats.org/officeDocument/2006/relationships" id="260" r:id="Rc33a64cc3a7d4d66"/>
    <p:sldId xmlns:r="http://schemas.openxmlformats.org/officeDocument/2006/relationships" id="261" r:id="R5309d0dc9fba4698"/>
    <p:sldId xmlns:r="http://schemas.openxmlformats.org/officeDocument/2006/relationships" id="262" r:id="R5a9884c9aaf340cf"/>
    <p:sldId xmlns:r="http://schemas.openxmlformats.org/officeDocument/2006/relationships" id="263" r:id="R6c1009e92788477f"/>
    <p:sldId xmlns:r="http://schemas.openxmlformats.org/officeDocument/2006/relationships" id="264" r:id="Re55cb4049cc745e2"/>
    <p:sldId xmlns:r="http://schemas.openxmlformats.org/officeDocument/2006/relationships" id="265" r:id="Rd4645fb949e7442d"/>
    <p:sldId xmlns:r="http://schemas.openxmlformats.org/officeDocument/2006/relationships" id="266" r:id="R57f67f2992dc4e40"/>
    <p:sldId xmlns:r="http://schemas.openxmlformats.org/officeDocument/2006/relationships" id="267" r:id="Rd0d1d02c10784dda"/>
    <p:sldId xmlns:r="http://schemas.openxmlformats.org/officeDocument/2006/relationships" id="268" r:id="Ra00b0ebcc3014141"/>
    <p:sldId xmlns:r="http://schemas.openxmlformats.org/officeDocument/2006/relationships" id="269" r:id="Ree247d31e12e4bee"/>
    <p:sldId xmlns:r="http://schemas.openxmlformats.org/officeDocument/2006/relationships" id="270" r:id="R8271d7a662924593"/>
    <p:sldId xmlns:r="http://schemas.openxmlformats.org/officeDocument/2006/relationships" id="271" r:id="Rc8579a8c79b64c28"/>
    <p:sldId xmlns:r="http://schemas.openxmlformats.org/officeDocument/2006/relationships" id="272" r:id="R0f3497685ea34859"/>
    <p:sldId xmlns:r="http://schemas.openxmlformats.org/officeDocument/2006/relationships" id="273" r:id="R39f6f6be66114b95"/>
    <p:sldId xmlns:r="http://schemas.openxmlformats.org/officeDocument/2006/relationships" id="274" r:id="Ra9fe4c9fe59c4554"/>
    <p:sldId xmlns:r="http://schemas.openxmlformats.org/officeDocument/2006/relationships" id="275" r:id="Rb14cbbc667294e18"/>
    <p:sldId xmlns:r="http://schemas.openxmlformats.org/officeDocument/2006/relationships" id="276" r:id="Rabd6d53ebe464c3d"/>
    <p:sldId xmlns:r="http://schemas.openxmlformats.org/officeDocument/2006/relationships" id="277" r:id="Rdee4c4979ca34fac"/>
    <p:sldId xmlns:r="http://schemas.openxmlformats.org/officeDocument/2006/relationships" id="278" r:id="R30f34dcba0724f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6229066aca482d" /><Relationship Type="http://schemas.openxmlformats.org/officeDocument/2006/relationships/slideMaster" Target="/ppt/slideMasters/slideMaster1.xml" Id="R237b3942de5549c8" /><Relationship Type="http://schemas.openxmlformats.org/officeDocument/2006/relationships/notesMaster" Target="/ppt/notesMasters/notesMaster1.xml" Id="R5209374253704532" /><Relationship Type="http://schemas.openxmlformats.org/officeDocument/2006/relationships/presProps" Target="/ppt/presProps.xml" Id="R8aa7c7b1a82744d5" /><Relationship Type="http://schemas.openxmlformats.org/officeDocument/2006/relationships/tableStyles" Target="/ppt/tableStyles.xml" Id="R4844536b50894532" /><Relationship Type="http://schemas.openxmlformats.org/officeDocument/2006/relationships/slide" Target="/ppt/slides/slide1.xml" Id="R12ff091a5a8845b2" /><Relationship Type="http://schemas.openxmlformats.org/officeDocument/2006/relationships/slide" Target="/ppt/slides/slide2.xml" Id="R474c185b72b140dc" /><Relationship Type="http://schemas.openxmlformats.org/officeDocument/2006/relationships/slide" Target="/ppt/slides/slide3.xml" Id="R1b9d3bc665d6440c" /><Relationship Type="http://schemas.openxmlformats.org/officeDocument/2006/relationships/slide" Target="/ppt/slides/slide4.xml" Id="R609213836020403e" /><Relationship Type="http://schemas.openxmlformats.org/officeDocument/2006/relationships/slide" Target="/ppt/slides/slide5.xml" Id="Rc33a64cc3a7d4d66" /><Relationship Type="http://schemas.openxmlformats.org/officeDocument/2006/relationships/slide" Target="/ppt/slides/slide6.xml" Id="R5309d0dc9fba4698" /><Relationship Type="http://schemas.openxmlformats.org/officeDocument/2006/relationships/slide" Target="/ppt/slides/slide7.xml" Id="R5a9884c9aaf340cf" /><Relationship Type="http://schemas.openxmlformats.org/officeDocument/2006/relationships/slide" Target="/ppt/slides/slide8.xml" Id="R6c1009e92788477f" /><Relationship Type="http://schemas.openxmlformats.org/officeDocument/2006/relationships/slide" Target="/ppt/slides/slide9.xml" Id="Re55cb4049cc745e2" /><Relationship Type="http://schemas.openxmlformats.org/officeDocument/2006/relationships/slide" Target="/ppt/slides/slide10.xml" Id="Rd4645fb949e7442d" /><Relationship Type="http://schemas.openxmlformats.org/officeDocument/2006/relationships/slide" Target="/ppt/slides/slide11.xml" Id="R57f67f2992dc4e40" /><Relationship Type="http://schemas.openxmlformats.org/officeDocument/2006/relationships/slide" Target="/ppt/slides/slide12.xml" Id="Rd0d1d02c10784dda" /><Relationship Type="http://schemas.openxmlformats.org/officeDocument/2006/relationships/slide" Target="/ppt/slides/slide13.xml" Id="Ra00b0ebcc3014141" /><Relationship Type="http://schemas.openxmlformats.org/officeDocument/2006/relationships/slide" Target="/ppt/slides/slide14.xml" Id="Ree247d31e12e4bee" /><Relationship Type="http://schemas.openxmlformats.org/officeDocument/2006/relationships/slide" Target="/ppt/slides/slide15.xml" Id="R8271d7a662924593" /><Relationship Type="http://schemas.openxmlformats.org/officeDocument/2006/relationships/slide" Target="/ppt/slides/slide16.xml" Id="Rc8579a8c79b64c28" /><Relationship Type="http://schemas.openxmlformats.org/officeDocument/2006/relationships/slide" Target="/ppt/slides/slide17.xml" Id="R0f3497685ea34859" /><Relationship Type="http://schemas.openxmlformats.org/officeDocument/2006/relationships/slide" Target="/ppt/slides/slide18.xml" Id="R39f6f6be66114b95" /><Relationship Type="http://schemas.openxmlformats.org/officeDocument/2006/relationships/slide" Target="/ppt/slides/slide19.xml" Id="Ra9fe4c9fe59c4554" /><Relationship Type="http://schemas.openxmlformats.org/officeDocument/2006/relationships/slide" Target="/ppt/slides/slide20.xml" Id="Rb14cbbc667294e18" /><Relationship Type="http://schemas.openxmlformats.org/officeDocument/2006/relationships/slide" Target="/ppt/slides/slide21.xml" Id="Rabd6d53ebe464c3d" /><Relationship Type="http://schemas.openxmlformats.org/officeDocument/2006/relationships/slide" Target="/ppt/slides/slide22.xml" Id="Rdee4c4979ca34fac" /><Relationship Type="http://schemas.openxmlformats.org/officeDocument/2006/relationships/slide" Target="/ppt/slides/slide23.xml" Id="R30f34dcba0724f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b680f2da0d45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11c238fc524657" /><Relationship Type="http://schemas.openxmlformats.org/officeDocument/2006/relationships/notesMaster" Target="/ppt/notesMasters/notesMaster1.xml" Id="R578e319dd58849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39792004984549" /><Relationship Type="http://schemas.openxmlformats.org/officeDocument/2006/relationships/notesMaster" Target="/ppt/notesMasters/notesMaster1.xml" Id="Rfd3dc82c1adb4a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f2193db9b44241" /><Relationship Type="http://schemas.openxmlformats.org/officeDocument/2006/relationships/notesMaster" Target="/ppt/notesMasters/notesMaster1.xml" Id="R38c9efa098c243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b10a1187234e85" /><Relationship Type="http://schemas.openxmlformats.org/officeDocument/2006/relationships/notesMaster" Target="/ppt/notesMasters/notesMaster1.xml" Id="R5c2686a6067841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bb2d37f7be45cc" /><Relationship Type="http://schemas.openxmlformats.org/officeDocument/2006/relationships/notesMaster" Target="/ppt/notesMasters/notesMaster1.xml" Id="R74d02bd01e6b41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45d281bbc34364" /><Relationship Type="http://schemas.openxmlformats.org/officeDocument/2006/relationships/notesMaster" Target="/ppt/notesMasters/notesMaster1.xml" Id="Re1234f3b40a644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2b818903ef4ea6" /><Relationship Type="http://schemas.openxmlformats.org/officeDocument/2006/relationships/notesMaster" Target="/ppt/notesMasters/notesMaster1.xml" Id="Rc5426a2c311c42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fcc11344ea48ce" /><Relationship Type="http://schemas.openxmlformats.org/officeDocument/2006/relationships/notesMaster" Target="/ppt/notesMasters/notesMaster1.xml" Id="R0aaeb0d560e144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271cc5ee2848d4" /><Relationship Type="http://schemas.openxmlformats.org/officeDocument/2006/relationships/notesMaster" Target="/ppt/notesMasters/notesMaster1.xml" Id="Rfce45b4927d444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bbeab21f004506" /><Relationship Type="http://schemas.openxmlformats.org/officeDocument/2006/relationships/notesMaster" Target="/ppt/notesMasters/notesMaster1.xml" Id="R2f9226bee92449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72e579e4aa4244" /><Relationship Type="http://schemas.openxmlformats.org/officeDocument/2006/relationships/notesMaster" Target="/ppt/notesMasters/notesMaster1.xml" Id="Rb30c549bdcda40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8e3c5b705b4606" /><Relationship Type="http://schemas.openxmlformats.org/officeDocument/2006/relationships/notesMaster" Target="/ppt/notesMasters/notesMaster1.xml" Id="R3d58d9af3d2e4f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3e5077b5c14f1c" /><Relationship Type="http://schemas.openxmlformats.org/officeDocument/2006/relationships/notesMaster" Target="/ppt/notesMasters/notesMaster1.xml" Id="R6c434ebcb19b4e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31e3913ab84ff8" /><Relationship Type="http://schemas.openxmlformats.org/officeDocument/2006/relationships/notesMaster" Target="/ppt/notesMasters/notesMaster1.xml" Id="R54e61f7aae2c444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63426b0c6d43b2" /><Relationship Type="http://schemas.openxmlformats.org/officeDocument/2006/relationships/notesMaster" Target="/ppt/notesMasters/notesMaster1.xml" Id="Rfa956dfcc2ec403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7834530ce54398" /><Relationship Type="http://schemas.openxmlformats.org/officeDocument/2006/relationships/notesMaster" Target="/ppt/notesMasters/notesMaster1.xml" Id="R2768a6874fb647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d7120bf58e413d" /><Relationship Type="http://schemas.openxmlformats.org/officeDocument/2006/relationships/notesMaster" Target="/ppt/notesMasters/notesMaster1.xml" Id="Rd9ee8e897692499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d6b1b0b60e84d8a" /><Relationship Type="http://schemas.openxmlformats.org/officeDocument/2006/relationships/notesMaster" Target="/ppt/notesMasters/notesMaster1.xml" Id="R67549610f6d54a7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7a6618e3f64f70" /><Relationship Type="http://schemas.openxmlformats.org/officeDocument/2006/relationships/notesMaster" Target="/ppt/notesMasters/notesMaster1.xml" Id="R13e8060c3b484f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b5bf7ca49eb4fbf" /><Relationship Type="http://schemas.openxmlformats.org/officeDocument/2006/relationships/notesMaster" Target="/ppt/notesMasters/notesMaster1.xml" Id="R501c3c5fb3774d4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92a95811944569" /><Relationship Type="http://schemas.openxmlformats.org/officeDocument/2006/relationships/notesMaster" Target="/ppt/notesMasters/notesMaster1.xml" Id="Rbf2d428d253a4b0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ab0c213e79041e8" /><Relationship Type="http://schemas.openxmlformats.org/officeDocument/2006/relationships/notesMaster" Target="/ppt/notesMasters/notesMaster1.xml" Id="Rd2a41fdbb25c4d8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5d78b3993bf4b8d" /><Relationship Type="http://schemas.openxmlformats.org/officeDocument/2006/relationships/notesMaster" Target="/ppt/notesMasters/notesMaster1.xml" Id="R203b0298b48d4a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central commitment: Body Café Co will use commerce to demonstrate trust, not merely claim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- Body Café Co Website Context Brain, internal workspace, 2026-08-03.</a:t>
            </a:r>
          </a:p>
          <a:p xmlns:a="http://schemas.openxmlformats.org/drawingml/2006/main">
            <a:r>
              <a:t>- Body Café Co supplied logo assets, internal workspace.</a:t>
            </a:r>
          </a:p>
          <a:p xmlns:a="http://schemas.openxmlformats.org/drawingml/2006/main">
            <a:r>
              <a:t>- Body Cafe Co Colours.xlsx, internal workspace.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decision as an operating model: trust must survive the entire transaction, not only the marketing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- Body Café Co Website Context Brain, internal workspace, 2026-08-03.</a:t>
            </a:r>
          </a:p>
          <a:p xmlns:a="http://schemas.openxmlformats.org/drawingml/2006/main">
            <a:r>
              <a:t>- Body Cafe Co Colours.xlsx, internal workspace.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customer can move from uncertainty to purchase without surrendering privacy or being pushed by dark patterns.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- Body Café Co Website Context Brain, internal workspace,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the chosen growth model still sells actively, but it earns the sale through clarity, relevance and honest economics.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- Approved Body Café Co decision workshop in this Codex task,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product promise converted into release control. Marketing cannot turn on proof badges independently of quality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- Body Café Co Website Context Brain, internal workspace, 2026-08-03.</a:t>
            </a:r>
          </a:p>
          <a:p xmlns:a="http://schemas.openxmlformats.org/drawingml/2006/main">
            <a:r>
              <a:t>- FSSAI Health Supplements: https://fssai.gov.in/cms/health-supplements.php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customer experiences low friction, while the server enforces the payment, stock, age and audit controls that protect the business.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- Razorpay Standard Checkout guidance: https://razorpay.com/docs/payments/payment-gateway/web-integration/standard/integration-steps/?preferred-country=IN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Vendor dashboards remain useful, but they cannot be the source of truth because the business must reconcile across products, batches, channels and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courier pair remains configurable. The decision is to learn from comparable orders with deterministic assignment and an auditable override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- Approved Body Café Co decision workshop in this Codex task,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Ordinary service and safety share context but not priority. A credible complaint can stop sale immediately through quarantine.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- FSSAI Health Supplements: https://fssai.gov.in/cms/health-supplements.php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complete v1 includes Amazon operations, but Amazon approval or credentials cannot hold the D2C business hostage.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- Amazon Selling Partner API FBA Inventory: https://developer-docs.amazon.com/sp-api/lang-en_EN/docs/fba-inventory-api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data model serves operations first, then analytics. Optional marketing tools receive only consented 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- MeitY Digital Personal Data Protection Rules, 2025: https://www.meity.gov.in/static/uploads/2025/11/53450e6e5dc0bfa85ebd78686cadad39.pdf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v1 model deliberately keeps only Admin and Viewer. Risk is controlled through MFA, server authorization, a different-person approval rule and immutable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- Approved Body Café Co decision workshop in this Codex task,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scope is one complete v1, but activation is staged by dependency. Gate A is independently safe; Gate B completes the marketplace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- Approved Body Café Co decision workshop in this Codex task,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ownership rather than feature debate. The remaining items are configuration and evidence responsibilities, not unanswered product direction.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- Body Café Co Website Context Brain, internal workspace,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appendix slide only if the CEO wants to revisit the option set. The highlighted choice is the approved direction carried into the PRD.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Body Café Co decision workshop in this Codex task, 2026-08-03.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appendix slide only if the CEO wants to revisit the option set. The highlighted choice is the approved direction carried into the PRD.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Body Café Co decision workshop in this Codex task, 2026-08-03.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appendix slide only if the CEO wants to revisit the option set. The highlighted choice is the approved direction carried into the PRD.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Body Café Co decision workshop in this Codex task, 2026-08-03.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appendix slide only if the CEO wants to revisit the option set. The highlighted choice is the approved direction carried into the PRD.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Body Café Co decision workshop in this Codex task, 2026-08-03.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appendix slide only if the CEO wants to revisit the option set. The highlighted choice is the approved direction carried into the PRD.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Body Café Co decision workshop in this Codex task, 2026-08-03.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appendix slide only if the CEO wants to revisit the option set. The highlighted choice is the approved direction carried into the PRD.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Body Café Co decision workshop in this Codex task, 2026-08-03.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appendix slide only if the CEO wants to revisit the option set. The highlighted choice is the approved direction carried into the PRD.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Body Café Co decision workshop in this Codex task, 2026-08-03.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appendix slide only if the CEO wants to revisit the option set. The highlighted choice is the approved direction carried into the PRD.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Body Café Co decision workshop in this Codex task, 2026-08-03.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appendix slide only if the CEO wants to revisit the option set. The highlighted choice is the approved direction carried into the PRD.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Body Café Co decision workshop in this Codex task, 2026-08-03.</a:t>
            </a:r>
          </a:p>
          <a:p xmlns:a="http://schemas.openxmlformats.org/drawingml/2006/main">
            <a:r>
              <a:t>- Body Café Co Functional Requirements PRD v1.0, internal workspace,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711213f1e47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c77f43df654fd8" /><Relationship Type="http://schemas.openxmlformats.org/officeDocument/2006/relationships/slideLayout" Target="/ppt/slideLayouts/slideLayout1.xml" Id="Rd3abffa696974b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abffa696974b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b15809fad4117" /><Relationship Type="http://schemas.openxmlformats.org/officeDocument/2006/relationships/image" Target="/ppt/media/image.png" Id="Ra826ed03118548d6" /><Relationship Type="http://schemas.openxmlformats.org/officeDocument/2006/relationships/notesSlide" Target="/ppt/notesSlides/notesSlide1.xml" Id="R09b3b58d83ce4e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bec2666f74a63" /><Relationship Type="http://schemas.openxmlformats.org/officeDocument/2006/relationships/image" Target="/ppt/media/image2.png" Id="R498094bd59a14b4f" /><Relationship Type="http://schemas.openxmlformats.org/officeDocument/2006/relationships/notesSlide" Target="/ppt/notesSlides/notesSlide2.xml" Id="R2124b026135140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8f443efdc4a1f" /><Relationship Type="http://schemas.openxmlformats.org/officeDocument/2006/relationships/image" Target="/ppt/media/image3.png" Id="R4585dd4c789d4539" /><Relationship Type="http://schemas.openxmlformats.org/officeDocument/2006/relationships/notesSlide" Target="/ppt/notesSlides/notesSlide3.xml" Id="R6e62cb40aad440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c7646e45a47b1" /><Relationship Type="http://schemas.openxmlformats.org/officeDocument/2006/relationships/image" Target="/ppt/media/image4.png" Id="R4a9fdeccfcda441d" /><Relationship Type="http://schemas.openxmlformats.org/officeDocument/2006/relationships/notesSlide" Target="/ppt/notesSlides/notesSlide4.xml" Id="Re65ecbf50a3e40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3902ced8f43ab" /><Relationship Type="http://schemas.openxmlformats.org/officeDocument/2006/relationships/image" Target="/ppt/media/image5.png" Id="R90ccffc7cb094e80" /><Relationship Type="http://schemas.openxmlformats.org/officeDocument/2006/relationships/notesSlide" Target="/ppt/notesSlides/notesSlide5.xml" Id="Rd0422157d37243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a2978c06443dc" /><Relationship Type="http://schemas.openxmlformats.org/officeDocument/2006/relationships/image" Target="/ppt/media/image6.png" Id="R9b74111465064766" /><Relationship Type="http://schemas.openxmlformats.org/officeDocument/2006/relationships/notesSlide" Target="/ppt/notesSlides/notesSlide6.xml" Id="R799c635993234c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283dc2e8e4504" /><Relationship Type="http://schemas.openxmlformats.org/officeDocument/2006/relationships/image" Target="/ppt/media/image7.png" Id="Rdd4cbd66ee6f42e1" /><Relationship Type="http://schemas.openxmlformats.org/officeDocument/2006/relationships/notesSlide" Target="/ppt/notesSlides/notesSlide7.xml" Id="Rd341fd9cca5e46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3e8703c70418d" /><Relationship Type="http://schemas.openxmlformats.org/officeDocument/2006/relationships/image" Target="/ppt/media/image8.png" Id="R6d4d568f8d404ad4" /><Relationship Type="http://schemas.openxmlformats.org/officeDocument/2006/relationships/notesSlide" Target="/ppt/notesSlides/notesSlide8.xml" Id="R73a627d74ad74e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aa7e0367d4a9e" /><Relationship Type="http://schemas.openxmlformats.org/officeDocument/2006/relationships/image" Target="/ppt/media/image9.png" Id="Rd7926ff30b0f49dd" /><Relationship Type="http://schemas.openxmlformats.org/officeDocument/2006/relationships/notesSlide" Target="/ppt/notesSlides/notesSlide9.xml" Id="R19724b8a487c49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27295663e42e5" /><Relationship Type="http://schemas.openxmlformats.org/officeDocument/2006/relationships/image" Target="/ppt/media/image10.png" Id="R093d208632b74675" /><Relationship Type="http://schemas.openxmlformats.org/officeDocument/2006/relationships/notesSlide" Target="/ppt/notesSlides/notesSlide10.xml" Id="R013d1c6c6af748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3baae1dff4c67" /><Relationship Type="http://schemas.openxmlformats.org/officeDocument/2006/relationships/image" Target="/ppt/media/image11.png" Id="Rbf69ac25cbb741bd" /><Relationship Type="http://schemas.openxmlformats.org/officeDocument/2006/relationships/notesSlide" Target="/ppt/notesSlides/notesSlide11.xml" Id="R7229017f3c3a49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a9a93e82e48e3" /><Relationship Type="http://schemas.openxmlformats.org/officeDocument/2006/relationships/image" Target="/ppt/media/image12.png" Id="Rdae8105184954ddc" /><Relationship Type="http://schemas.openxmlformats.org/officeDocument/2006/relationships/notesSlide" Target="/ppt/notesSlides/notesSlide12.xml" Id="R7cc5795f204a4b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ff74b0c924ca5" /><Relationship Type="http://schemas.openxmlformats.org/officeDocument/2006/relationships/image" Target="/ppt/media/image13.png" Id="Rb851ae07ee694071" /><Relationship Type="http://schemas.openxmlformats.org/officeDocument/2006/relationships/notesSlide" Target="/ppt/notesSlides/notesSlide13.xml" Id="R93ba6f6d25eb40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8e4f7b39a4437" /><Relationship Type="http://schemas.openxmlformats.org/officeDocument/2006/relationships/image" Target="/ppt/media/image14.png" Id="R3dd12ba34fea43bf" /><Relationship Type="http://schemas.openxmlformats.org/officeDocument/2006/relationships/notesSlide" Target="/ppt/notesSlides/notesSlide14.xml" Id="R4c1d7be0792447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0b51a228d4ff0" /><Relationship Type="http://schemas.openxmlformats.org/officeDocument/2006/relationships/image" Target="/ppt/media/image15.png" Id="R9cee9bcb8c854db7" /><Relationship Type="http://schemas.openxmlformats.org/officeDocument/2006/relationships/notesSlide" Target="/ppt/notesSlides/notesSlide15.xml" Id="R01b92bc64fee4c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ee0f577e94bf0" /><Relationship Type="http://schemas.openxmlformats.org/officeDocument/2006/relationships/image" Target="/ppt/media/image16.png" Id="R8d48af37fb8f4562" /><Relationship Type="http://schemas.openxmlformats.org/officeDocument/2006/relationships/notesSlide" Target="/ppt/notesSlides/notesSlide16.xml" Id="R34b50220d69c49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9f3a18a204c22" /><Relationship Type="http://schemas.openxmlformats.org/officeDocument/2006/relationships/image" Target="/ppt/media/image17.png" Id="R5df7ed34a2f34afa" /><Relationship Type="http://schemas.openxmlformats.org/officeDocument/2006/relationships/notesSlide" Target="/ppt/notesSlides/notesSlide17.xml" Id="Rd0e29db7980844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9cc6b08164472" /><Relationship Type="http://schemas.openxmlformats.org/officeDocument/2006/relationships/image" Target="/ppt/media/image18.png" Id="R6ea6e2e045494d6f" /><Relationship Type="http://schemas.openxmlformats.org/officeDocument/2006/relationships/notesSlide" Target="/ppt/notesSlides/notesSlide18.xml" Id="R6013ca93fe1b462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dc821978642e5" /><Relationship Type="http://schemas.openxmlformats.org/officeDocument/2006/relationships/image" Target="/ppt/media/image19.png" Id="Rf31ec6e3332c4f0e" /><Relationship Type="http://schemas.openxmlformats.org/officeDocument/2006/relationships/notesSlide" Target="/ppt/notesSlides/notesSlide19.xml" Id="Rc8292534eaf1487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b7ce88f6b4ece" /><Relationship Type="http://schemas.openxmlformats.org/officeDocument/2006/relationships/image" Target="/ppt/media/image20.png" Id="Rc9c2ed498d6046cb" /><Relationship Type="http://schemas.openxmlformats.org/officeDocument/2006/relationships/notesSlide" Target="/ppt/notesSlides/notesSlide20.xml" Id="R27b15e9fb7ca4d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e6ded1d8e4f0b" /><Relationship Type="http://schemas.openxmlformats.org/officeDocument/2006/relationships/image" Target="/ppt/media/image21.png" Id="R7b7dc00283d84124" /><Relationship Type="http://schemas.openxmlformats.org/officeDocument/2006/relationships/notesSlide" Target="/ppt/notesSlides/notesSlide21.xml" Id="Rb27e46361651487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14b9e65c44a58" /><Relationship Type="http://schemas.openxmlformats.org/officeDocument/2006/relationships/image" Target="/ppt/media/image22.png" Id="R22f3f26273674a3b" /><Relationship Type="http://schemas.openxmlformats.org/officeDocument/2006/relationships/notesSlide" Target="/ppt/notesSlides/notesSlide22.xml" Id="Re7f43d843dab4b7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2a2c61c3448a7" /><Relationship Type="http://schemas.openxmlformats.org/officeDocument/2006/relationships/image" Target="/ppt/media/image23.png" Id="R7b16f192c1164031" /><Relationship Type="http://schemas.openxmlformats.org/officeDocument/2006/relationships/notesSlide" Target="/ppt/notesSlides/notesSlide23.xml" Id="Ra6b6f69d4d2941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6ed03118548d6"/>
          <a:stretch xmlns:a="http://schemas.openxmlformats.org/drawingml/2006/main"/>
        </p:blipFill>
        <p:spPr>
          <a:xfrm xmlns:a="http://schemas.openxmlformats.org/drawingml/2006/main">
            <a:off x="647700" y="468630"/>
            <a:ext cx="876300" cy="85344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BB7EF4F-568D-4BD8-AD41-D91AFAA4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B4A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B9B4AA"/>
                </a:solidFill>
                <a:latin typeface="Bahnschrift"/>
                <a:ea typeface="Bahnschrift"/>
                <a:cs typeface="Bahnschrift"/>
              </a:rPr>
              <a:t>FUNCTIONAL REQUIREMENTS · CEO DECISION DECK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A02464C-3FAA-4648-9C8D-752DC348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723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5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Build trust into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5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every transaction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AA32EC5-4AC7-4521-960D-14F69FE5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9B4A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B4AA"/>
                </a:solidFill>
                <a:latin typeface="Arial"/>
                <a:ea typeface="Arial"/>
                <a:cs typeface="Arial"/>
              </a:rPr>
              <a:t>Body Café Co v1 · India-first D2C + Amazon operations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3B6E750-BEE3-4061-95CE-7A34DBCC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769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Approved functional direction · 03 AUG 2026</a:t>
            </a:r>
          </a:p>
        </p:txBody>
      </p:sp>
      <p:sp>
        <p:nvSpPr>
          <p:cNvPr id="6" name="rect-5">
            <a:extLst xmlns:a="http://schemas.openxmlformats.org/drawingml/2006/main">
              <a:ext uri="{FF2B5EF4-FFF2-40B4-BE49-F238E27FC236}">
                <a16:creationId xmlns:a16="http://schemas.microsoft.com/office/drawing/2014/main" id="{64398FFE-F62A-4E31-91B8-9980BE08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8625" y="514350"/>
            <a:ext cx="81915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-6">
            <a:extLst xmlns:a="http://schemas.openxmlformats.org/drawingml/2006/main">
              <a:ext uri="{FF2B5EF4-FFF2-40B4-BE49-F238E27FC236}">
                <a16:creationId xmlns:a16="http://schemas.microsoft.com/office/drawing/2014/main" id="{EC2598F2-E187-4C75-8807-D703CC78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1575" y="1257300"/>
            <a:ext cx="55245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-7">
            <a:extLst xmlns:a="http://schemas.openxmlformats.org/drawingml/2006/main">
              <a:ext uri="{FF2B5EF4-FFF2-40B4-BE49-F238E27FC236}">
                <a16:creationId xmlns:a16="http://schemas.microsoft.com/office/drawing/2014/main" id="{00544D27-9CC9-4B02-AC59-0D64369D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525" y="2000250"/>
            <a:ext cx="10477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-8">
            <a:extLst xmlns:a="http://schemas.openxmlformats.org/drawingml/2006/main">
              <a:ext uri="{FF2B5EF4-FFF2-40B4-BE49-F238E27FC236}">
                <a16:creationId xmlns:a16="http://schemas.microsoft.com/office/drawing/2014/main" id="{CC7BFD98-83FA-44F8-97D1-6639B508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7475" y="2743200"/>
            <a:ext cx="685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-9">
            <a:extLst xmlns:a="http://schemas.openxmlformats.org/drawingml/2006/main">
              <a:ext uri="{FF2B5EF4-FFF2-40B4-BE49-F238E27FC236}">
                <a16:creationId xmlns:a16="http://schemas.microsoft.com/office/drawing/2014/main" id="{F5585E6B-EBA2-4D49-95C2-367BD517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0425" y="3486150"/>
            <a:ext cx="8763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33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2338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094bd59a14b4f"/>
          <a:stretch xmlns:a="http://schemas.openxmlformats.org/drawingml/2006/main"/>
        </p:blipFill>
        <p:spPr>
          <a:xfrm xmlns:a="http://schemas.openxmlformats.org/drawingml/2006/main">
            <a:off x="10953750" y="256106"/>
            <a:ext cx="552450" cy="535538"/>
          </a:xfrm>
          <a:prstGeom xmlns:a="http://schemas.openxmlformats.org/drawingml/2006/main" prst="rect">
            <a:avLst/>
          </a:prstGeom>
        </p:spPr>
      </p:pic>
      <p:sp>
        <p:nvSpPr>
          <p:cNvPr id="2" name="rect-10">
            <a:extLst xmlns:a="http://schemas.openxmlformats.org/drawingml/2006/main">
              <a:ext uri="{FF2B5EF4-FFF2-40B4-BE49-F238E27FC236}">
                <a16:creationId xmlns:a16="http://schemas.microsoft.com/office/drawing/2014/main" id="{F73A121D-3200-4209-94EE-157F7E5E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57200"/>
            <a:ext cx="104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63DFD431-99A7-4151-96EE-22B86F71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EXECUTIVE THESIS</a:t>
            </a:r>
          </a:p>
        </p:txBody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4DA55691-96A0-428F-9E38-28EBF439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This is not just a storefront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2D81E02F-EB40-4807-B5F9-17FD913D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412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We are building a</a:t>
            </a:r>
          </a:p>
          <a:p xmlns:a="http://schemas.openxmlformats.org/drawingml/2006/main">
            <a:pPr algn="l">
              <a:defRPr sz="412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412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trust-commerce</a:t>
            </a:r>
          </a:p>
          <a:p xmlns:a="http://schemas.openxmlformats.org/drawingml/2006/main">
            <a:pPr algn="l">
              <a:defRPr sz="412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412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operating system.</a:t>
            </a:r>
          </a:p>
        </p:txBody>
      </p:sp>
      <p:sp>
        <p:nvSpPr>
          <p:cNvPr id="6" name="text-14">
            <a:extLst xmlns:a="http://schemas.openxmlformats.org/drawingml/2006/main">
              <a:ext uri="{FF2B5EF4-FFF2-40B4-BE49-F238E27FC236}">
                <a16:creationId xmlns:a16="http://schemas.microsoft.com/office/drawing/2014/main" id="{E06C5CCC-B27D-41C2-A29F-4BC06E9A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4905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Every promise, payment, batch, shipment and customer action resolves to an auditable record.</a:t>
            </a:r>
          </a:p>
        </p:txBody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E4E6BCA1-D563-4448-9311-CA339F55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383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B0F1A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6B0F1A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1FB92D5F-5106-478B-98F9-486E3BBD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383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CHOOSE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3C21F2BC-A9B9-4DFB-B7BA-40F05177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98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Find the right product without diagnosis.</a:t>
            </a:r>
          </a:p>
        </p:txBody>
      </p:sp>
      <p:sp>
        <p:nvSpPr>
          <p:cNvPr id="10" name="line-18">
            <a:extLst xmlns:a="http://schemas.openxmlformats.org/drawingml/2006/main">
              <a:ext uri="{FF2B5EF4-FFF2-40B4-BE49-F238E27FC236}">
                <a16:creationId xmlns:a16="http://schemas.microsoft.com/office/drawing/2014/main" id="{180F6F60-FE9B-46C5-97A1-45F5C00A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471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1" name="text-19">
            <a:extLst xmlns:a="http://schemas.openxmlformats.org/drawingml/2006/main">
              <a:ext uri="{FF2B5EF4-FFF2-40B4-BE49-F238E27FC236}">
                <a16:creationId xmlns:a16="http://schemas.microsoft.com/office/drawing/2014/main" id="{59E582B7-F819-4016-8458-54FCEBA9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38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7333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B8733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BE852B4D-A49A-4195-9691-F9849602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384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PROVE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1C97CE47-560E-49DB-9C0A-B0D21546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0992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Inspect the exact batch before buying.</a:t>
            </a:r>
          </a:p>
        </p:txBody>
      </p:sp>
      <p:sp>
        <p:nvSpPr>
          <p:cNvPr id="14" name="line-22">
            <a:extLst xmlns:a="http://schemas.openxmlformats.org/drawingml/2006/main">
              <a:ext uri="{FF2B5EF4-FFF2-40B4-BE49-F238E27FC236}">
                <a16:creationId xmlns:a16="http://schemas.microsoft.com/office/drawing/2014/main" id="{7241E60C-D115-490A-8BC0-A39C1C5E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471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C9404CA2-A8EB-4BFD-B633-8A251B11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385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A9F90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9A9F90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DA6998BD-2E20-41C8-93B1-85BF7159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FULFIL</a:t>
            </a:r>
          </a:p>
        </p:txBody>
      </p: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58F036F5-6E0E-4418-BEA0-233AD223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Protect payment, inventory and delivery truth.</a:t>
            </a:r>
          </a:p>
        </p:txBody>
      </p:sp>
      <p:sp>
        <p:nvSpPr>
          <p:cNvPr id="18" name="line-26">
            <a:extLst xmlns:a="http://schemas.openxmlformats.org/drawingml/2006/main">
              <a:ext uri="{FF2B5EF4-FFF2-40B4-BE49-F238E27FC236}">
                <a16:creationId xmlns:a16="http://schemas.microsoft.com/office/drawing/2014/main" id="{4654B789-D5CC-4044-9A6C-0736A85B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14875"/>
            <a:ext cx="471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9" name="text-27">
            <a:extLst xmlns:a="http://schemas.openxmlformats.org/drawingml/2006/main">
              <a:ext uri="{FF2B5EF4-FFF2-40B4-BE49-F238E27FC236}">
                <a16:creationId xmlns:a16="http://schemas.microsoft.com/office/drawing/2014/main" id="{81CBF2AA-207B-4CAB-835B-9FF818C3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387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80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000080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0" name="text-28">
            <a:extLst xmlns:a="http://schemas.openxmlformats.org/drawingml/2006/main">
              <a:ext uri="{FF2B5EF4-FFF2-40B4-BE49-F238E27FC236}">
                <a16:creationId xmlns:a16="http://schemas.microsoft.com/office/drawing/2014/main" id="{629F54DA-32B3-4313-9B93-5B3EB3B9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387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LEARN</a:t>
            </a:r>
          </a:p>
        </p:txBody>
      </p: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79B82651-3A66-4DC5-951A-93A7ED3E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1017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Use first-party data to improve the system.</a:t>
            </a:r>
          </a:p>
        </p:txBody>
      </p:sp>
      <p:sp>
        <p:nvSpPr>
          <p:cNvPr id="22" name="rect-30">
            <a:extLst xmlns:a="http://schemas.openxmlformats.org/drawingml/2006/main">
              <a:ext uri="{FF2B5EF4-FFF2-40B4-BE49-F238E27FC236}">
                <a16:creationId xmlns:a16="http://schemas.microsoft.com/office/drawing/2014/main" id="{656C3FB4-0DE1-47DC-A172-AEDFF9CF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5819775"/>
            <a:ext cx="4714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31">
            <a:extLst xmlns:a="http://schemas.openxmlformats.org/drawingml/2006/main">
              <a:ext uri="{FF2B5EF4-FFF2-40B4-BE49-F238E27FC236}">
                <a16:creationId xmlns:a16="http://schemas.microsoft.com/office/drawing/2014/main" id="{25A8D891-9BA8-4DB0-9474-5EF86ACA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9912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NORTH STAR  ·  DELIVERED CONTRIBUTION + REPEAT PURCHASE</a:t>
            </a:r>
          </a:p>
        </p:txBody>
      </p:sp>
      <p:sp>
        <p:nvSpPr>
          <p:cNvPr id="24" name="line-32">
            <a:extLst xmlns:a="http://schemas.openxmlformats.org/drawingml/2006/main">
              <a:ext uri="{FF2B5EF4-FFF2-40B4-BE49-F238E27FC236}">
                <a16:creationId xmlns:a16="http://schemas.microsoft.com/office/drawing/2014/main" id="{308BE8A7-AEB2-45F1-840D-7B1BF164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5" name="text-33">
            <a:extLst xmlns:a="http://schemas.openxmlformats.org/drawingml/2006/main">
              <a:ext uri="{FF2B5EF4-FFF2-40B4-BE49-F238E27FC236}">
                <a16:creationId xmlns:a16="http://schemas.microsoft.com/office/drawing/2014/main" id="{E1DA9261-C9A3-4B43-9A86-B42A5CFF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EXECUTIVE DIRECTION</a:t>
            </a:r>
          </a:p>
        </p:txBody>
      </p:sp>
      <p:sp>
        <p:nvSpPr>
          <p:cNvPr id="26" name="text-34">
            <a:extLst xmlns:a="http://schemas.openxmlformats.org/drawingml/2006/main">
              <a:ext uri="{FF2B5EF4-FFF2-40B4-BE49-F238E27FC236}">
                <a16:creationId xmlns:a16="http://schemas.microsoft.com/office/drawing/2014/main" id="{FF0EFFCD-8D5D-474C-A988-A4787AC5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048186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5dd4c789d4539"/>
          <a:stretch xmlns:a="http://schemas.openxmlformats.org/drawingml/2006/main"/>
        </p:blipFill>
        <p:spPr>
          <a:xfrm xmlns:a="http://schemas.openxmlformats.org/drawingml/2006/main">
            <a:off x="10953750" y="256106"/>
            <a:ext cx="552450" cy="535538"/>
          </a:xfrm>
          <a:prstGeom xmlns:a="http://schemas.openxmlformats.org/drawingml/2006/main" prst="rect">
            <a:avLst/>
          </a:prstGeom>
        </p:spPr>
      </p:pic>
      <p:sp>
        <p:nvSpPr>
          <p:cNvPr id="2" name="rect-35">
            <a:extLst xmlns:a="http://schemas.openxmlformats.org/drawingml/2006/main">
              <a:ext uri="{FF2B5EF4-FFF2-40B4-BE49-F238E27FC236}">
                <a16:creationId xmlns:a16="http://schemas.microsoft.com/office/drawing/2014/main" id="{3AB800D7-D57B-47F1-A6CD-B22B76E4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57200"/>
            <a:ext cx="104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6">
            <a:extLst xmlns:a="http://schemas.openxmlformats.org/drawingml/2006/main">
              <a:ext uri="{FF2B5EF4-FFF2-40B4-BE49-F238E27FC236}">
                <a16:creationId xmlns:a16="http://schemas.microsoft.com/office/drawing/2014/main" id="{8D542DBF-014F-4EC1-9533-12271382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CUSTOMER JOURNEY</a:t>
            </a:r>
          </a:p>
        </p:txBody>
      </p:sp>
      <p:sp>
        <p:nvSpPr>
          <p:cNvPr id="4" name="text-37">
            <a:extLst xmlns:a="http://schemas.openxmlformats.org/drawingml/2006/main">
              <a:ext uri="{FF2B5EF4-FFF2-40B4-BE49-F238E27FC236}">
                <a16:creationId xmlns:a16="http://schemas.microsoft.com/office/drawing/2014/main" id="{C31B23E2-6CF2-4C65-BB1E-4E396267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Confidence is earned before checkout</a:t>
            </a:r>
          </a:p>
        </p:txBody>
      </p:sp>
      <p:sp>
        <p:nvSpPr>
          <p:cNvPr id="5" name="line-38">
            <a:extLst xmlns:a="http://schemas.openxmlformats.org/drawingml/2006/main">
              <a:ext uri="{FF2B5EF4-FFF2-40B4-BE49-F238E27FC236}">
                <a16:creationId xmlns:a16="http://schemas.microsoft.com/office/drawing/2014/main" id="{A8518437-284C-4AA8-8C70-E8D42542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1470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1414"/>
            </a:solidFill>
            <a:prstDash val="solid"/>
          </a:ln>
        </p:spPr>
      </p:sp>
      <p:sp>
        <p:nvSpPr>
          <p:cNvPr id="6" name="rect-39">
            <a:extLst xmlns:a="http://schemas.openxmlformats.org/drawingml/2006/main">
              <a:ext uri="{FF2B5EF4-FFF2-40B4-BE49-F238E27FC236}">
                <a16:creationId xmlns:a16="http://schemas.microsoft.com/office/drawing/2014/main" id="{C4933E52-F498-4BEF-ACF3-590D4BD7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9718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40">
            <a:extLst xmlns:a="http://schemas.openxmlformats.org/drawingml/2006/main">
              <a:ext uri="{FF2B5EF4-FFF2-40B4-BE49-F238E27FC236}">
                <a16:creationId xmlns:a16="http://schemas.microsoft.com/office/drawing/2014/main" id="{E0196968-7D7F-4157-8C1A-9F006383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8" name="text-41">
            <a:extLst xmlns:a="http://schemas.openxmlformats.org/drawingml/2006/main">
              <a:ext uri="{FF2B5EF4-FFF2-40B4-BE49-F238E27FC236}">
                <a16:creationId xmlns:a16="http://schemas.microsoft.com/office/drawing/2014/main" id="{88FE6262-2A52-4AC7-A5F0-BAFBE7A7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62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DISCOVER</a:t>
            </a:r>
          </a:p>
        </p:txBody>
      </p:sp>
      <p:sp>
        <p:nvSpPr>
          <p:cNvPr id="9" name="text-42">
            <a:extLst xmlns:a="http://schemas.openxmlformats.org/drawingml/2006/main">
              <a:ext uri="{FF2B5EF4-FFF2-40B4-BE49-F238E27FC236}">
                <a16:creationId xmlns:a16="http://schemas.microsoft.com/office/drawing/2014/main" id="{1AD7B24F-301B-4F79-9FC0-0E2E5813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Browse by goal, not diagnosis.</a:t>
            </a:r>
          </a:p>
        </p:txBody>
      </p:sp>
      <p:sp>
        <p:nvSpPr>
          <p:cNvPr id="10" name="rect-43">
            <a:extLst xmlns:a="http://schemas.openxmlformats.org/drawingml/2006/main">
              <a:ext uri="{FF2B5EF4-FFF2-40B4-BE49-F238E27FC236}">
                <a16:creationId xmlns:a16="http://schemas.microsoft.com/office/drawing/2014/main" id="{D39C72FA-0D63-4FD5-9D9D-7BAAFC79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9718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44">
            <a:extLst xmlns:a="http://schemas.openxmlformats.org/drawingml/2006/main">
              <a:ext uri="{FF2B5EF4-FFF2-40B4-BE49-F238E27FC236}">
                <a16:creationId xmlns:a16="http://schemas.microsoft.com/office/drawing/2014/main" id="{AE1543FF-6ED8-4A9D-9D7F-701218A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861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2" name="text-45">
            <a:extLst xmlns:a="http://schemas.openxmlformats.org/drawingml/2006/main">
              <a:ext uri="{FF2B5EF4-FFF2-40B4-BE49-F238E27FC236}">
                <a16:creationId xmlns:a16="http://schemas.microsoft.com/office/drawing/2014/main" id="{5B7A57EB-0D42-4DA1-AF89-44795017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62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UNDERSTAND</a:t>
            </a:r>
          </a:p>
        </p:txBody>
      </p:sp>
      <p:sp>
        <p:nvSpPr>
          <p:cNvPr id="13" name="text-46">
            <a:extLst xmlns:a="http://schemas.openxmlformats.org/drawingml/2006/main">
              <a:ext uri="{FF2B5EF4-FFF2-40B4-BE49-F238E27FC236}">
                <a16:creationId xmlns:a16="http://schemas.microsoft.com/office/drawing/2014/main" id="{E46308F0-2E80-457A-9C79-555B904A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7197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See form, dose and suitability.</a:t>
            </a:r>
          </a:p>
        </p:txBody>
      </p:sp>
      <p:sp>
        <p:nvSpPr>
          <p:cNvPr id="14" name="rect-47">
            <a:extLst xmlns:a="http://schemas.openxmlformats.org/drawingml/2006/main">
              <a:ext uri="{FF2B5EF4-FFF2-40B4-BE49-F238E27FC236}">
                <a16:creationId xmlns:a16="http://schemas.microsoft.com/office/drawing/2014/main" id="{F08A1AA1-1935-4B01-AFBA-E85B6C72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29718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48">
            <a:extLst xmlns:a="http://schemas.openxmlformats.org/drawingml/2006/main">
              <a:ext uri="{FF2B5EF4-FFF2-40B4-BE49-F238E27FC236}">
                <a16:creationId xmlns:a16="http://schemas.microsoft.com/office/drawing/2014/main" id="{5B0E6975-705D-4C21-A6CA-984A35AA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861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16" name="text-49">
            <a:extLst xmlns:a="http://schemas.openxmlformats.org/drawingml/2006/main">
              <a:ext uri="{FF2B5EF4-FFF2-40B4-BE49-F238E27FC236}">
                <a16:creationId xmlns:a16="http://schemas.microsoft.com/office/drawing/2014/main" id="{8E8EF6E1-E20B-4634-8638-3AE30D98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962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VERIFY</a:t>
            </a:r>
          </a:p>
        </p:txBody>
      </p:sp>
      <p:sp>
        <p:nvSpPr>
          <p:cNvPr id="17" name="text-50">
            <a:extLst xmlns:a="http://schemas.openxmlformats.org/drawingml/2006/main">
              <a:ext uri="{FF2B5EF4-FFF2-40B4-BE49-F238E27FC236}">
                <a16:creationId xmlns:a16="http://schemas.microsoft.com/office/drawing/2014/main" id="{4E0DBDA5-B752-496B-8186-4EE5523C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7197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Inspect batch proof and evidence.</a:t>
            </a:r>
          </a:p>
        </p:txBody>
      </p:sp>
      <p:sp>
        <p:nvSpPr>
          <p:cNvPr id="18" name="rect-51">
            <a:extLst xmlns:a="http://schemas.openxmlformats.org/drawingml/2006/main">
              <a:ext uri="{FF2B5EF4-FFF2-40B4-BE49-F238E27FC236}">
                <a16:creationId xmlns:a16="http://schemas.microsoft.com/office/drawing/2014/main" id="{68A34F4C-4375-45C5-9EB5-BF674606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29718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9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52">
            <a:extLst xmlns:a="http://schemas.openxmlformats.org/drawingml/2006/main">
              <a:ext uri="{FF2B5EF4-FFF2-40B4-BE49-F238E27FC236}">
                <a16:creationId xmlns:a16="http://schemas.microsoft.com/office/drawing/2014/main" id="{A03014B7-B038-417C-8653-FABDC251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20" name="text-53">
            <a:extLst xmlns:a="http://schemas.openxmlformats.org/drawingml/2006/main">
              <a:ext uri="{FF2B5EF4-FFF2-40B4-BE49-F238E27FC236}">
                <a16:creationId xmlns:a16="http://schemas.microsoft.com/office/drawing/2014/main" id="{6C0ABEA3-459C-4E96-949A-1FEABEEE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62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BUY</a:t>
            </a:r>
          </a:p>
        </p:txBody>
      </p:sp>
      <p:sp>
        <p:nvSpPr>
          <p:cNvPr id="21" name="text-54">
            <a:extLst xmlns:a="http://schemas.openxmlformats.org/drawingml/2006/main">
              <a:ext uri="{FF2B5EF4-FFF2-40B4-BE49-F238E27FC236}">
                <a16:creationId xmlns:a16="http://schemas.microsoft.com/office/drawing/2014/main" id="{F2CFC7B0-DE9C-4EF2-B82C-437A6383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7197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Use guest-first prepaid checkout.</a:t>
            </a:r>
          </a:p>
        </p:txBody>
      </p:sp>
      <p:sp>
        <p:nvSpPr>
          <p:cNvPr id="22" name="rect-55">
            <a:extLst xmlns:a="http://schemas.openxmlformats.org/drawingml/2006/main">
              <a:ext uri="{FF2B5EF4-FFF2-40B4-BE49-F238E27FC236}">
                <a16:creationId xmlns:a16="http://schemas.microsoft.com/office/drawing/2014/main" id="{55D4CA53-822B-4C38-885F-5B5B01F0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29718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56">
            <a:extLst xmlns:a="http://schemas.openxmlformats.org/drawingml/2006/main">
              <a:ext uri="{FF2B5EF4-FFF2-40B4-BE49-F238E27FC236}">
                <a16:creationId xmlns:a16="http://schemas.microsoft.com/office/drawing/2014/main" id="{87132930-D5A6-4AAC-8A76-99866AB2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861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24" name="text-57">
            <a:extLst xmlns:a="http://schemas.openxmlformats.org/drawingml/2006/main">
              <a:ext uri="{FF2B5EF4-FFF2-40B4-BE49-F238E27FC236}">
                <a16:creationId xmlns:a16="http://schemas.microsoft.com/office/drawing/2014/main" id="{1E1FD49A-50FE-462F-B5DE-3A13E156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962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RETURN</a:t>
            </a:r>
          </a:p>
        </p:txBody>
      </p:sp>
      <p:sp>
        <p:nvSpPr>
          <p:cNvPr id="25" name="text-58">
            <a:extLst xmlns:a="http://schemas.openxmlformats.org/drawingml/2006/main">
              <a:ext uri="{FF2B5EF4-FFF2-40B4-BE49-F238E27FC236}">
                <a16:creationId xmlns:a16="http://schemas.microsoft.com/office/drawing/2014/main" id="{65FCB8ED-6D43-40DF-A382-B0D809A4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71975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Track, verify, review and reorder.</a:t>
            </a:r>
          </a:p>
        </p:txBody>
      </p:sp>
      <p:sp>
        <p:nvSpPr>
          <p:cNvPr id="26" name="rect-59">
            <a:extLst xmlns:a="http://schemas.openxmlformats.org/drawingml/2006/main">
              <a:ext uri="{FF2B5EF4-FFF2-40B4-BE49-F238E27FC236}">
                <a16:creationId xmlns:a16="http://schemas.microsoft.com/office/drawing/2014/main" id="{221894D6-88B7-457F-91CC-131846AA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476875"/>
            <a:ext cx="1085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60">
            <a:extLst xmlns:a="http://schemas.openxmlformats.org/drawingml/2006/main">
              <a:ext uri="{FF2B5EF4-FFF2-40B4-BE49-F238E27FC236}">
                <a16:creationId xmlns:a16="http://schemas.microsoft.com/office/drawing/2014/main" id="{961F88B4-B1CE-49B8-8E6F-1963A33E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F00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BF00"/>
                </a:solidFill>
                <a:latin typeface="Bahnschrift"/>
                <a:ea typeface="Bahnschrift"/>
                <a:cs typeface="Bahnschrift"/>
              </a:rPr>
              <a:t>GUARDRAIL</a:t>
            </a:r>
          </a:p>
        </p:txBody>
      </p:sp>
      <p:sp>
        <p:nvSpPr>
          <p:cNvPr id="28" name="text-61">
            <a:extLst xmlns:a="http://schemas.openxmlformats.org/drawingml/2006/main">
              <a:ext uri="{FF2B5EF4-FFF2-40B4-BE49-F238E27FC236}">
                <a16:creationId xmlns:a16="http://schemas.microsoft.com/office/drawing/2014/main" id="{155E047D-D7C7-4334-A4F9-D29583CB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6007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medical quiz · no fabricated urgency · no hidden consent</a:t>
            </a:r>
          </a:p>
        </p:txBody>
      </p:sp>
      <p:sp>
        <p:nvSpPr>
          <p:cNvPr id="29" name="line-62">
            <a:extLst xmlns:a="http://schemas.openxmlformats.org/drawingml/2006/main">
              <a:ext uri="{FF2B5EF4-FFF2-40B4-BE49-F238E27FC236}">
                <a16:creationId xmlns:a16="http://schemas.microsoft.com/office/drawing/2014/main" id="{E082BDFA-624C-4489-8267-A5F06A88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0" name="text-63">
            <a:extLst xmlns:a="http://schemas.openxmlformats.org/drawingml/2006/main">
              <a:ext uri="{FF2B5EF4-FFF2-40B4-BE49-F238E27FC236}">
                <a16:creationId xmlns:a16="http://schemas.microsoft.com/office/drawing/2014/main" id="{B13EC17E-FD98-4BC1-9E3D-F836FB4B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CUSTOMER JOURNEY</a:t>
            </a:r>
          </a:p>
        </p:txBody>
      </p:sp>
      <p:sp>
        <p:nvSpPr>
          <p:cNvPr id="31" name="text-64">
            <a:extLst xmlns:a="http://schemas.openxmlformats.org/drawingml/2006/main">
              <a:ext uri="{FF2B5EF4-FFF2-40B4-BE49-F238E27FC236}">
                <a16:creationId xmlns:a16="http://schemas.microsoft.com/office/drawing/2014/main" id="{9194EEF7-E210-4512-8262-7F1BD67F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563026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BF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fdeccfcda441d"/>
          <a:stretch xmlns:a="http://schemas.openxmlformats.org/drawingml/2006/main"/>
        </p:blipFill>
        <p:spPr>
          <a:xfrm xmlns:a="http://schemas.openxmlformats.org/drawingml/2006/main">
            <a:off x="10953750" y="256106"/>
            <a:ext cx="552450" cy="535538"/>
          </a:xfrm>
          <a:prstGeom xmlns:a="http://schemas.openxmlformats.org/drawingml/2006/main" prst="rect">
            <a:avLst/>
          </a:prstGeom>
        </p:spPr>
      </p:pic>
      <p:sp>
        <p:nvSpPr>
          <p:cNvPr id="2" name="rect-65">
            <a:extLst xmlns:a="http://schemas.openxmlformats.org/drawingml/2006/main">
              <a:ext uri="{FF2B5EF4-FFF2-40B4-BE49-F238E27FC236}">
                <a16:creationId xmlns:a16="http://schemas.microsoft.com/office/drawing/2014/main" id="{D1088AE2-1380-49E9-85C5-60F4443D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57200"/>
            <a:ext cx="104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66">
            <a:extLst xmlns:a="http://schemas.openxmlformats.org/drawingml/2006/main">
              <a:ext uri="{FF2B5EF4-FFF2-40B4-BE49-F238E27FC236}">
                <a16:creationId xmlns:a16="http://schemas.microsoft.com/office/drawing/2014/main" id="{D6236736-2724-40D2-9011-FFCE6C5A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COMMERCIAL MODEL</a:t>
            </a:r>
          </a:p>
        </p:txBody>
      </p:sp>
      <p:sp>
        <p:nvSpPr>
          <p:cNvPr id="4" name="text-67">
            <a:extLst xmlns:a="http://schemas.openxmlformats.org/drawingml/2006/main">
              <a:ext uri="{FF2B5EF4-FFF2-40B4-BE49-F238E27FC236}">
                <a16:creationId xmlns:a16="http://schemas.microsoft.com/office/drawing/2014/main" id="{C878DD45-A2F6-4704-9819-CE8585FC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Lifetime trust beats short-term pressure</a:t>
            </a:r>
          </a:p>
        </p:txBody>
      </p:sp>
      <p:sp>
        <p:nvSpPr>
          <p:cNvPr id="5" name="text-68">
            <a:extLst xmlns:a="http://schemas.openxmlformats.org/drawingml/2006/main">
              <a:ext uri="{FF2B5EF4-FFF2-40B4-BE49-F238E27FC236}">
                <a16:creationId xmlns:a16="http://schemas.microsoft.com/office/drawing/2014/main" id="{4992FF82-4772-4583-98DD-3A7F3EAC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WE WILL</a:t>
            </a:r>
          </a:p>
        </p:txBody>
      </p:sp>
      <p:sp>
        <p:nvSpPr>
          <p:cNvPr id="6" name="rect-69">
            <a:extLst xmlns:a="http://schemas.openxmlformats.org/drawingml/2006/main">
              <a:ext uri="{FF2B5EF4-FFF2-40B4-BE49-F238E27FC236}">
                <a16:creationId xmlns:a16="http://schemas.microsoft.com/office/drawing/2014/main" id="{7E471113-BC7D-4558-9E61-DFD37CB6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409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70">
            <a:extLst xmlns:a="http://schemas.openxmlformats.org/drawingml/2006/main">
              <a:ext uri="{FF2B5EF4-FFF2-40B4-BE49-F238E27FC236}">
                <a16:creationId xmlns:a16="http://schemas.microsoft.com/office/drawing/2014/main" id="{98675030-698D-4FC5-9447-F7BC0292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Sell one-time purchases and curated bundles.</a:t>
            </a:r>
          </a:p>
        </p:txBody>
      </p:sp>
      <p:sp>
        <p:nvSpPr>
          <p:cNvPr id="8" name="rect-71">
            <a:extLst xmlns:a="http://schemas.openxmlformats.org/drawingml/2006/main">
              <a:ext uri="{FF2B5EF4-FFF2-40B4-BE49-F238E27FC236}">
                <a16:creationId xmlns:a16="http://schemas.microsoft.com/office/drawing/2014/main" id="{F14BD2C6-39C3-4110-9997-B5212105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72">
            <a:extLst xmlns:a="http://schemas.openxmlformats.org/drawingml/2006/main">
              <a:ext uri="{FF2B5EF4-FFF2-40B4-BE49-F238E27FC236}">
                <a16:creationId xmlns:a16="http://schemas.microsoft.com/office/drawing/2014/main" id="{FE6DF694-6FAE-4567-8FAA-9B89266B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Use transparent, rules-based complementary offers.</a:t>
            </a:r>
          </a:p>
        </p:txBody>
      </p:sp>
      <p:sp>
        <p:nvSpPr>
          <p:cNvPr id="10" name="rect-73">
            <a:extLst xmlns:a="http://schemas.openxmlformats.org/drawingml/2006/main">
              <a:ext uri="{FF2B5EF4-FFF2-40B4-BE49-F238E27FC236}">
                <a16:creationId xmlns:a16="http://schemas.microsoft.com/office/drawing/2014/main" id="{DFD8964C-217D-4CFE-81E2-51619AD4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743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74">
            <a:extLst xmlns:a="http://schemas.openxmlformats.org/drawingml/2006/main">
              <a:ext uri="{FF2B5EF4-FFF2-40B4-BE49-F238E27FC236}">
                <a16:creationId xmlns:a16="http://schemas.microsoft.com/office/drawing/2014/main" id="{66036B28-AE2C-4FF4-B59B-08905A3B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Issue referral credit only after delivery.</a:t>
            </a:r>
          </a:p>
        </p:txBody>
      </p:sp>
      <p:sp>
        <p:nvSpPr>
          <p:cNvPr id="12" name="rect-75">
            <a:extLst xmlns:a="http://schemas.openxmlformats.org/drawingml/2006/main">
              <a:ext uri="{FF2B5EF4-FFF2-40B4-BE49-F238E27FC236}">
                <a16:creationId xmlns:a16="http://schemas.microsoft.com/office/drawing/2014/main" id="{8935615B-7985-407D-AA4C-CEBB15F4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76">
            <a:extLst xmlns:a="http://schemas.openxmlformats.org/drawingml/2006/main">
              <a:ext uri="{FF2B5EF4-FFF2-40B4-BE49-F238E27FC236}">
                <a16:creationId xmlns:a16="http://schemas.microsoft.com/office/drawing/2014/main" id="{7CF083F1-8CD6-4EA8-87B4-8936BB53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Invite reviews only from verified buyers.</a:t>
            </a:r>
          </a:p>
        </p:txBody>
      </p:sp>
      <p:sp>
        <p:nvSpPr>
          <p:cNvPr id="14" name="rect-77">
            <a:extLst xmlns:a="http://schemas.openxmlformats.org/drawingml/2006/main">
              <a:ext uri="{FF2B5EF4-FFF2-40B4-BE49-F238E27FC236}">
                <a16:creationId xmlns:a16="http://schemas.microsoft.com/office/drawing/2014/main" id="{F74995AC-741A-4462-A5FE-444579F7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8875" y="16192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78">
            <a:extLst xmlns:a="http://schemas.openxmlformats.org/drawingml/2006/main">
              <a:ext uri="{FF2B5EF4-FFF2-40B4-BE49-F238E27FC236}">
                <a16:creationId xmlns:a16="http://schemas.microsoft.com/office/drawing/2014/main" id="{B3F09947-0E8B-4D11-A638-BDB5A1F4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09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NOT IN V1</a:t>
            </a:r>
          </a:p>
        </p:txBody>
      </p:sp>
      <p:sp>
        <p:nvSpPr>
          <p:cNvPr id="16" name="text-79">
            <a:extLst xmlns:a="http://schemas.openxmlformats.org/drawingml/2006/main">
              <a:ext uri="{FF2B5EF4-FFF2-40B4-BE49-F238E27FC236}">
                <a16:creationId xmlns:a16="http://schemas.microsoft.com/office/drawing/2014/main" id="{083A8FCE-E839-4FE4-8524-EC71A08C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81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Subscriptions</a:t>
            </a:r>
          </a:p>
        </p:txBody>
      </p:sp>
      <p:sp>
        <p:nvSpPr>
          <p:cNvPr id="17" name="line-80">
            <a:extLst xmlns:a="http://schemas.openxmlformats.org/drawingml/2006/main">
              <a:ext uri="{FF2B5EF4-FFF2-40B4-BE49-F238E27FC236}">
                <a16:creationId xmlns:a16="http://schemas.microsoft.com/office/drawing/2014/main" id="{9DDCF995-08CD-4F6D-822F-5B6731DA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52725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414"/>
            </a:solidFill>
            <a:prstDash val="solid"/>
          </a:ln>
        </p:spPr>
      </p:sp>
      <p:sp>
        <p:nvSpPr>
          <p:cNvPr id="18" name="text-81">
            <a:extLst xmlns:a="http://schemas.openxmlformats.org/drawingml/2006/main">
              <a:ext uri="{FF2B5EF4-FFF2-40B4-BE49-F238E27FC236}">
                <a16:creationId xmlns:a16="http://schemas.microsoft.com/office/drawing/2014/main" id="{0DF9EFF4-7CB5-4A70-8790-23C02BE5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33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Customer-visible COD</a:t>
            </a:r>
          </a:p>
        </p:txBody>
      </p:sp>
      <p:sp>
        <p:nvSpPr>
          <p:cNvPr id="19" name="line-82">
            <a:extLst xmlns:a="http://schemas.openxmlformats.org/drawingml/2006/main">
              <a:ext uri="{FF2B5EF4-FFF2-40B4-BE49-F238E27FC236}">
                <a16:creationId xmlns:a16="http://schemas.microsoft.com/office/drawing/2014/main" id="{04484AA2-F5EC-4986-A979-1B61349D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05175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414"/>
            </a:solidFill>
            <a:prstDash val="solid"/>
          </a:ln>
        </p:spPr>
      </p:sp>
      <p:sp>
        <p:nvSpPr>
          <p:cNvPr id="20" name="text-83">
            <a:extLst xmlns:a="http://schemas.openxmlformats.org/drawingml/2006/main">
              <a:ext uri="{FF2B5EF4-FFF2-40B4-BE49-F238E27FC236}">
                <a16:creationId xmlns:a16="http://schemas.microsoft.com/office/drawing/2014/main" id="{BEF9E7BF-1099-4C54-9620-4C6832DB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86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Dynamic personalization</a:t>
            </a:r>
          </a:p>
        </p:txBody>
      </p:sp>
      <p:sp>
        <p:nvSpPr>
          <p:cNvPr id="21" name="line-84">
            <a:extLst xmlns:a="http://schemas.openxmlformats.org/drawingml/2006/main">
              <a:ext uri="{FF2B5EF4-FFF2-40B4-BE49-F238E27FC236}">
                <a16:creationId xmlns:a16="http://schemas.microsoft.com/office/drawing/2014/main" id="{AB51C7E6-66E0-47F8-A6D8-7D5CC936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57625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414"/>
            </a:solidFill>
            <a:prstDash val="solid"/>
          </a:ln>
        </p:spPr>
      </p:sp>
      <p:sp>
        <p:nvSpPr>
          <p:cNvPr id="22" name="text-85">
            <a:extLst xmlns:a="http://schemas.openxmlformats.org/drawingml/2006/main">
              <a:ext uri="{FF2B5EF4-FFF2-40B4-BE49-F238E27FC236}">
                <a16:creationId xmlns:a16="http://schemas.microsoft.com/office/drawing/2014/main" id="{CFA4AF57-3FBD-4750-AD1C-A7A8A230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38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Loyalty points</a:t>
            </a:r>
          </a:p>
        </p:txBody>
      </p:sp>
      <p:sp>
        <p:nvSpPr>
          <p:cNvPr id="23" name="line-86">
            <a:extLst xmlns:a="http://schemas.openxmlformats.org/drawingml/2006/main">
              <a:ext uri="{FF2B5EF4-FFF2-40B4-BE49-F238E27FC236}">
                <a16:creationId xmlns:a16="http://schemas.microsoft.com/office/drawing/2014/main" id="{2A4AAC9F-29DF-4043-95D7-63E5983F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410075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414"/>
            </a:solidFill>
            <a:prstDash val="solid"/>
          </a:ln>
        </p:spPr>
      </p:sp>
      <p:sp>
        <p:nvSpPr>
          <p:cNvPr id="24" name="text-87">
            <a:extLst xmlns:a="http://schemas.openxmlformats.org/drawingml/2006/main">
              <a:ext uri="{FF2B5EF4-FFF2-40B4-BE49-F238E27FC236}">
                <a16:creationId xmlns:a16="http://schemas.microsoft.com/office/drawing/2014/main" id="{3BA2BE6C-3AE4-4899-AC89-D78301A1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91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AI health advice</a:t>
            </a:r>
          </a:p>
        </p:txBody>
      </p:sp>
      <p:sp>
        <p:nvSpPr>
          <p:cNvPr id="25" name="line-88">
            <a:extLst xmlns:a="http://schemas.openxmlformats.org/drawingml/2006/main">
              <a:ext uri="{FF2B5EF4-FFF2-40B4-BE49-F238E27FC236}">
                <a16:creationId xmlns:a16="http://schemas.microsoft.com/office/drawing/2014/main" id="{A95E3991-2B05-4CF1-B253-E9C06634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62525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414"/>
            </a:solidFill>
            <a:prstDash val="solid"/>
          </a:ln>
        </p:spPr>
      </p:sp>
      <p:sp>
        <p:nvSpPr>
          <p:cNvPr id="26" name="text-89">
            <a:extLst xmlns:a="http://schemas.openxmlformats.org/drawingml/2006/main">
              <a:ext uri="{FF2B5EF4-FFF2-40B4-BE49-F238E27FC236}">
                <a16:creationId xmlns:a16="http://schemas.microsoft.com/office/drawing/2014/main" id="{0E21EE94-8323-491B-B82D-E01A83DB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102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Ethical conversion is a design constraint and a commercial choice.</a:t>
            </a:r>
          </a:p>
        </p:txBody>
      </p:sp>
      <p:sp>
        <p:nvSpPr>
          <p:cNvPr id="27" name="line-90">
            <a:extLst xmlns:a="http://schemas.openxmlformats.org/drawingml/2006/main">
              <a:ext uri="{FF2B5EF4-FFF2-40B4-BE49-F238E27FC236}">
                <a16:creationId xmlns:a16="http://schemas.microsoft.com/office/drawing/2014/main" id="{43DAA7EC-3FAD-4F8F-8395-7CDA5609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8" name="text-91">
            <a:extLst xmlns:a="http://schemas.openxmlformats.org/drawingml/2006/main">
              <a:ext uri="{FF2B5EF4-FFF2-40B4-BE49-F238E27FC236}">
                <a16:creationId xmlns:a16="http://schemas.microsoft.com/office/drawing/2014/main" id="{F46658F0-F829-41BF-921B-823C9CE1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COMMERCIAL MODEL</a:t>
            </a:r>
          </a:p>
        </p:txBody>
      </p:sp>
      <p:sp>
        <p:nvSpPr>
          <p:cNvPr id="29" name="text-92">
            <a:extLst xmlns:a="http://schemas.openxmlformats.org/drawingml/2006/main">
              <a:ext uri="{FF2B5EF4-FFF2-40B4-BE49-F238E27FC236}">
                <a16:creationId xmlns:a16="http://schemas.microsoft.com/office/drawing/2014/main" id="{00C7008F-B399-473E-866D-890FDD39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3252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cffc7cb094e80"/>
          <a:stretch xmlns:a="http://schemas.openxmlformats.org/drawingml/2006/main"/>
        </p:blipFill>
        <p:spPr>
          <a:xfrm xmlns:a="http://schemas.openxmlformats.org/drawingml/2006/main">
            <a:off x="10953750" y="254856"/>
            <a:ext cx="552450" cy="538038"/>
          </a:xfrm>
          <a:prstGeom xmlns:a="http://schemas.openxmlformats.org/drawingml/2006/main" prst="rect">
            <a:avLst/>
          </a:prstGeom>
        </p:spPr>
      </p:pic>
      <p:sp>
        <p:nvSpPr>
          <p:cNvPr id="2" name="rect-93">
            <a:extLst xmlns:a="http://schemas.openxmlformats.org/drawingml/2006/main">
              <a:ext uri="{FF2B5EF4-FFF2-40B4-BE49-F238E27FC236}">
                <a16:creationId xmlns:a16="http://schemas.microsoft.com/office/drawing/2014/main" id="{C0296006-628E-4D63-8C68-47D9A13A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57200"/>
            <a:ext cx="104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94">
            <a:extLst xmlns:a="http://schemas.openxmlformats.org/drawingml/2006/main">
              <a:ext uri="{FF2B5EF4-FFF2-40B4-BE49-F238E27FC236}">
                <a16:creationId xmlns:a16="http://schemas.microsoft.com/office/drawing/2014/main" id="{098AC4B0-E7A5-4E2B-AEF4-CC2F771F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B4A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B9B4AA"/>
                </a:solidFill>
                <a:latin typeface="Bahnschrift"/>
                <a:ea typeface="Bahnschrift"/>
                <a:cs typeface="Bahnschrift"/>
              </a:rPr>
              <a:t>TRUST ARCHITECTURE</a:t>
            </a:r>
          </a:p>
        </p:txBody>
      </p:sp>
      <p:sp>
        <p:nvSpPr>
          <p:cNvPr id="4" name="text-95">
            <a:extLst xmlns:a="http://schemas.openxmlformats.org/drawingml/2006/main">
              <a:ext uri="{FF2B5EF4-FFF2-40B4-BE49-F238E27FC236}">
                <a16:creationId xmlns:a16="http://schemas.microsoft.com/office/drawing/2014/main" id="{AC31FBB6-1392-4020-A5EE-51E7CC2B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Proof is a launch gate, not a badge</a:t>
            </a:r>
          </a:p>
        </p:txBody>
      </p:sp>
      <p:sp>
        <p:nvSpPr>
          <p:cNvPr id="5" name="text-96">
            <a:extLst xmlns:a="http://schemas.openxmlformats.org/drawingml/2006/main">
              <a:ext uri="{FF2B5EF4-FFF2-40B4-BE49-F238E27FC236}">
                <a16:creationId xmlns:a16="http://schemas.microsoft.com/office/drawing/2014/main" id="{399EC4FB-7339-41FD-B6CB-A18E00CD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BF00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FFBF00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6" name="text-97">
            <a:extLst xmlns:a="http://schemas.openxmlformats.org/drawingml/2006/main">
              <a:ext uri="{FF2B5EF4-FFF2-40B4-BE49-F238E27FC236}">
                <a16:creationId xmlns:a16="http://schemas.microsoft.com/office/drawing/2014/main" id="{9DD1D952-C019-4D84-8782-39E6DB7C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PRODUCT MASTER</a:t>
            </a:r>
          </a:p>
        </p:txBody>
      </p:sp>
      <p:sp>
        <p:nvSpPr>
          <p:cNvPr id="7" name="text-98">
            <a:extLst xmlns:a="http://schemas.openxmlformats.org/drawingml/2006/main">
              <a:ext uri="{FF2B5EF4-FFF2-40B4-BE49-F238E27FC236}">
                <a16:creationId xmlns:a16="http://schemas.microsoft.com/office/drawing/2014/main" id="{81E303D5-9F89-4DEA-B29F-03BFCBFD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B4A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9B4AA"/>
                </a:solidFill>
                <a:latin typeface="Arial"/>
                <a:ea typeface="Arial"/>
                <a:cs typeface="Arial"/>
              </a:rPr>
              <a:t>Approved formula, dose, claims and label.</a:t>
            </a:r>
          </a:p>
        </p:txBody>
      </p:sp>
      <p:sp>
        <p:nvSpPr>
          <p:cNvPr id="8" name="rect-99">
            <a:extLst xmlns:a="http://schemas.openxmlformats.org/drawingml/2006/main">
              <a:ext uri="{FF2B5EF4-FFF2-40B4-BE49-F238E27FC236}">
                <a16:creationId xmlns:a16="http://schemas.microsoft.com/office/drawing/2014/main" id="{54C4C76A-D61D-47EB-AC5B-136A5C3F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21050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100">
            <a:extLst xmlns:a="http://schemas.openxmlformats.org/drawingml/2006/main">
              <a:ext uri="{FF2B5EF4-FFF2-40B4-BE49-F238E27FC236}">
                <a16:creationId xmlns:a16="http://schemas.microsoft.com/office/drawing/2014/main" id="{469D3846-7F86-4989-A9F7-5FFF742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6215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7333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B8733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0" name="text-101">
            <a:extLst xmlns:a="http://schemas.openxmlformats.org/drawingml/2006/main">
              <a:ext uri="{FF2B5EF4-FFF2-40B4-BE49-F238E27FC236}">
                <a16:creationId xmlns:a16="http://schemas.microsoft.com/office/drawing/2014/main" id="{7B43190A-FBB1-4AF0-959A-0613F736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5336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BATCH RELEASE</a:t>
            </a:r>
          </a:p>
        </p:txBody>
      </p:sp>
      <p:sp>
        <p:nvSpPr>
          <p:cNvPr id="11" name="text-102">
            <a:extLst xmlns:a="http://schemas.openxmlformats.org/drawingml/2006/main">
              <a:ext uri="{FF2B5EF4-FFF2-40B4-BE49-F238E27FC236}">
                <a16:creationId xmlns:a16="http://schemas.microsoft.com/office/drawing/2014/main" id="{CECE6B59-7673-4462-A636-69368F88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2956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B4A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9B4AA"/>
                </a:solidFill>
                <a:latin typeface="Arial"/>
                <a:ea typeface="Arial"/>
                <a:cs typeface="Arial"/>
              </a:rPr>
              <a:t>Evidence, dates, manufacturer and redaction approved.</a:t>
            </a:r>
          </a:p>
        </p:txBody>
      </p:sp>
      <p:sp>
        <p:nvSpPr>
          <p:cNvPr id="12" name="rect-103">
            <a:extLst xmlns:a="http://schemas.openxmlformats.org/drawingml/2006/main">
              <a:ext uri="{FF2B5EF4-FFF2-40B4-BE49-F238E27FC236}">
                <a16:creationId xmlns:a16="http://schemas.microsoft.com/office/drawing/2014/main" id="{93C8F122-A786-4E32-B9AA-DF070801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21050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04">
            <a:extLst xmlns:a="http://schemas.openxmlformats.org/drawingml/2006/main">
              <a:ext uri="{FF2B5EF4-FFF2-40B4-BE49-F238E27FC236}">
                <a16:creationId xmlns:a16="http://schemas.microsoft.com/office/drawing/2014/main" id="{ED56C8A9-3C1C-4375-9109-8B9DC070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6215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1C4E9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D1C4E9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4" name="text-105">
            <a:extLst xmlns:a="http://schemas.openxmlformats.org/drawingml/2006/main">
              <a:ext uri="{FF2B5EF4-FFF2-40B4-BE49-F238E27FC236}">
                <a16:creationId xmlns:a16="http://schemas.microsoft.com/office/drawing/2014/main" id="{A20590EE-71FA-4F32-B139-D1979C3C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PUBLIC PROOF</a:t>
            </a:r>
          </a:p>
        </p:txBody>
      </p:sp>
      <p:sp>
        <p:nvSpPr>
          <p:cNvPr id="15" name="text-106">
            <a:extLst xmlns:a="http://schemas.openxmlformats.org/drawingml/2006/main">
              <a:ext uri="{FF2B5EF4-FFF2-40B4-BE49-F238E27FC236}">
                <a16:creationId xmlns:a16="http://schemas.microsoft.com/office/drawing/2014/main" id="{E1F57ADA-853A-46E7-AD18-91F81383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956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B4A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9B4AA"/>
                </a:solidFill>
                <a:latin typeface="Arial"/>
                <a:ea typeface="Arial"/>
                <a:cs typeface="Arial"/>
              </a:rPr>
              <a:t>Stable QR page with summaries and redacted files.</a:t>
            </a:r>
          </a:p>
        </p:txBody>
      </p:sp>
      <p:sp>
        <p:nvSpPr>
          <p:cNvPr id="16" name="rect-107">
            <a:extLst xmlns:a="http://schemas.openxmlformats.org/drawingml/2006/main">
              <a:ext uri="{FF2B5EF4-FFF2-40B4-BE49-F238E27FC236}">
                <a16:creationId xmlns:a16="http://schemas.microsoft.com/office/drawing/2014/main" id="{54DFF357-AE53-4E6A-9868-936F7EF7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21050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08">
            <a:extLst xmlns:a="http://schemas.openxmlformats.org/drawingml/2006/main">
              <a:ext uri="{FF2B5EF4-FFF2-40B4-BE49-F238E27FC236}">
                <a16:creationId xmlns:a16="http://schemas.microsoft.com/office/drawing/2014/main" id="{8073974A-A079-46F7-A715-B3A71DD5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6215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9F90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9A9F90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8" name="text-109">
            <a:extLst xmlns:a="http://schemas.openxmlformats.org/drawingml/2006/main">
              <a:ext uri="{FF2B5EF4-FFF2-40B4-BE49-F238E27FC236}">
                <a16:creationId xmlns:a16="http://schemas.microsoft.com/office/drawing/2014/main" id="{3E14C626-F7F2-4264-859A-E8121FEC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5336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UNIT AUTHENTICITY</a:t>
            </a:r>
          </a:p>
        </p:txBody>
      </p:sp>
      <p:sp>
        <p:nvSpPr>
          <p:cNvPr id="19" name="text-110">
            <a:extLst xmlns:a="http://schemas.openxmlformats.org/drawingml/2006/main">
              <a:ext uri="{FF2B5EF4-FFF2-40B4-BE49-F238E27FC236}">
                <a16:creationId xmlns:a16="http://schemas.microsoft.com/office/drawing/2014/main" id="{9825E0FB-06ED-4D2F-B200-19EF419D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956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B4A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9B4AA"/>
                </a:solidFill>
                <a:latin typeface="Arial"/>
                <a:ea typeface="Arial"/>
                <a:cs typeface="Arial"/>
              </a:rPr>
              <a:t>Concealed code records first and repeat verification.</a:t>
            </a:r>
          </a:p>
        </p:txBody>
      </p:sp>
      <p:sp>
        <p:nvSpPr>
          <p:cNvPr id="20" name="rect-111">
            <a:extLst xmlns:a="http://schemas.openxmlformats.org/drawingml/2006/main">
              <a:ext uri="{FF2B5EF4-FFF2-40B4-BE49-F238E27FC236}">
                <a16:creationId xmlns:a16="http://schemas.microsoft.com/office/drawing/2014/main" id="{E65029C1-17A8-4066-B728-13688C9C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953000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112">
            <a:extLst xmlns:a="http://schemas.openxmlformats.org/drawingml/2006/main">
              <a:ext uri="{FF2B5EF4-FFF2-40B4-BE49-F238E27FC236}">
                <a16:creationId xmlns:a16="http://schemas.microsoft.com/office/drawing/2014/main" id="{6401DEFE-AB59-4530-97E3-B05654C7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53025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IF ANY REQUIRED PROOF IS MISSING</a:t>
            </a:r>
          </a:p>
        </p:txBody>
      </p:sp>
      <p:sp>
        <p:nvSpPr>
          <p:cNvPr id="22" name="text-113">
            <a:extLst xmlns:a="http://schemas.openxmlformats.org/drawingml/2006/main">
              <a:ext uri="{FF2B5EF4-FFF2-40B4-BE49-F238E27FC236}">
                <a16:creationId xmlns:a16="http://schemas.microsoft.com/office/drawing/2014/main" id="{A7286064-5D99-4924-A835-3CF6D07A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530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THE BATCH IS NOT SELLABLE</a:t>
            </a:r>
          </a:p>
        </p:txBody>
      </p:sp>
      <p:sp>
        <p:nvSpPr>
          <p:cNvPr id="23" name="text-114">
            <a:extLst xmlns:a="http://schemas.openxmlformats.org/drawingml/2006/main">
              <a:ext uri="{FF2B5EF4-FFF2-40B4-BE49-F238E27FC236}">
                <a16:creationId xmlns:a16="http://schemas.microsoft.com/office/drawing/2014/main" id="{C2E03E93-E368-4C4C-BA38-8F81B96B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150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B4A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B4AA"/>
                </a:solidFill>
                <a:latin typeface="Arial"/>
                <a:ea typeface="Arial"/>
                <a:cs typeface="Arial"/>
              </a:rPr>
              <a:t>QR = public batch page</a:t>
            </a:r>
          </a:p>
        </p:txBody>
      </p:sp>
      <p:sp>
        <p:nvSpPr>
          <p:cNvPr id="24" name="text-115">
            <a:extLst xmlns:a="http://schemas.openxmlformats.org/drawingml/2006/main">
              <a:ext uri="{FF2B5EF4-FFF2-40B4-BE49-F238E27FC236}">
                <a16:creationId xmlns:a16="http://schemas.microsoft.com/office/drawing/2014/main" id="{28901C76-0AD4-4468-80F1-793D8D4A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150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B4A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B4AA"/>
                </a:solidFill>
                <a:latin typeface="Arial"/>
                <a:ea typeface="Arial"/>
                <a:cs typeface="Arial"/>
              </a:rPr>
              <a:t>Concealed code = per-unit authenticity</a:t>
            </a:r>
          </a:p>
        </p:txBody>
      </p:sp>
      <p:sp>
        <p:nvSpPr>
          <p:cNvPr id="25" name="line-116">
            <a:extLst xmlns:a="http://schemas.openxmlformats.org/drawingml/2006/main">
              <a:ext uri="{FF2B5EF4-FFF2-40B4-BE49-F238E27FC236}">
                <a16:creationId xmlns:a16="http://schemas.microsoft.com/office/drawing/2014/main" id="{3DCE2CAD-EB62-49CB-9EDD-62B64FF4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26" name="text-117">
            <a:extLst xmlns:a="http://schemas.openxmlformats.org/drawingml/2006/main">
              <a:ext uri="{FF2B5EF4-FFF2-40B4-BE49-F238E27FC236}">
                <a16:creationId xmlns:a16="http://schemas.microsoft.com/office/drawing/2014/main" id="{DE9415D1-437B-4759-B3E1-E8CFED12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6A0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A9A6A0"/>
                </a:solidFill>
                <a:latin typeface="Bahnschrift"/>
                <a:ea typeface="Bahnschrift"/>
                <a:cs typeface="Bahnschrift"/>
              </a:rPr>
              <a:t>TRUST ARCHITECTURE</a:t>
            </a:r>
          </a:p>
        </p:txBody>
      </p:sp>
      <p:sp>
        <p:nvSpPr>
          <p:cNvPr id="27" name="text-118">
            <a:extLst xmlns:a="http://schemas.openxmlformats.org/drawingml/2006/main">
              <a:ext uri="{FF2B5EF4-FFF2-40B4-BE49-F238E27FC236}">
                <a16:creationId xmlns:a16="http://schemas.microsoft.com/office/drawing/2014/main" id="{A2BAF50E-C872-4377-9C64-9083B689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A6A0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A9A6A0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35763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4111465064766"/>
          <a:stretch xmlns:a="http://schemas.openxmlformats.org/drawingml/2006/main"/>
        </p:blipFill>
        <p:spPr>
          <a:xfrm xmlns:a="http://schemas.openxmlformats.org/drawingml/2006/main">
            <a:off x="10953750" y="256106"/>
            <a:ext cx="552450" cy="535538"/>
          </a:xfrm>
          <a:prstGeom xmlns:a="http://schemas.openxmlformats.org/drawingml/2006/main" prst="rect">
            <a:avLst/>
          </a:prstGeom>
        </p:spPr>
      </p:pic>
      <p:sp>
        <p:nvSpPr>
          <p:cNvPr id="2" name="rect-119">
            <a:extLst xmlns:a="http://schemas.openxmlformats.org/drawingml/2006/main">
              <a:ext uri="{FF2B5EF4-FFF2-40B4-BE49-F238E27FC236}">
                <a16:creationId xmlns:a16="http://schemas.microsoft.com/office/drawing/2014/main" id="{FBFDED9A-0189-4013-A7D5-6CF894D0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57200"/>
            <a:ext cx="104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20">
            <a:extLst xmlns:a="http://schemas.openxmlformats.org/drawingml/2006/main">
              <a:ext uri="{FF2B5EF4-FFF2-40B4-BE49-F238E27FC236}">
                <a16:creationId xmlns:a16="http://schemas.microsoft.com/office/drawing/2014/main" id="{CD68D826-2B98-4B03-996A-CB9CE5C0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COMMERCE</a:t>
            </a:r>
          </a:p>
        </p:txBody>
      </p:sp>
      <p:sp>
        <p:nvSpPr>
          <p:cNvPr id="4" name="text-121">
            <a:extLst xmlns:a="http://schemas.openxmlformats.org/drawingml/2006/main">
              <a:ext uri="{FF2B5EF4-FFF2-40B4-BE49-F238E27FC236}">
                <a16:creationId xmlns:a16="http://schemas.microsoft.com/office/drawing/2014/main" id="{84A2C55C-9864-4039-A20D-96A51D7C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Checkout stays easy; control stays server-side</a:t>
            </a:r>
          </a:p>
        </p:txBody>
      </p:sp>
      <p:sp>
        <p:nvSpPr>
          <p:cNvPr id="5" name="text-122">
            <a:extLst xmlns:a="http://schemas.openxmlformats.org/drawingml/2006/main">
              <a:ext uri="{FF2B5EF4-FFF2-40B4-BE49-F238E27FC236}">
                <a16:creationId xmlns:a16="http://schemas.microsoft.com/office/drawing/2014/main" id="{54DDF1DD-76B2-4A8E-AA01-ADB21300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6566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465665"/>
                </a:solidFill>
                <a:latin typeface="Bahnschrift"/>
                <a:ea typeface="Bahnschrift"/>
                <a:cs typeface="Bahnschrift"/>
              </a:rPr>
              <a:t>THE SHOPPER SEES</a:t>
            </a:r>
          </a:p>
        </p:txBody>
      </p:sp>
      <p:sp>
        <p:nvSpPr>
          <p:cNvPr id="6" name="rect-123">
            <a:extLst xmlns:a="http://schemas.openxmlformats.org/drawingml/2006/main">
              <a:ext uri="{FF2B5EF4-FFF2-40B4-BE49-F238E27FC236}">
                <a16:creationId xmlns:a16="http://schemas.microsoft.com/office/drawing/2014/main" id="{B1D5B54A-02D0-432E-B626-B2ABA409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409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24">
            <a:extLst xmlns:a="http://schemas.openxmlformats.org/drawingml/2006/main">
              <a:ext uri="{FF2B5EF4-FFF2-40B4-BE49-F238E27FC236}">
                <a16:creationId xmlns:a16="http://schemas.microsoft.com/office/drawing/2014/main" id="{6076E35C-338C-4F69-ADD8-CAADC02D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443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Guest-first checkout</a:t>
            </a:r>
          </a:p>
        </p:txBody>
      </p:sp>
      <p:sp>
        <p:nvSpPr>
          <p:cNvPr id="8" name="rect-125">
            <a:extLst xmlns:a="http://schemas.openxmlformats.org/drawingml/2006/main">
              <a:ext uri="{FF2B5EF4-FFF2-40B4-BE49-F238E27FC236}">
                <a16:creationId xmlns:a16="http://schemas.microsoft.com/office/drawing/2014/main" id="{E52988C3-693E-4A89-A381-D7493742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126">
            <a:extLst xmlns:a="http://schemas.openxmlformats.org/drawingml/2006/main">
              <a:ext uri="{FF2B5EF4-FFF2-40B4-BE49-F238E27FC236}">
                <a16:creationId xmlns:a16="http://schemas.microsoft.com/office/drawing/2014/main" id="{425B54BA-202C-4EBD-B5CE-23BA663D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443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UPI, cards, wallets and net banking</a:t>
            </a:r>
          </a:p>
        </p:txBody>
      </p:sp>
      <p:sp>
        <p:nvSpPr>
          <p:cNvPr id="10" name="rect-127">
            <a:extLst xmlns:a="http://schemas.openxmlformats.org/drawingml/2006/main">
              <a:ext uri="{FF2B5EF4-FFF2-40B4-BE49-F238E27FC236}">
                <a16:creationId xmlns:a16="http://schemas.microsoft.com/office/drawing/2014/main" id="{9C903324-A9A5-4935-A6CD-AAAA00D0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514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28">
            <a:extLst xmlns:a="http://schemas.openxmlformats.org/drawingml/2006/main">
              <a:ext uri="{FF2B5EF4-FFF2-40B4-BE49-F238E27FC236}">
                <a16:creationId xmlns:a16="http://schemas.microsoft.com/office/drawing/2014/main" id="{FAB7C8DD-7D4F-43BD-BD18-AB6E5E73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443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Pincode serviceability + delivery estimate</a:t>
            </a:r>
          </a:p>
        </p:txBody>
      </p:sp>
      <p:sp>
        <p:nvSpPr>
          <p:cNvPr id="12" name="rect-129">
            <a:extLst xmlns:a="http://schemas.openxmlformats.org/drawingml/2006/main">
              <a:ext uri="{FF2B5EF4-FFF2-40B4-BE49-F238E27FC236}">
                <a16:creationId xmlns:a16="http://schemas.microsoft.com/office/drawing/2014/main" id="{6C110417-B2A6-498D-9A79-169E9079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067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30">
            <a:extLst xmlns:a="http://schemas.openxmlformats.org/drawingml/2006/main">
              <a:ext uri="{FF2B5EF4-FFF2-40B4-BE49-F238E27FC236}">
                <a16:creationId xmlns:a16="http://schemas.microsoft.com/office/drawing/2014/main" id="{0ABE9DBD-F9FB-41A1-8021-442991A1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443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Optional GST invoice fields</a:t>
            </a:r>
          </a:p>
        </p:txBody>
      </p:sp>
      <p:sp>
        <p:nvSpPr>
          <p:cNvPr id="14" name="rect-131">
            <a:extLst xmlns:a="http://schemas.openxmlformats.org/drawingml/2006/main">
              <a:ext uri="{FF2B5EF4-FFF2-40B4-BE49-F238E27FC236}">
                <a16:creationId xmlns:a16="http://schemas.microsoft.com/office/drawing/2014/main" id="{7CA38742-A162-4656-BE8D-A8B260A1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619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32">
            <a:extLst xmlns:a="http://schemas.openxmlformats.org/drawingml/2006/main">
              <a:ext uri="{FF2B5EF4-FFF2-40B4-BE49-F238E27FC236}">
                <a16:creationId xmlns:a16="http://schemas.microsoft.com/office/drawing/2014/main" id="{8F2CEEE6-02B7-49A3-8050-D050FD31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443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Account claim after purchase</a:t>
            </a:r>
          </a:p>
        </p:txBody>
      </p:sp>
      <p:sp>
        <p:nvSpPr>
          <p:cNvPr id="16" name="rect-133">
            <a:extLst xmlns:a="http://schemas.openxmlformats.org/drawingml/2006/main">
              <a:ext uri="{FF2B5EF4-FFF2-40B4-BE49-F238E27FC236}">
                <a16:creationId xmlns:a16="http://schemas.microsoft.com/office/drawing/2014/main" id="{EF559898-E21E-4F76-906B-D63049FE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1714500"/>
            <a:ext cx="55721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7" name="text-134">
            <a:extLst xmlns:a="http://schemas.openxmlformats.org/drawingml/2006/main">
              <a:ext uri="{FF2B5EF4-FFF2-40B4-BE49-F238E27FC236}">
                <a16:creationId xmlns:a16="http://schemas.microsoft.com/office/drawing/2014/main" id="{A92F81A5-E12E-4299-A7A7-7ACD6F18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B0F1A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6B0F1A"/>
                </a:solidFill>
                <a:latin typeface="Bahnschrift"/>
                <a:ea typeface="Bahnschrift"/>
                <a:cs typeface="Bahnschrift"/>
              </a:rPr>
              <a:t>THE SYSTEM GUARANTEES</a:t>
            </a:r>
          </a:p>
        </p:txBody>
      </p:sp>
      <p:sp>
        <p:nvSpPr>
          <p:cNvPr id="18" name="text-135">
            <a:extLst xmlns:a="http://schemas.openxmlformats.org/drawingml/2006/main">
              <a:ext uri="{FF2B5EF4-FFF2-40B4-BE49-F238E27FC236}">
                <a16:creationId xmlns:a16="http://schemas.microsoft.com/office/drawing/2014/main" id="{1098513D-66E0-40B9-AA91-03A1E311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B0F1A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6B0F1A"/>
                </a:solidFill>
                <a:latin typeface="Bahnschrift"/>
                <a:ea typeface="Bahnschrift"/>
                <a:cs typeface="Bahnschrift"/>
              </a:rPr>
              <a:t>15 MIN</a:t>
            </a:r>
          </a:p>
        </p:txBody>
      </p:sp>
      <p:sp>
        <p:nvSpPr>
          <p:cNvPr id="19" name="text-136">
            <a:extLst xmlns:a="http://schemas.openxmlformats.org/drawingml/2006/main">
              <a:ext uri="{FF2B5EF4-FFF2-40B4-BE49-F238E27FC236}">
                <a16:creationId xmlns:a16="http://schemas.microsoft.com/office/drawing/2014/main" id="{FF055C91-D901-4F22-906B-DBB999E2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2890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Timed, atomic inventory reservation</a:t>
            </a:r>
          </a:p>
        </p:txBody>
      </p:sp>
      <p:sp>
        <p:nvSpPr>
          <p:cNvPr id="20" name="line-137">
            <a:extLst xmlns:a="http://schemas.openxmlformats.org/drawingml/2006/main">
              <a:ext uri="{FF2B5EF4-FFF2-40B4-BE49-F238E27FC236}">
                <a16:creationId xmlns:a16="http://schemas.microsoft.com/office/drawing/2014/main" id="{AF928218-F6E4-4A54-A9DC-1F803CAA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1" name="text-138">
            <a:extLst xmlns:a="http://schemas.openxmlformats.org/drawingml/2006/main">
              <a:ext uri="{FF2B5EF4-FFF2-40B4-BE49-F238E27FC236}">
                <a16:creationId xmlns:a16="http://schemas.microsoft.com/office/drawing/2014/main" id="{02A1A35F-5F04-4627-B294-647CAF47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95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B0F1A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6B0F1A"/>
                </a:solidFill>
                <a:latin typeface="Bahnschrift"/>
                <a:ea typeface="Bahnschrift"/>
                <a:cs typeface="Bahnschrift"/>
              </a:rPr>
              <a:t>SERVER</a:t>
            </a:r>
          </a:p>
        </p:txBody>
      </p:sp>
      <p:sp>
        <p:nvSpPr>
          <p:cNvPr id="22" name="text-139">
            <a:extLst xmlns:a="http://schemas.openxmlformats.org/drawingml/2006/main">
              <a:ext uri="{FF2B5EF4-FFF2-40B4-BE49-F238E27FC236}">
                <a16:creationId xmlns:a16="http://schemas.microsoft.com/office/drawing/2014/main" id="{F7C6A3B7-EDA2-4661-9619-ADF754CC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Razorpay signature + webhook truth</a:t>
            </a:r>
          </a:p>
        </p:txBody>
      </p:sp>
      <p:sp>
        <p:nvSpPr>
          <p:cNvPr id="23" name="line-140">
            <a:extLst xmlns:a="http://schemas.openxmlformats.org/drawingml/2006/main">
              <a:ext uri="{FF2B5EF4-FFF2-40B4-BE49-F238E27FC236}">
                <a16:creationId xmlns:a16="http://schemas.microsoft.com/office/drawing/2014/main" id="{B9C77451-A25B-4472-934C-07080AA2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4" name="text-141">
            <a:extLst xmlns:a="http://schemas.openxmlformats.org/drawingml/2006/main">
              <a:ext uri="{FF2B5EF4-FFF2-40B4-BE49-F238E27FC236}">
                <a16:creationId xmlns:a16="http://schemas.microsoft.com/office/drawing/2014/main" id="{1EF76754-F128-423D-85D7-86534046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81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B0F1A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6B0F1A"/>
                </a:solidFill>
                <a:latin typeface="Bahnschrift"/>
                <a:ea typeface="Bahnschrift"/>
                <a:cs typeface="Bahnschrift"/>
              </a:rPr>
              <a:t>18+</a:t>
            </a:r>
          </a:p>
        </p:txBody>
      </p:sp>
      <p:sp>
        <p:nvSpPr>
          <p:cNvPr id="25" name="text-142">
            <a:extLst xmlns:a="http://schemas.openxmlformats.org/drawingml/2006/main">
              <a:ext uri="{FF2B5EF4-FFF2-40B4-BE49-F238E27FC236}">
                <a16:creationId xmlns:a16="http://schemas.microsoft.com/office/drawing/2014/main" id="{AF579F7F-C2E2-47FA-9C5C-6144C344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Adult purchaser attestation</a:t>
            </a:r>
          </a:p>
        </p:txBody>
      </p:sp>
      <p:sp>
        <p:nvSpPr>
          <p:cNvPr id="26" name="line-143">
            <a:extLst xmlns:a="http://schemas.openxmlformats.org/drawingml/2006/main">
              <a:ext uri="{FF2B5EF4-FFF2-40B4-BE49-F238E27FC236}">
                <a16:creationId xmlns:a16="http://schemas.microsoft.com/office/drawing/2014/main" id="{3A561657-540B-4C44-84E4-63BDF966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7" name="text-144">
            <a:extLst xmlns:a="http://schemas.openxmlformats.org/drawingml/2006/main">
              <a:ext uri="{FF2B5EF4-FFF2-40B4-BE49-F238E27FC236}">
                <a16:creationId xmlns:a16="http://schemas.microsoft.com/office/drawing/2014/main" id="{2B5CB4D5-B500-4C09-A6C9-D0E086F2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B0F1A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6B0F1A"/>
                </a:solidFill>
                <a:latin typeface="Bahnschrift"/>
                <a:ea typeface="Bahnschrift"/>
                <a:cs typeface="Bahnschrift"/>
              </a:rPr>
              <a:t>SNAPSHOT</a:t>
            </a:r>
          </a:p>
        </p:txBody>
      </p:sp>
      <p:sp>
        <p:nvSpPr>
          <p:cNvPr id="28" name="text-145">
            <a:extLst xmlns:a="http://schemas.openxmlformats.org/drawingml/2006/main">
              <a:ext uri="{FF2B5EF4-FFF2-40B4-BE49-F238E27FC236}">
                <a16:creationId xmlns:a16="http://schemas.microsoft.com/office/drawing/2014/main" id="{52656A08-4765-4F58-BA46-B016C2BB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Price, tax, policy and order history</a:t>
            </a:r>
          </a:p>
        </p:txBody>
      </p:sp>
      <p:sp>
        <p:nvSpPr>
          <p:cNvPr id="29" name="line-146">
            <a:extLst xmlns:a="http://schemas.openxmlformats.org/drawingml/2006/main">
              <a:ext uri="{FF2B5EF4-FFF2-40B4-BE49-F238E27FC236}">
                <a16:creationId xmlns:a16="http://schemas.microsoft.com/office/drawing/2014/main" id="{3AEEE63A-B22D-4F63-B0AC-18819C5C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0" name="text-147">
            <a:extLst xmlns:a="http://schemas.openxmlformats.org/drawingml/2006/main">
              <a:ext uri="{FF2B5EF4-FFF2-40B4-BE49-F238E27FC236}">
                <a16:creationId xmlns:a16="http://schemas.microsoft.com/office/drawing/2014/main" id="{983A659D-A57E-4957-94B6-B45140D1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COMMERCE</a:t>
            </a:r>
          </a:p>
        </p:txBody>
      </p:sp>
      <p:sp>
        <p:nvSpPr>
          <p:cNvPr id="31" name="text-148">
            <a:extLst xmlns:a="http://schemas.openxmlformats.org/drawingml/2006/main">
              <a:ext uri="{FF2B5EF4-FFF2-40B4-BE49-F238E27FC236}">
                <a16:creationId xmlns:a16="http://schemas.microsoft.com/office/drawing/2014/main" id="{9288D696-3C57-4DB7-9969-A9A5416B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84554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cbd66ee6f42e1"/>
          <a:stretch xmlns:a="http://schemas.openxmlformats.org/drawingml/2006/main"/>
        </p:blipFill>
        <p:spPr>
          <a:xfrm xmlns:a="http://schemas.openxmlformats.org/drawingml/2006/main">
            <a:off x="10953750" y="256106"/>
            <a:ext cx="552450" cy="535538"/>
          </a:xfrm>
          <a:prstGeom xmlns:a="http://schemas.openxmlformats.org/drawingml/2006/main" prst="rect">
            <a:avLst/>
          </a:prstGeom>
        </p:spPr>
      </p:pic>
      <p:sp>
        <p:nvSpPr>
          <p:cNvPr id="2" name="rect-149">
            <a:extLst xmlns:a="http://schemas.openxmlformats.org/drawingml/2006/main">
              <a:ext uri="{FF2B5EF4-FFF2-40B4-BE49-F238E27FC236}">
                <a16:creationId xmlns:a16="http://schemas.microsoft.com/office/drawing/2014/main" id="{9D0124A1-45DF-4ADF-AAB6-B5CBE838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57200"/>
            <a:ext cx="104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50">
            <a:extLst xmlns:a="http://schemas.openxmlformats.org/drawingml/2006/main">
              <a:ext uri="{FF2B5EF4-FFF2-40B4-BE49-F238E27FC236}">
                <a16:creationId xmlns:a16="http://schemas.microsoft.com/office/drawing/2014/main" id="{EA4DE1C7-06D8-4637-81DB-9975F8F9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OPERATIONS</a:t>
            </a:r>
          </a:p>
        </p:txBody>
      </p:sp>
      <p:sp>
        <p:nvSpPr>
          <p:cNvPr id="4" name="text-151">
            <a:extLst xmlns:a="http://schemas.openxmlformats.org/drawingml/2006/main">
              <a:ext uri="{FF2B5EF4-FFF2-40B4-BE49-F238E27FC236}">
                <a16:creationId xmlns:a16="http://schemas.microsoft.com/office/drawing/2014/main" id="{4BCBCE95-FF49-4083-8024-937B8220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Our ledger owns the truth</a:t>
            </a:r>
          </a:p>
        </p:txBody>
      </p:sp>
      <p:sp>
        <p:nvSpPr>
          <p:cNvPr id="5" name="text-152">
            <a:extLst xmlns:a="http://schemas.openxmlformats.org/drawingml/2006/main">
              <a:ext uri="{FF2B5EF4-FFF2-40B4-BE49-F238E27FC236}">
                <a16:creationId xmlns:a16="http://schemas.microsoft.com/office/drawing/2014/main" id="{61A9837F-1772-43CA-BAF4-DED8E7FD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3905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BODY CAFÉ CO</a:t>
            </a:r>
          </a:p>
          <a:p xmlns:a="http://schemas.openxmlformats.org/drawingml/2006/main">
            <a:pPr algn="l">
              <a:defRPr sz="30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OPERATIONAL CORE</a:t>
            </a:r>
          </a:p>
        </p:txBody>
      </p:sp>
      <p:sp>
        <p:nvSpPr>
          <p:cNvPr id="6" name="text-153">
            <a:extLst xmlns:a="http://schemas.openxmlformats.org/drawingml/2006/main">
              <a:ext uri="{FF2B5EF4-FFF2-40B4-BE49-F238E27FC236}">
                <a16:creationId xmlns:a16="http://schemas.microsoft.com/office/drawing/2014/main" id="{AD30F786-90C2-4125-ADC8-E8976095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9092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One auditable record for what we sell, prove, hold, ship, refund and learn.</a:t>
            </a:r>
          </a:p>
        </p:txBody>
      </p:sp>
      <p:sp>
        <p:nvSpPr>
          <p:cNvPr id="7" name="rect-154">
            <a:extLst xmlns:a="http://schemas.openxmlformats.org/drawingml/2006/main">
              <a:ext uri="{FF2B5EF4-FFF2-40B4-BE49-F238E27FC236}">
                <a16:creationId xmlns:a16="http://schemas.microsoft.com/office/drawing/2014/main" id="{4AA677E8-715E-40EE-AE42-B0C47232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648200"/>
            <a:ext cx="409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55">
            <a:extLst xmlns:a="http://schemas.openxmlformats.org/drawingml/2006/main">
              <a:ext uri="{FF2B5EF4-FFF2-40B4-BE49-F238E27FC236}">
                <a16:creationId xmlns:a16="http://schemas.microsoft.com/office/drawing/2014/main" id="{893094D1-8292-4ECA-95EB-BEF139C9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FEFO inventory · one active warehouse · location-ready model</a:t>
            </a:r>
          </a:p>
        </p:txBody>
      </p:sp>
      <p:sp>
        <p:nvSpPr>
          <p:cNvPr id="9" name="text-156">
            <a:extLst xmlns:a="http://schemas.openxmlformats.org/drawingml/2006/main">
              <a:ext uri="{FF2B5EF4-FFF2-40B4-BE49-F238E27FC236}">
                <a16:creationId xmlns:a16="http://schemas.microsoft.com/office/drawing/2014/main" id="{57806922-1D17-4C9F-AB19-0AB7DF91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76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0F1A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B0F1A"/>
                </a:solidFill>
                <a:latin typeface="Bahnschrift"/>
                <a:ea typeface="Bahnschrift"/>
                <a:cs typeface="Bahnschrift"/>
              </a:rPr>
              <a:t>PRODUCT</a:t>
            </a:r>
          </a:p>
        </p:txBody>
      </p:sp>
      <p:sp>
        <p:nvSpPr>
          <p:cNvPr id="10" name="text-157">
            <a:extLst xmlns:a="http://schemas.openxmlformats.org/drawingml/2006/main">
              <a:ext uri="{FF2B5EF4-FFF2-40B4-BE49-F238E27FC236}">
                <a16:creationId xmlns:a16="http://schemas.microsoft.com/office/drawing/2014/main" id="{9CA7E4BE-F4E0-4FC9-BD7B-0AF839BD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764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claim · price · publication</a:t>
            </a:r>
          </a:p>
        </p:txBody>
      </p:sp>
      <p:sp>
        <p:nvSpPr>
          <p:cNvPr id="11" name="line-158">
            <a:extLst xmlns:a="http://schemas.openxmlformats.org/drawingml/2006/main">
              <a:ext uri="{FF2B5EF4-FFF2-40B4-BE49-F238E27FC236}">
                <a16:creationId xmlns:a16="http://schemas.microsoft.com/office/drawing/2014/main" id="{8A813B77-3BB7-41C2-B06B-6DF60ECB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05125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2" name="text-159">
            <a:extLst xmlns:a="http://schemas.openxmlformats.org/drawingml/2006/main">
              <a:ext uri="{FF2B5EF4-FFF2-40B4-BE49-F238E27FC236}">
                <a16:creationId xmlns:a16="http://schemas.microsoft.com/office/drawing/2014/main" id="{6BACCE44-A619-4C24-9748-FE9D7AE7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76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7333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B87333"/>
                </a:solidFill>
                <a:latin typeface="Bahnschrift"/>
                <a:ea typeface="Bahnschrift"/>
                <a:cs typeface="Bahnschrift"/>
              </a:rPr>
              <a:t>QUALITY</a:t>
            </a:r>
          </a:p>
        </p:txBody>
      </p:sp>
      <p:sp>
        <p:nvSpPr>
          <p:cNvPr id="13" name="text-160">
            <a:extLst xmlns:a="http://schemas.openxmlformats.org/drawingml/2006/main">
              <a:ext uri="{FF2B5EF4-FFF2-40B4-BE49-F238E27FC236}">
                <a16:creationId xmlns:a16="http://schemas.microsoft.com/office/drawing/2014/main" id="{EE55F7ED-1E87-4EF9-99E0-4DC06620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764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batch · evidence · authenticity</a:t>
            </a:r>
          </a:p>
        </p:txBody>
      </p:sp>
      <p:sp>
        <p:nvSpPr>
          <p:cNvPr id="14" name="line-161">
            <a:extLst xmlns:a="http://schemas.openxmlformats.org/drawingml/2006/main">
              <a:ext uri="{FF2B5EF4-FFF2-40B4-BE49-F238E27FC236}">
                <a16:creationId xmlns:a16="http://schemas.microsoft.com/office/drawing/2014/main" id="{EE3B4B7F-AF84-4AE3-8382-B3ACF003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5" name="text-162">
            <a:extLst xmlns:a="http://schemas.openxmlformats.org/drawingml/2006/main">
              <a:ext uri="{FF2B5EF4-FFF2-40B4-BE49-F238E27FC236}">
                <a16:creationId xmlns:a16="http://schemas.microsoft.com/office/drawing/2014/main" id="{64C99243-5436-43E2-9700-30D4EAAE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718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6566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465665"/>
                </a:solidFill>
                <a:latin typeface="Bahnschrift"/>
                <a:ea typeface="Bahnschrift"/>
                <a:cs typeface="Bahnschrift"/>
              </a:rPr>
              <a:t>COMMERCE</a:t>
            </a:r>
          </a:p>
        </p:txBody>
      </p:sp>
      <p:sp>
        <p:nvSpPr>
          <p:cNvPr id="16" name="text-163">
            <a:extLst xmlns:a="http://schemas.openxmlformats.org/drawingml/2006/main">
              <a:ext uri="{FF2B5EF4-FFF2-40B4-BE49-F238E27FC236}">
                <a16:creationId xmlns:a16="http://schemas.microsoft.com/office/drawing/2014/main" id="{76E58884-4F60-42B7-9A40-2EA36872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718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order · payment · refund</a:t>
            </a:r>
          </a:p>
        </p:txBody>
      </p:sp>
      <p:sp>
        <p:nvSpPr>
          <p:cNvPr id="17" name="line-164">
            <a:extLst xmlns:a="http://schemas.openxmlformats.org/drawingml/2006/main">
              <a:ext uri="{FF2B5EF4-FFF2-40B4-BE49-F238E27FC236}">
                <a16:creationId xmlns:a16="http://schemas.microsoft.com/office/drawing/2014/main" id="{2FCFEE8E-F14D-4EED-9E18-863712DA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00525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8" name="text-165">
            <a:extLst xmlns:a="http://schemas.openxmlformats.org/drawingml/2006/main">
              <a:ext uri="{FF2B5EF4-FFF2-40B4-BE49-F238E27FC236}">
                <a16:creationId xmlns:a16="http://schemas.microsoft.com/office/drawing/2014/main" id="{104157D7-3FEE-4F54-8DDD-82DAE416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718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A9F90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9A9F90"/>
                </a:solidFill>
                <a:latin typeface="Bahnschrift"/>
                <a:ea typeface="Bahnschrift"/>
                <a:cs typeface="Bahnschrift"/>
              </a:rPr>
              <a:t>FULFILMENT</a:t>
            </a:r>
          </a:p>
        </p:txBody>
      </p:sp>
      <p:sp>
        <p:nvSpPr>
          <p:cNvPr id="19" name="text-166">
            <a:extLst xmlns:a="http://schemas.openxmlformats.org/drawingml/2006/main">
              <a:ext uri="{FF2B5EF4-FFF2-40B4-BE49-F238E27FC236}">
                <a16:creationId xmlns:a16="http://schemas.microsoft.com/office/drawing/2014/main" id="{A687B8BE-4878-49B9-87BB-747A76A8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inventory · shipment · RTO</a:t>
            </a:r>
          </a:p>
        </p:txBody>
      </p:sp>
      <p:sp>
        <p:nvSpPr>
          <p:cNvPr id="20" name="line-167">
            <a:extLst xmlns:a="http://schemas.openxmlformats.org/drawingml/2006/main">
              <a:ext uri="{FF2B5EF4-FFF2-40B4-BE49-F238E27FC236}">
                <a16:creationId xmlns:a16="http://schemas.microsoft.com/office/drawing/2014/main" id="{26F846D0-15E8-48B6-BCD3-0B8A6844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00525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1" name="text-168">
            <a:extLst xmlns:a="http://schemas.openxmlformats.org/drawingml/2006/main">
              <a:ext uri="{FF2B5EF4-FFF2-40B4-BE49-F238E27FC236}">
                <a16:creationId xmlns:a16="http://schemas.microsoft.com/office/drawing/2014/main" id="{78669B17-50CD-4012-8D6E-31852AB4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672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80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00080"/>
                </a:solidFill>
                <a:latin typeface="Bahnschrift"/>
                <a:ea typeface="Bahnschrift"/>
                <a:cs typeface="Bahnschrift"/>
              </a:rPr>
              <a:t>CUSTOMER</a:t>
            </a:r>
          </a:p>
        </p:txBody>
      </p:sp>
      <p:sp>
        <p:nvSpPr>
          <p:cNvPr id="22" name="text-169">
            <a:extLst xmlns:a="http://schemas.openxmlformats.org/drawingml/2006/main">
              <a:ext uri="{FF2B5EF4-FFF2-40B4-BE49-F238E27FC236}">
                <a16:creationId xmlns:a16="http://schemas.microsoft.com/office/drawing/2014/main" id="{86FF6E21-948B-490A-B753-054604F3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672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support · review · referral</a:t>
            </a:r>
          </a:p>
        </p:txBody>
      </p:sp>
      <p:sp>
        <p:nvSpPr>
          <p:cNvPr id="23" name="line-170">
            <a:extLst xmlns:a="http://schemas.openxmlformats.org/drawingml/2006/main">
              <a:ext uri="{FF2B5EF4-FFF2-40B4-BE49-F238E27FC236}">
                <a16:creationId xmlns:a16="http://schemas.microsoft.com/office/drawing/2014/main" id="{FF3AE227-2D7B-49E5-862E-1C7DFF92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95925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4" name="text-171">
            <a:extLst xmlns:a="http://schemas.openxmlformats.org/drawingml/2006/main">
              <a:ext uri="{FF2B5EF4-FFF2-40B4-BE49-F238E27FC236}">
                <a16:creationId xmlns:a16="http://schemas.microsoft.com/office/drawing/2014/main" id="{5DBB9BFF-A166-47CA-92EF-4E908DA7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672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GOVERNANCE</a:t>
            </a:r>
          </a:p>
        </p:txBody>
      </p:sp>
      <p:sp>
        <p:nvSpPr>
          <p:cNvPr id="25" name="text-172">
            <a:extLst xmlns:a="http://schemas.openxmlformats.org/drawingml/2006/main">
              <a:ext uri="{FF2B5EF4-FFF2-40B4-BE49-F238E27FC236}">
                <a16:creationId xmlns:a16="http://schemas.microsoft.com/office/drawing/2014/main" id="{470CF095-BEC8-4CB0-A23C-25FC7328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672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approval · audit · exception</a:t>
            </a:r>
          </a:p>
        </p:txBody>
      </p:sp>
      <p:sp>
        <p:nvSpPr>
          <p:cNvPr id="26" name="line-173">
            <a:extLst xmlns:a="http://schemas.openxmlformats.org/drawingml/2006/main">
              <a:ext uri="{FF2B5EF4-FFF2-40B4-BE49-F238E27FC236}">
                <a16:creationId xmlns:a16="http://schemas.microsoft.com/office/drawing/2014/main" id="{79842658-E991-46E9-A37C-D0E8B7AC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95925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7" name="line-174">
            <a:extLst xmlns:a="http://schemas.openxmlformats.org/drawingml/2006/main">
              <a:ext uri="{FF2B5EF4-FFF2-40B4-BE49-F238E27FC236}">
                <a16:creationId xmlns:a16="http://schemas.microsoft.com/office/drawing/2014/main" id="{64839612-63CA-4D72-9362-C0217D01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8" name="text-175">
            <a:extLst xmlns:a="http://schemas.openxmlformats.org/drawingml/2006/main">
              <a:ext uri="{FF2B5EF4-FFF2-40B4-BE49-F238E27FC236}">
                <a16:creationId xmlns:a16="http://schemas.microsoft.com/office/drawing/2014/main" id="{6D1F00FC-3F4F-4636-8AEF-4BB89076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OPERATIONS</a:t>
            </a:r>
          </a:p>
        </p:txBody>
      </p:sp>
      <p:sp>
        <p:nvSpPr>
          <p:cNvPr id="29" name="text-176">
            <a:extLst xmlns:a="http://schemas.openxmlformats.org/drawingml/2006/main">
              <a:ext uri="{FF2B5EF4-FFF2-40B4-BE49-F238E27FC236}">
                <a16:creationId xmlns:a16="http://schemas.microsoft.com/office/drawing/2014/main" id="{11A9126E-A4B8-41A6-9C19-F2FE9961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275571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656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d568f8d404ad4"/>
          <a:stretch xmlns:a="http://schemas.openxmlformats.org/drawingml/2006/main"/>
        </p:blipFill>
        <p:spPr>
          <a:xfrm xmlns:a="http://schemas.openxmlformats.org/drawingml/2006/main">
            <a:off x="10953750" y="254856"/>
            <a:ext cx="552450" cy="538038"/>
          </a:xfrm>
          <a:prstGeom xmlns:a="http://schemas.openxmlformats.org/drawingml/2006/main" prst="rect">
            <a:avLst/>
          </a:prstGeom>
        </p:spPr>
      </p:pic>
      <p:sp>
        <p:nvSpPr>
          <p:cNvPr id="2" name="rect-177">
            <a:extLst xmlns:a="http://schemas.openxmlformats.org/drawingml/2006/main">
              <a:ext uri="{FF2B5EF4-FFF2-40B4-BE49-F238E27FC236}">
                <a16:creationId xmlns:a16="http://schemas.microsoft.com/office/drawing/2014/main" id="{FC42C87E-E4BB-42FB-A125-A3107BB1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57200"/>
            <a:ext cx="104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78">
            <a:extLst xmlns:a="http://schemas.openxmlformats.org/drawingml/2006/main">
              <a:ext uri="{FF2B5EF4-FFF2-40B4-BE49-F238E27FC236}">
                <a16:creationId xmlns:a16="http://schemas.microsoft.com/office/drawing/2014/main" id="{4F742607-9B8C-4FF2-8B5F-EBD8D5B0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B4A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B9B4AA"/>
                </a:solidFill>
                <a:latin typeface="Bahnschrift"/>
                <a:ea typeface="Bahnschrift"/>
                <a:cs typeface="Bahnschrift"/>
              </a:rPr>
              <a:t>FULFILMENT</a:t>
            </a:r>
          </a:p>
        </p:txBody>
      </p:sp>
      <p:sp>
        <p:nvSpPr>
          <p:cNvPr id="4" name="text-179">
            <a:extLst xmlns:a="http://schemas.openxmlformats.org/drawingml/2006/main">
              <a:ext uri="{FF2B5EF4-FFF2-40B4-BE49-F238E27FC236}">
                <a16:creationId xmlns:a16="http://schemas.microsoft.com/office/drawing/2014/main" id="{074C1BDF-DEA2-45AC-BC46-298DE5AC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Shipping will be learned, not guessed</a:t>
            </a:r>
          </a:p>
        </p:txBody>
      </p:sp>
      <p:sp>
        <p:nvSpPr>
          <p:cNvPr id="5" name="text-180">
            <a:extLst xmlns:a="http://schemas.openxmlformats.org/drawingml/2006/main">
              <a:ext uri="{FF2B5EF4-FFF2-40B4-BE49-F238E27FC236}">
                <a16:creationId xmlns:a16="http://schemas.microsoft.com/office/drawing/2014/main" id="{694187B7-9705-4A90-B4C2-3A33141E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2333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ONE ACTIVE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WAREHOUSE</a:t>
            </a:r>
          </a:p>
        </p:txBody>
      </p:sp>
      <p:sp>
        <p:nvSpPr>
          <p:cNvPr id="6" name="text-181">
            <a:extLst xmlns:a="http://schemas.openxmlformats.org/drawingml/2006/main">
              <a:ext uri="{FF2B5EF4-FFF2-40B4-BE49-F238E27FC236}">
                <a16:creationId xmlns:a16="http://schemas.microsoft.com/office/drawing/2014/main" id="{73FBEA26-3CF4-42F9-B189-0CA2A9B4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0C0C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0C0C0"/>
                </a:solidFill>
                <a:latin typeface="Arial"/>
                <a:ea typeface="Arial"/>
                <a:cs typeface="Arial"/>
              </a:rPr>
              <a:t>Eligible prepaid D2C orders</a:t>
            </a:r>
          </a:p>
        </p:txBody>
      </p:sp>
      <p:sp>
        <p:nvSpPr>
          <p:cNvPr id="7" name="line-182">
            <a:extLst xmlns:a="http://schemas.openxmlformats.org/drawingml/2006/main">
              <a:ext uri="{FF2B5EF4-FFF2-40B4-BE49-F238E27FC236}">
                <a16:creationId xmlns:a16="http://schemas.microsoft.com/office/drawing/2014/main" id="{57424549-ED83-4CAE-B521-907B71BD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384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text-183">
            <a:extLst xmlns:a="http://schemas.openxmlformats.org/drawingml/2006/main">
              <a:ext uri="{FF2B5EF4-FFF2-40B4-BE49-F238E27FC236}">
                <a16:creationId xmlns:a16="http://schemas.microsoft.com/office/drawing/2014/main" id="{90952097-2589-4E6E-A2DB-649527C3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67000"/>
            <a:ext cx="1752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BF00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>
                <a:solidFill>
                  <a:srgbClr val="FFBF00"/>
                </a:solidFill>
                <a:latin typeface="Bahnschrift"/>
                <a:ea typeface="Bahnschrift"/>
                <a:cs typeface="Bahnschrift"/>
              </a:rPr>
              <a:t>50 / 50</a:t>
            </a:r>
          </a:p>
        </p:txBody>
      </p:sp>
      <p:sp>
        <p:nvSpPr>
          <p:cNvPr id="9" name="text-184">
            <a:extLst xmlns:a="http://schemas.openxmlformats.org/drawingml/2006/main">
              <a:ext uri="{FF2B5EF4-FFF2-40B4-BE49-F238E27FC236}">
                <a16:creationId xmlns:a16="http://schemas.microsoft.com/office/drawing/2014/main" id="{A8305449-5C1A-4C42-B77E-69447AE6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STRATIFIED BY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ZONE + WEIGHT</a:t>
            </a:r>
          </a:p>
        </p:txBody>
      </p:sp>
      <p:sp>
        <p:nvSpPr>
          <p:cNvPr id="10" name="line-185">
            <a:extLst xmlns:a="http://schemas.openxmlformats.org/drawingml/2006/main">
              <a:ext uri="{FF2B5EF4-FFF2-40B4-BE49-F238E27FC236}">
                <a16:creationId xmlns:a16="http://schemas.microsoft.com/office/drawing/2014/main" id="{02D4C509-6CBD-4740-8AC4-02FA4851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112395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line-186">
            <a:extLst xmlns:a="http://schemas.openxmlformats.org/drawingml/2006/main">
              <a:ext uri="{FF2B5EF4-FFF2-40B4-BE49-F238E27FC236}">
                <a16:creationId xmlns:a16="http://schemas.microsoft.com/office/drawing/2014/main" id="{F42F8824-0E9A-455A-93CE-AB799B07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112395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rect-187">
            <a:extLst xmlns:a="http://schemas.openxmlformats.org/drawingml/2006/main">
              <a:ext uri="{FF2B5EF4-FFF2-40B4-BE49-F238E27FC236}">
                <a16:creationId xmlns:a16="http://schemas.microsoft.com/office/drawing/2014/main" id="{EEB9BC29-ACC5-434A-9D05-024959C6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1752600"/>
            <a:ext cx="3714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88">
            <a:extLst xmlns:a="http://schemas.openxmlformats.org/drawingml/2006/main">
              <a:ext uri="{FF2B5EF4-FFF2-40B4-BE49-F238E27FC236}">
                <a16:creationId xmlns:a16="http://schemas.microsoft.com/office/drawing/2014/main" id="{B117AFDD-C547-4536-A0F9-D6D0CC85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288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PROVIDER A</a:t>
            </a:r>
          </a:p>
        </p:txBody>
      </p:sp>
      <p:sp>
        <p:nvSpPr>
          <p:cNvPr id="14" name="text-189">
            <a:extLst xmlns:a="http://schemas.openxmlformats.org/drawingml/2006/main">
              <a:ext uri="{FF2B5EF4-FFF2-40B4-BE49-F238E27FC236}">
                <a16:creationId xmlns:a16="http://schemas.microsoft.com/office/drawing/2014/main" id="{EFCDCD6D-9EEF-4C7B-B29B-F12D8B9D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431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Configurable integration slot</a:t>
            </a:r>
          </a:p>
        </p:txBody>
      </p:sp>
      <p:sp>
        <p:nvSpPr>
          <p:cNvPr id="15" name="rect-190">
            <a:extLst xmlns:a="http://schemas.openxmlformats.org/drawingml/2006/main">
              <a:ext uri="{FF2B5EF4-FFF2-40B4-BE49-F238E27FC236}">
                <a16:creationId xmlns:a16="http://schemas.microsoft.com/office/drawing/2014/main" id="{63572447-AA26-4751-A8D6-9D3C0CB6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3638550"/>
            <a:ext cx="3714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91">
            <a:extLst xmlns:a="http://schemas.openxmlformats.org/drawingml/2006/main">
              <a:ext uri="{FF2B5EF4-FFF2-40B4-BE49-F238E27FC236}">
                <a16:creationId xmlns:a16="http://schemas.microsoft.com/office/drawing/2014/main" id="{0129AF12-E873-4B87-8A31-1F80D29C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147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PROVIDER B</a:t>
            </a:r>
          </a:p>
        </p:txBody>
      </p:sp>
      <p:sp>
        <p:nvSpPr>
          <p:cNvPr id="17" name="text-192">
            <a:extLst xmlns:a="http://schemas.openxmlformats.org/drawingml/2006/main">
              <a:ext uri="{FF2B5EF4-FFF2-40B4-BE49-F238E27FC236}">
                <a16:creationId xmlns:a16="http://schemas.microsoft.com/office/drawing/2014/main" id="{27D63545-92E5-4988-949B-A6D2C4C8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29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Configurable integration slot</a:t>
            </a:r>
          </a:p>
        </p:txBody>
      </p:sp>
      <p:sp>
        <p:nvSpPr>
          <p:cNvPr id="18" name="text-193">
            <a:extLst xmlns:a="http://schemas.openxmlformats.org/drawingml/2006/main">
              <a:ext uri="{FF2B5EF4-FFF2-40B4-BE49-F238E27FC236}">
                <a16:creationId xmlns:a16="http://schemas.microsoft.com/office/drawing/2014/main" id="{2D8F9BA4-A83A-4861-8EA5-B3722503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F00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BF00"/>
                </a:solidFill>
                <a:latin typeface="Bahnschrift"/>
                <a:ea typeface="Bahnschrift"/>
                <a:cs typeface="Bahnschrift"/>
              </a:rPr>
              <a:t>COMPARE</a:t>
            </a:r>
          </a:p>
        </p:txBody>
      </p:sp>
      <p:sp>
        <p:nvSpPr>
          <p:cNvPr id="19" name="text-194">
            <a:extLst xmlns:a="http://schemas.openxmlformats.org/drawingml/2006/main">
              <a:ext uri="{FF2B5EF4-FFF2-40B4-BE49-F238E27FC236}">
                <a16:creationId xmlns:a16="http://schemas.microsoft.com/office/drawing/2014/main" id="{BC622020-16E9-42EA-91C6-EBFEBD43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62575"/>
            <a:ext cx="890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Billed cost · pickup delay · delivery time · RTO · damage · disputes</a:t>
            </a:r>
          </a:p>
        </p:txBody>
      </p:sp>
      <p:sp>
        <p:nvSpPr>
          <p:cNvPr id="20" name="line-195">
            <a:extLst xmlns:a="http://schemas.openxmlformats.org/drawingml/2006/main">
              <a:ext uri="{FF2B5EF4-FFF2-40B4-BE49-F238E27FC236}">
                <a16:creationId xmlns:a16="http://schemas.microsoft.com/office/drawing/2014/main" id="{4DDD8272-CE6D-4681-942B-683F943E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21" name="text-196">
            <a:extLst xmlns:a="http://schemas.openxmlformats.org/drawingml/2006/main">
              <a:ext uri="{FF2B5EF4-FFF2-40B4-BE49-F238E27FC236}">
                <a16:creationId xmlns:a16="http://schemas.microsoft.com/office/drawing/2014/main" id="{14D8C0E6-1F72-40F2-A4AD-9E0F0B75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6A0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A9A6A0"/>
                </a:solidFill>
                <a:latin typeface="Bahnschrift"/>
                <a:ea typeface="Bahnschrift"/>
                <a:cs typeface="Bahnschrift"/>
              </a:rPr>
              <a:t>FULFILMENT</a:t>
            </a:r>
          </a:p>
        </p:txBody>
      </p:sp>
      <p:sp>
        <p:nvSpPr>
          <p:cNvPr id="22" name="text-197">
            <a:extLst xmlns:a="http://schemas.openxmlformats.org/drawingml/2006/main">
              <a:ext uri="{FF2B5EF4-FFF2-40B4-BE49-F238E27FC236}">
                <a16:creationId xmlns:a16="http://schemas.microsoft.com/office/drawing/2014/main" id="{DB5AD0CD-DDA4-4BC5-8A26-88C179BB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A6A0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A9A6A0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19683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26ff30b0f49dd"/>
          <a:stretch xmlns:a="http://schemas.openxmlformats.org/drawingml/2006/main"/>
        </p:blipFill>
        <p:spPr>
          <a:xfrm xmlns:a="http://schemas.openxmlformats.org/drawingml/2006/main">
            <a:off x="10953750" y="256106"/>
            <a:ext cx="552450" cy="535538"/>
          </a:xfrm>
          <a:prstGeom xmlns:a="http://schemas.openxmlformats.org/drawingml/2006/main" prst="rect">
            <a:avLst/>
          </a:prstGeom>
        </p:spPr>
      </p:pic>
      <p:sp>
        <p:nvSpPr>
          <p:cNvPr id="2" name="rect-198">
            <a:extLst xmlns:a="http://schemas.openxmlformats.org/drawingml/2006/main">
              <a:ext uri="{FF2B5EF4-FFF2-40B4-BE49-F238E27FC236}">
                <a16:creationId xmlns:a16="http://schemas.microsoft.com/office/drawing/2014/main" id="{A47C9DDE-5E96-4ADC-AE5C-02F4E1B7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57200"/>
            <a:ext cx="104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99">
            <a:extLst xmlns:a="http://schemas.openxmlformats.org/drawingml/2006/main">
              <a:ext uri="{FF2B5EF4-FFF2-40B4-BE49-F238E27FC236}">
                <a16:creationId xmlns:a16="http://schemas.microsoft.com/office/drawing/2014/main" id="{3E9A0248-46D8-4273-A2D0-150F4535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CUSTOMER CARE</a:t>
            </a:r>
          </a:p>
        </p:txBody>
      </p:sp>
      <p:sp>
        <p:nvSpPr>
          <p:cNvPr id="4" name="text-200">
            <a:extLst xmlns:a="http://schemas.openxmlformats.org/drawingml/2006/main">
              <a:ext uri="{FF2B5EF4-FFF2-40B4-BE49-F238E27FC236}">
                <a16:creationId xmlns:a16="http://schemas.microsoft.com/office/drawing/2014/main" id="{9185D183-E50A-4C9A-8FA1-7D556F5E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 support case can become a safety action</a:t>
            </a:r>
          </a:p>
        </p:txBody>
      </p:sp>
      <p:sp>
        <p:nvSpPr>
          <p:cNvPr id="5" name="text-201">
            <a:extLst xmlns:a="http://schemas.openxmlformats.org/drawingml/2006/main">
              <a:ext uri="{FF2B5EF4-FFF2-40B4-BE49-F238E27FC236}">
                <a16:creationId xmlns:a16="http://schemas.microsoft.com/office/drawing/2014/main" id="{F412DEB8-E175-4E69-9693-68E20BE1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7333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B8733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6" name="text-202">
            <a:extLst xmlns:a="http://schemas.openxmlformats.org/drawingml/2006/main">
              <a:ext uri="{FF2B5EF4-FFF2-40B4-BE49-F238E27FC236}">
                <a16:creationId xmlns:a16="http://schemas.microsoft.com/office/drawing/2014/main" id="{7920F607-85EE-4184-829C-9CE80471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02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CONTACT</a:t>
            </a:r>
          </a:p>
        </p:txBody>
      </p:sp>
      <p:sp>
        <p:nvSpPr>
          <p:cNvPr id="7" name="text-203">
            <a:extLst xmlns:a="http://schemas.openxmlformats.org/drawingml/2006/main">
              <a:ext uri="{FF2B5EF4-FFF2-40B4-BE49-F238E27FC236}">
                <a16:creationId xmlns:a16="http://schemas.microsoft.com/office/drawing/2014/main" id="{3695C951-3996-4D96-A4D2-3CFCD60A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19275"/>
            <a:ext cx="690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WhatsApp · email · web</a:t>
            </a:r>
          </a:p>
        </p:txBody>
      </p:sp>
      <p:sp>
        <p:nvSpPr>
          <p:cNvPr id="8" name="line-204">
            <a:extLst xmlns:a="http://schemas.openxmlformats.org/drawingml/2006/main">
              <a:ext uri="{FF2B5EF4-FFF2-40B4-BE49-F238E27FC236}">
                <a16:creationId xmlns:a16="http://schemas.microsoft.com/office/drawing/2014/main" id="{CD28ECA8-4DEE-49C8-A8DE-F7E972DB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9" name="text-205">
            <a:extLst xmlns:a="http://schemas.openxmlformats.org/drawingml/2006/main">
              <a:ext uri="{FF2B5EF4-FFF2-40B4-BE49-F238E27FC236}">
                <a16:creationId xmlns:a16="http://schemas.microsoft.com/office/drawing/2014/main" id="{DE7D5D55-F509-4EAB-899A-41B14581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0522D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A0522D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0" name="text-206">
            <a:extLst xmlns:a="http://schemas.openxmlformats.org/drawingml/2006/main">
              <a:ext uri="{FF2B5EF4-FFF2-40B4-BE49-F238E27FC236}">
                <a16:creationId xmlns:a16="http://schemas.microsoft.com/office/drawing/2014/main" id="{1535441E-B673-4454-A5EF-6FB0FA32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CASE</a:t>
            </a:r>
          </a:p>
        </p:txBody>
      </p:sp>
      <p:sp>
        <p:nvSpPr>
          <p:cNvPr id="11" name="text-207">
            <a:extLst xmlns:a="http://schemas.openxmlformats.org/drawingml/2006/main">
              <a:ext uri="{FF2B5EF4-FFF2-40B4-BE49-F238E27FC236}">
                <a16:creationId xmlns:a16="http://schemas.microsoft.com/office/drawing/2014/main" id="{07EB0153-D072-45BA-B300-1168C683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38425"/>
            <a:ext cx="690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Owner · SLA · order · evidence</a:t>
            </a:r>
          </a:p>
        </p:txBody>
      </p:sp>
      <p:sp>
        <p:nvSpPr>
          <p:cNvPr id="12" name="line-208">
            <a:extLst xmlns:a="http://schemas.openxmlformats.org/drawingml/2006/main">
              <a:ext uri="{FF2B5EF4-FFF2-40B4-BE49-F238E27FC236}">
                <a16:creationId xmlns:a16="http://schemas.microsoft.com/office/drawing/2014/main" id="{85717023-5023-4331-8E75-7CA4FA22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3" name="text-209">
            <a:extLst xmlns:a="http://schemas.openxmlformats.org/drawingml/2006/main">
              <a:ext uri="{FF2B5EF4-FFF2-40B4-BE49-F238E27FC236}">
                <a16:creationId xmlns:a16="http://schemas.microsoft.com/office/drawing/2014/main" id="{675BD03D-EB94-4817-ADD7-81E38914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65665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465665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4" name="text-210">
            <a:extLst xmlns:a="http://schemas.openxmlformats.org/drawingml/2006/main">
              <a:ext uri="{FF2B5EF4-FFF2-40B4-BE49-F238E27FC236}">
                <a16:creationId xmlns:a16="http://schemas.microsoft.com/office/drawing/2014/main" id="{41503F08-AE42-40BE-9A5E-42064153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RESOLVE</a:t>
            </a:r>
          </a:p>
        </p:txBody>
      </p:sp>
      <p:sp>
        <p:nvSpPr>
          <p:cNvPr id="15" name="text-211">
            <a:extLst xmlns:a="http://schemas.openxmlformats.org/drawingml/2006/main">
              <a:ext uri="{FF2B5EF4-FFF2-40B4-BE49-F238E27FC236}">
                <a16:creationId xmlns:a16="http://schemas.microsoft.com/office/drawing/2014/main" id="{622A02C9-A153-4860-90E1-6AB761A2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57575"/>
            <a:ext cx="690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Support-managed cancellation, replacement or refund</a:t>
            </a:r>
          </a:p>
        </p:txBody>
      </p:sp>
      <p:sp>
        <p:nvSpPr>
          <p:cNvPr id="16" name="line-212">
            <a:extLst xmlns:a="http://schemas.openxmlformats.org/drawingml/2006/main">
              <a:ext uri="{FF2B5EF4-FFF2-40B4-BE49-F238E27FC236}">
                <a16:creationId xmlns:a16="http://schemas.microsoft.com/office/drawing/2014/main" id="{BA563288-4FFC-4650-8531-31AB3BCD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7" name="text-213">
            <a:extLst xmlns:a="http://schemas.openxmlformats.org/drawingml/2006/main">
              <a:ext uri="{FF2B5EF4-FFF2-40B4-BE49-F238E27FC236}">
                <a16:creationId xmlns:a16="http://schemas.microsoft.com/office/drawing/2014/main" id="{7E416381-C248-4676-BFE3-E198E22C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B0F1A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6B0F1A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8" name="text-214">
            <a:extLst xmlns:a="http://schemas.openxmlformats.org/drawingml/2006/main">
              <a:ext uri="{FF2B5EF4-FFF2-40B4-BE49-F238E27FC236}">
                <a16:creationId xmlns:a16="http://schemas.microsoft.com/office/drawing/2014/main" id="{68909F71-7D2F-41A0-ACA1-D05D6FA0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5767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ESCALATE</a:t>
            </a:r>
          </a:p>
        </p:txBody>
      </p:sp>
      <p:sp>
        <p:nvSpPr>
          <p:cNvPr id="19" name="text-215">
            <a:extLst xmlns:a="http://schemas.openxmlformats.org/drawingml/2006/main">
              <a:ext uri="{FF2B5EF4-FFF2-40B4-BE49-F238E27FC236}">
                <a16:creationId xmlns:a16="http://schemas.microsoft.com/office/drawing/2014/main" id="{BC0BB665-0FE3-4DAE-92AB-D55711CA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76725"/>
            <a:ext cx="690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Adverse effect · tampering · systemic defect</a:t>
            </a:r>
          </a:p>
        </p:txBody>
      </p:sp>
      <p:sp>
        <p:nvSpPr>
          <p:cNvPr id="20" name="line-216">
            <a:extLst xmlns:a="http://schemas.openxmlformats.org/drawingml/2006/main">
              <a:ext uri="{FF2B5EF4-FFF2-40B4-BE49-F238E27FC236}">
                <a16:creationId xmlns:a16="http://schemas.microsoft.com/office/drawing/2014/main" id="{05953415-B2DC-4359-89F6-FE95FC48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1" name="text-217">
            <a:extLst xmlns:a="http://schemas.openxmlformats.org/drawingml/2006/main">
              <a:ext uri="{FF2B5EF4-FFF2-40B4-BE49-F238E27FC236}">
                <a16:creationId xmlns:a16="http://schemas.microsoft.com/office/drawing/2014/main" id="{29BFC1BB-9BA6-4693-90E9-162D4196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2" name="text-218">
            <a:extLst xmlns:a="http://schemas.openxmlformats.org/drawingml/2006/main">
              <a:ext uri="{FF2B5EF4-FFF2-40B4-BE49-F238E27FC236}">
                <a16:creationId xmlns:a16="http://schemas.microsoft.com/office/drawing/2014/main" id="{C43ED30F-C91A-411F-AD07-D79306FC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768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ACT</a:t>
            </a:r>
          </a:p>
        </p:txBody>
      </p:sp>
      <p:sp>
        <p:nvSpPr>
          <p:cNvPr id="23" name="text-219">
            <a:extLst xmlns:a="http://schemas.openxmlformats.org/drawingml/2006/main">
              <a:ext uri="{FF2B5EF4-FFF2-40B4-BE49-F238E27FC236}">
                <a16:creationId xmlns:a16="http://schemas.microsoft.com/office/drawing/2014/main" id="{F8D1CC02-F092-4CC1-83A0-BD6CD4CF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095875"/>
            <a:ext cx="690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Quarantine · recall · outreach</a:t>
            </a:r>
          </a:p>
        </p:txBody>
      </p:sp>
      <p:sp>
        <p:nvSpPr>
          <p:cNvPr id="24" name="rect-220">
            <a:extLst xmlns:a="http://schemas.openxmlformats.org/drawingml/2006/main">
              <a:ext uri="{FF2B5EF4-FFF2-40B4-BE49-F238E27FC236}">
                <a16:creationId xmlns:a16="http://schemas.microsoft.com/office/drawing/2014/main" id="{B6EF5FBC-7DC6-484B-B716-DA99423F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47815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221">
            <a:extLst xmlns:a="http://schemas.openxmlformats.org/drawingml/2006/main">
              <a:ext uri="{FF2B5EF4-FFF2-40B4-BE49-F238E27FC236}">
                <a16:creationId xmlns:a16="http://schemas.microsoft.com/office/drawing/2014/main" id="{0DC3D8A4-DD21-4052-AF3F-2551EA86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2442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SAFETY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OVERRIDES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SPEED</a:t>
            </a:r>
          </a:p>
        </p:txBody>
      </p:sp>
      <p:sp>
        <p:nvSpPr>
          <p:cNvPr id="26" name="line-222">
            <a:extLst xmlns:a="http://schemas.openxmlformats.org/drawingml/2006/main">
              <a:ext uri="{FF2B5EF4-FFF2-40B4-BE49-F238E27FC236}">
                <a16:creationId xmlns:a16="http://schemas.microsoft.com/office/drawing/2014/main" id="{ABB452F9-0D7E-45B5-A38C-A1910B3C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7" name="text-223">
            <a:extLst xmlns:a="http://schemas.openxmlformats.org/drawingml/2006/main">
              <a:ext uri="{FF2B5EF4-FFF2-40B4-BE49-F238E27FC236}">
                <a16:creationId xmlns:a16="http://schemas.microsoft.com/office/drawing/2014/main" id="{28C0276F-AEC4-42E6-95A4-EE824750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CUSTOMER CARE</a:t>
            </a:r>
          </a:p>
        </p:txBody>
      </p:sp>
      <p:sp>
        <p:nvSpPr>
          <p:cNvPr id="28" name="text-224">
            <a:extLst xmlns:a="http://schemas.openxmlformats.org/drawingml/2006/main">
              <a:ext uri="{FF2B5EF4-FFF2-40B4-BE49-F238E27FC236}">
                <a16:creationId xmlns:a16="http://schemas.microsoft.com/office/drawing/2014/main" id="{719934DA-8116-446C-8177-C79419C8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179576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d208632b74675"/>
          <a:stretch xmlns:a="http://schemas.openxmlformats.org/drawingml/2006/main"/>
        </p:blipFill>
        <p:spPr>
          <a:xfrm xmlns:a="http://schemas.openxmlformats.org/drawingml/2006/main">
            <a:off x="10953750" y="254856"/>
            <a:ext cx="552450" cy="538038"/>
          </a:xfrm>
          <a:prstGeom xmlns:a="http://schemas.openxmlformats.org/drawingml/2006/main" prst="rect">
            <a:avLst/>
          </a:prstGeom>
        </p:spPr>
      </p:pic>
      <p:sp>
        <p:nvSpPr>
          <p:cNvPr id="2" name="rect-225">
            <a:extLst xmlns:a="http://schemas.openxmlformats.org/drawingml/2006/main">
              <a:ext uri="{FF2B5EF4-FFF2-40B4-BE49-F238E27FC236}">
                <a16:creationId xmlns:a16="http://schemas.microsoft.com/office/drawing/2014/main" id="{E30FB7BF-B2F9-451F-AAC3-193D0880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57200"/>
            <a:ext cx="104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26">
            <a:extLst xmlns:a="http://schemas.openxmlformats.org/drawingml/2006/main">
              <a:ext uri="{FF2B5EF4-FFF2-40B4-BE49-F238E27FC236}">
                <a16:creationId xmlns:a16="http://schemas.microsoft.com/office/drawing/2014/main" id="{00015D3C-DE00-4F98-BEB5-DCD6CB09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B4A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B9B4AA"/>
                </a:solidFill>
                <a:latin typeface="Bahnschrift"/>
                <a:ea typeface="Bahnschrift"/>
                <a:cs typeface="Bahnschrift"/>
              </a:rPr>
              <a:t>CHANNEL STRATEGY</a:t>
            </a:r>
          </a:p>
        </p:txBody>
      </p:sp>
      <p:sp>
        <p:nvSpPr>
          <p:cNvPr id="4" name="text-227">
            <a:extLst xmlns:a="http://schemas.openxmlformats.org/drawingml/2006/main">
              <a:ext uri="{FF2B5EF4-FFF2-40B4-BE49-F238E27FC236}">
                <a16:creationId xmlns:a16="http://schemas.microsoft.com/office/drawing/2014/main" id="{97041944-E63C-4BE9-B57B-81B847F0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D2C can launch first; Amazon completes v1</a:t>
            </a:r>
          </a:p>
        </p:txBody>
      </p:sp>
      <p:sp>
        <p:nvSpPr>
          <p:cNvPr id="5" name="rect-228">
            <a:extLst xmlns:a="http://schemas.openxmlformats.org/drawingml/2006/main">
              <a:ext uri="{FF2B5EF4-FFF2-40B4-BE49-F238E27FC236}">
                <a16:creationId xmlns:a16="http://schemas.microsoft.com/office/drawing/2014/main" id="{F99C6A0D-E397-45E2-BDEE-D84688A8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847850"/>
            <a:ext cx="4762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229">
            <a:extLst xmlns:a="http://schemas.openxmlformats.org/drawingml/2006/main">
              <a:ext uri="{FF2B5EF4-FFF2-40B4-BE49-F238E27FC236}">
                <a16:creationId xmlns:a16="http://schemas.microsoft.com/office/drawing/2014/main" id="{0E9ACF71-0DE5-40B5-A76B-28A0A976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B0F1A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6B0F1A"/>
                </a:solidFill>
                <a:latin typeface="Bahnschrift"/>
                <a:ea typeface="Bahnschrift"/>
                <a:cs typeface="Bahnschrift"/>
              </a:rPr>
              <a:t>GATE A</a:t>
            </a:r>
          </a:p>
        </p:txBody>
      </p:sp>
      <p:sp>
        <p:nvSpPr>
          <p:cNvPr id="7" name="text-230">
            <a:extLst xmlns:a="http://schemas.openxmlformats.org/drawingml/2006/main">
              <a:ext uri="{FF2B5EF4-FFF2-40B4-BE49-F238E27FC236}">
                <a16:creationId xmlns:a16="http://schemas.microsoft.com/office/drawing/2014/main" id="{C025612F-E8B0-4491-8C04-ED8AFF22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OWNED D2C</a:t>
            </a:r>
          </a:p>
        </p:txBody>
      </p:sp>
      <p:sp>
        <p:nvSpPr>
          <p:cNvPr id="8" name="rect-231">
            <a:extLst xmlns:a="http://schemas.openxmlformats.org/drawingml/2006/main">
              <a:ext uri="{FF2B5EF4-FFF2-40B4-BE49-F238E27FC236}">
                <a16:creationId xmlns:a16="http://schemas.microsoft.com/office/drawing/2014/main" id="{EA297956-22A6-44EB-BDFD-94D6AF57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232">
            <a:extLst xmlns:a="http://schemas.openxmlformats.org/drawingml/2006/main">
              <a:ext uri="{FF2B5EF4-FFF2-40B4-BE49-F238E27FC236}">
                <a16:creationId xmlns:a16="http://schemas.microsoft.com/office/drawing/2014/main" id="{60B3A24B-CBFB-4BD0-87CA-EDC473DB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Commerce + proof</a:t>
            </a:r>
          </a:p>
        </p:txBody>
      </p:sp>
      <p:sp>
        <p:nvSpPr>
          <p:cNvPr id="10" name="rect-233">
            <a:extLst xmlns:a="http://schemas.openxmlformats.org/drawingml/2006/main">
              <a:ext uri="{FF2B5EF4-FFF2-40B4-BE49-F238E27FC236}">
                <a16:creationId xmlns:a16="http://schemas.microsoft.com/office/drawing/2014/main" id="{9E5166A2-0C0D-4BD4-A413-993BC039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234">
            <a:extLst xmlns:a="http://schemas.openxmlformats.org/drawingml/2006/main">
              <a:ext uri="{FF2B5EF4-FFF2-40B4-BE49-F238E27FC236}">
                <a16:creationId xmlns:a16="http://schemas.microsoft.com/office/drawing/2014/main" id="{6176421F-E0A5-419A-B5BF-CBCFC45C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Owned inventory ledger</a:t>
            </a:r>
          </a:p>
        </p:txBody>
      </p:sp>
      <p:sp>
        <p:nvSpPr>
          <p:cNvPr id="12" name="rect-235">
            <a:extLst xmlns:a="http://schemas.openxmlformats.org/drawingml/2006/main">
              <a:ext uri="{FF2B5EF4-FFF2-40B4-BE49-F238E27FC236}">
                <a16:creationId xmlns:a16="http://schemas.microsoft.com/office/drawing/2014/main" id="{05859B7A-3BA7-4B05-B093-AFB03EC1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236">
            <a:extLst xmlns:a="http://schemas.openxmlformats.org/drawingml/2006/main">
              <a:ext uri="{FF2B5EF4-FFF2-40B4-BE49-F238E27FC236}">
                <a16:creationId xmlns:a16="http://schemas.microsoft.com/office/drawing/2014/main" id="{084C04FB-9B82-4A02-B242-FDE35C0D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4815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Two-provider shipping</a:t>
            </a:r>
          </a:p>
        </p:txBody>
      </p:sp>
      <p:sp>
        <p:nvSpPr>
          <p:cNvPr id="14" name="rect-237">
            <a:extLst xmlns:a="http://schemas.openxmlformats.org/drawingml/2006/main">
              <a:ext uri="{FF2B5EF4-FFF2-40B4-BE49-F238E27FC236}">
                <a16:creationId xmlns:a16="http://schemas.microsoft.com/office/drawing/2014/main" id="{DFED19AE-2AF3-4542-8243-9569740C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238">
            <a:extLst xmlns:a="http://schemas.openxmlformats.org/drawingml/2006/main">
              <a:ext uri="{FF2B5EF4-FFF2-40B4-BE49-F238E27FC236}">
                <a16:creationId xmlns:a16="http://schemas.microsoft.com/office/drawing/2014/main" id="{90555705-BF00-4E69-9733-F5CD083C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0535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Support + analytics</a:t>
            </a:r>
          </a:p>
        </p:txBody>
      </p:sp>
      <p:sp>
        <p:nvSpPr>
          <p:cNvPr id="16" name="line-239">
            <a:extLst xmlns:a="http://schemas.openxmlformats.org/drawingml/2006/main">
              <a:ext uri="{FF2B5EF4-FFF2-40B4-BE49-F238E27FC236}">
                <a16:creationId xmlns:a16="http://schemas.microsoft.com/office/drawing/2014/main" id="{0F967D9B-9F18-4959-8105-EF39F6F5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00450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1C4E9"/>
            </a:solidFill>
            <a:prstDash val="solid"/>
          </a:ln>
        </p:spPr>
      </p:sp>
      <p:sp>
        <p:nvSpPr>
          <p:cNvPr id="17" name="text-240">
            <a:extLst xmlns:a="http://schemas.openxmlformats.org/drawingml/2006/main">
              <a:ext uri="{FF2B5EF4-FFF2-40B4-BE49-F238E27FC236}">
                <a16:creationId xmlns:a16="http://schemas.microsoft.com/office/drawing/2014/main" id="{CD2DCDF0-4A10-4619-A912-A2069C01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004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1C4E9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D1C4E9"/>
                </a:solidFill>
                <a:latin typeface="Bahnschrift"/>
                <a:ea typeface="Bahnschrift"/>
                <a:cs typeface="Bahnschrift"/>
              </a:rPr>
              <a:t>THEN</a:t>
            </a:r>
          </a:p>
        </p:txBody>
      </p:sp>
      <p:sp>
        <p:nvSpPr>
          <p:cNvPr id="18" name="rect-241">
            <a:extLst xmlns:a="http://schemas.openxmlformats.org/drawingml/2006/main">
              <a:ext uri="{FF2B5EF4-FFF2-40B4-BE49-F238E27FC236}">
                <a16:creationId xmlns:a16="http://schemas.microsoft.com/office/drawing/2014/main" id="{592E8C4D-E458-408B-96AE-6B79E5EC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1847850"/>
            <a:ext cx="4857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242">
            <a:extLst xmlns:a="http://schemas.openxmlformats.org/drawingml/2006/main">
              <a:ext uri="{FF2B5EF4-FFF2-40B4-BE49-F238E27FC236}">
                <a16:creationId xmlns:a16="http://schemas.microsoft.com/office/drawing/2014/main" id="{3F60166D-D155-4043-B16A-67777D11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80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000080"/>
                </a:solidFill>
                <a:latin typeface="Bahnschrift"/>
                <a:ea typeface="Bahnschrift"/>
                <a:cs typeface="Bahnschrift"/>
              </a:rPr>
              <a:t>GATE B</a:t>
            </a:r>
          </a:p>
        </p:txBody>
      </p:sp>
      <p:sp>
        <p:nvSpPr>
          <p:cNvPr id="20" name="text-243">
            <a:extLst xmlns:a="http://schemas.openxmlformats.org/drawingml/2006/main">
              <a:ext uri="{FF2B5EF4-FFF2-40B4-BE49-F238E27FC236}">
                <a16:creationId xmlns:a16="http://schemas.microsoft.com/office/drawing/2014/main" id="{D6B663A3-13F0-4CDC-8E2E-6AAA2F8F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289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AMAZON OPS</a:t>
            </a:r>
          </a:p>
        </p:txBody>
      </p:sp>
      <p:sp>
        <p:nvSpPr>
          <p:cNvPr id="21" name="rect-244">
            <a:extLst xmlns:a="http://schemas.openxmlformats.org/drawingml/2006/main">
              <a:ext uri="{FF2B5EF4-FFF2-40B4-BE49-F238E27FC236}">
                <a16:creationId xmlns:a16="http://schemas.microsoft.com/office/drawing/2014/main" id="{CFD350FE-42C7-456A-8F96-BFE644A7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45">
            <a:extLst xmlns:a="http://schemas.openxmlformats.org/drawingml/2006/main">
              <a:ext uri="{FF2B5EF4-FFF2-40B4-BE49-F238E27FC236}">
                <a16:creationId xmlns:a16="http://schemas.microsoft.com/office/drawing/2014/main" id="{9B0F4223-4EC1-4919-B4EA-9F22353E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33750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SP-API operations sync</a:t>
            </a:r>
          </a:p>
        </p:txBody>
      </p:sp>
      <p:sp>
        <p:nvSpPr>
          <p:cNvPr id="23" name="rect-246">
            <a:extLst xmlns:a="http://schemas.openxmlformats.org/drawingml/2006/main">
              <a:ext uri="{FF2B5EF4-FFF2-40B4-BE49-F238E27FC236}">
                <a16:creationId xmlns:a16="http://schemas.microsoft.com/office/drawing/2014/main" id="{7804E456-4621-4F1B-A5DE-7AE687B9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247">
            <a:extLst xmlns:a="http://schemas.openxmlformats.org/drawingml/2006/main">
              <a:ext uri="{FF2B5EF4-FFF2-40B4-BE49-F238E27FC236}">
                <a16:creationId xmlns:a16="http://schemas.microsoft.com/office/drawing/2014/main" id="{C0F9400C-847C-4A95-A0E7-24D88FFC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Seller-fulfilled + FBA</a:t>
            </a:r>
          </a:p>
        </p:txBody>
      </p:sp>
      <p:sp>
        <p:nvSpPr>
          <p:cNvPr id="25" name="rect-248">
            <a:extLst xmlns:a="http://schemas.openxmlformats.org/drawingml/2006/main">
              <a:ext uri="{FF2B5EF4-FFF2-40B4-BE49-F238E27FC236}">
                <a16:creationId xmlns:a16="http://schemas.microsoft.com/office/drawing/2014/main" id="{4C9A4EA8-5E07-4D64-A943-59412362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49">
            <a:extLst xmlns:a="http://schemas.openxmlformats.org/drawingml/2006/main">
              <a:ext uri="{FF2B5EF4-FFF2-40B4-BE49-F238E27FC236}">
                <a16:creationId xmlns:a16="http://schemas.microsoft.com/office/drawing/2014/main" id="{9CA31C87-D768-46FC-921E-1CFCC74F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48150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Shared ledger + buffers</a:t>
            </a:r>
          </a:p>
        </p:txBody>
      </p:sp>
      <p:sp>
        <p:nvSpPr>
          <p:cNvPr id="27" name="rect-250">
            <a:extLst xmlns:a="http://schemas.openxmlformats.org/drawingml/2006/main">
              <a:ext uri="{FF2B5EF4-FFF2-40B4-BE49-F238E27FC236}">
                <a16:creationId xmlns:a16="http://schemas.microsoft.com/office/drawing/2014/main" id="{5D88607D-FB3B-49EF-82DD-AF553E91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51">
            <a:extLst xmlns:a="http://schemas.openxmlformats.org/drawingml/2006/main">
              <a:ext uri="{FF2B5EF4-FFF2-40B4-BE49-F238E27FC236}">
                <a16:creationId xmlns:a16="http://schemas.microsoft.com/office/drawing/2014/main" id="{485DE9E6-BA0B-4459-BF8D-AF9D457F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05350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Listing stays in Seller Central</a:t>
            </a:r>
          </a:p>
        </p:txBody>
      </p:sp>
      <p:sp>
        <p:nvSpPr>
          <p:cNvPr id="29" name="text-252">
            <a:extLst xmlns:a="http://schemas.openxmlformats.org/drawingml/2006/main">
              <a:ext uri="{FF2B5EF4-FFF2-40B4-BE49-F238E27FC236}">
                <a16:creationId xmlns:a16="http://schemas.microsoft.com/office/drawing/2014/main" id="{62BDE6D5-A392-44D3-9060-918C4B99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Amazon availability never determines whether the owned storefront is safe to operate.</a:t>
            </a:r>
          </a:p>
        </p:txBody>
      </p:sp>
      <p:sp>
        <p:nvSpPr>
          <p:cNvPr id="30" name="line-253">
            <a:extLst xmlns:a="http://schemas.openxmlformats.org/drawingml/2006/main">
              <a:ext uri="{FF2B5EF4-FFF2-40B4-BE49-F238E27FC236}">
                <a16:creationId xmlns:a16="http://schemas.microsoft.com/office/drawing/2014/main" id="{0FDA9E64-8946-4E08-9370-03BAC854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31" name="text-254">
            <a:extLst xmlns:a="http://schemas.openxmlformats.org/drawingml/2006/main">
              <a:ext uri="{FF2B5EF4-FFF2-40B4-BE49-F238E27FC236}">
                <a16:creationId xmlns:a16="http://schemas.microsoft.com/office/drawing/2014/main" id="{A6A573C5-6613-4C7C-9F32-A92EF39A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6A0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A9A6A0"/>
                </a:solidFill>
                <a:latin typeface="Bahnschrift"/>
                <a:ea typeface="Bahnschrift"/>
                <a:cs typeface="Bahnschrift"/>
              </a:rPr>
              <a:t>CHANNEL STRATEGY</a:t>
            </a:r>
          </a:p>
        </p:txBody>
      </p:sp>
      <p:sp>
        <p:nvSpPr>
          <p:cNvPr id="32" name="text-255">
            <a:extLst xmlns:a="http://schemas.openxmlformats.org/drawingml/2006/main">
              <a:ext uri="{FF2B5EF4-FFF2-40B4-BE49-F238E27FC236}">
                <a16:creationId xmlns:a16="http://schemas.microsoft.com/office/drawing/2014/main" id="{FB71C7AE-D34A-4323-8BA3-891CC8DB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A6A0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A9A6A0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44867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9ac25cbb741bd"/>
          <a:stretch xmlns:a="http://schemas.openxmlformats.org/drawingml/2006/main"/>
        </p:blipFill>
        <p:spPr>
          <a:xfrm xmlns:a="http://schemas.openxmlformats.org/drawingml/2006/main">
            <a:off x="10953750" y="256106"/>
            <a:ext cx="552450" cy="535538"/>
          </a:xfrm>
          <a:prstGeom xmlns:a="http://schemas.openxmlformats.org/drawingml/2006/main" prst="rect">
            <a:avLst/>
          </a:prstGeom>
        </p:spPr>
      </p:pic>
      <p:sp>
        <p:nvSpPr>
          <p:cNvPr id="2" name="rect-256">
            <a:extLst xmlns:a="http://schemas.openxmlformats.org/drawingml/2006/main">
              <a:ext uri="{FF2B5EF4-FFF2-40B4-BE49-F238E27FC236}">
                <a16:creationId xmlns:a16="http://schemas.microsoft.com/office/drawing/2014/main" id="{953347F3-8CA4-43BC-B19A-95A42D2F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57200"/>
            <a:ext cx="104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57">
            <a:extLst xmlns:a="http://schemas.openxmlformats.org/drawingml/2006/main">
              <a:ext uri="{FF2B5EF4-FFF2-40B4-BE49-F238E27FC236}">
                <a16:creationId xmlns:a16="http://schemas.microsoft.com/office/drawing/2014/main" id="{11B52E92-FBA4-412E-9719-50504F24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DATA</a:t>
            </a:r>
          </a:p>
        </p:txBody>
      </p:sp>
      <p:sp>
        <p:nvSpPr>
          <p:cNvPr id="4" name="text-258">
            <a:extLst xmlns:a="http://schemas.openxmlformats.org/drawingml/2006/main">
              <a:ext uri="{FF2B5EF4-FFF2-40B4-BE49-F238E27FC236}">
                <a16:creationId xmlns:a16="http://schemas.microsoft.com/office/drawing/2014/main" id="{7734593F-8FE1-4923-BAAA-2FDA9F75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Every decision leaves a measurable event</a:t>
            </a:r>
          </a:p>
        </p:txBody>
      </p:sp>
      <p:sp>
        <p:nvSpPr>
          <p:cNvPr id="5" name="text-259">
            <a:extLst xmlns:a="http://schemas.openxmlformats.org/drawingml/2006/main">
              <a:ext uri="{FF2B5EF4-FFF2-40B4-BE49-F238E27FC236}">
                <a16:creationId xmlns:a16="http://schemas.microsoft.com/office/drawing/2014/main" id="{96EED67B-0E28-43FD-A388-27F9FC61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B0F1A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6B0F1A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6" name="text-260">
            <a:extLst xmlns:a="http://schemas.openxmlformats.org/drawingml/2006/main">
              <a:ext uri="{FF2B5EF4-FFF2-40B4-BE49-F238E27FC236}">
                <a16:creationId xmlns:a16="http://schemas.microsoft.com/office/drawing/2014/main" id="{B697CC90-C8FA-4C08-BD79-64142217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57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ACQUIRE</a:t>
            </a:r>
          </a:p>
        </p:txBody>
      </p:sp>
      <p:sp>
        <p:nvSpPr>
          <p:cNvPr id="7" name="text-261">
            <a:extLst xmlns:a="http://schemas.openxmlformats.org/drawingml/2006/main">
              <a:ext uri="{FF2B5EF4-FFF2-40B4-BE49-F238E27FC236}">
                <a16:creationId xmlns:a16="http://schemas.microsoft.com/office/drawing/2014/main" id="{8F47C786-4B8D-4DC9-8654-DFD5F06F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Campaign + consent</a:t>
            </a:r>
          </a:p>
        </p:txBody>
      </p:sp>
      <p:sp>
        <p:nvSpPr>
          <p:cNvPr id="8" name="line-262">
            <a:extLst xmlns:a="http://schemas.openxmlformats.org/drawingml/2006/main">
              <a:ext uri="{FF2B5EF4-FFF2-40B4-BE49-F238E27FC236}">
                <a16:creationId xmlns:a16="http://schemas.microsoft.com/office/drawing/2014/main" id="{54CC3656-1B03-4A97-964F-885A7E5E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486025"/>
            <a:ext cx="42862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5"/>
            </a:solidFill>
            <a:prstDash val="solid"/>
          </a:ln>
        </p:spPr>
      </p:sp>
      <p:sp>
        <p:nvSpPr>
          <p:cNvPr id="9" name="text-263">
            <a:extLst xmlns:a="http://schemas.openxmlformats.org/drawingml/2006/main">
              <a:ext uri="{FF2B5EF4-FFF2-40B4-BE49-F238E27FC236}">
                <a16:creationId xmlns:a16="http://schemas.microsoft.com/office/drawing/2014/main" id="{2397BB14-4968-4930-B3E8-CA0CC99E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479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87333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B87333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0" name="text-264">
            <a:extLst xmlns:a="http://schemas.openxmlformats.org/drawingml/2006/main">
              <a:ext uri="{FF2B5EF4-FFF2-40B4-BE49-F238E27FC236}">
                <a16:creationId xmlns:a16="http://schemas.microsoft.com/office/drawing/2014/main" id="{AA63D1B6-992E-46E1-9F86-7E811064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47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UNDERSTAND</a:t>
            </a:r>
          </a:p>
        </p:txBody>
      </p:sp>
      <p:sp>
        <p:nvSpPr>
          <p:cNvPr id="11" name="text-265">
            <a:extLst xmlns:a="http://schemas.openxmlformats.org/drawingml/2006/main">
              <a:ext uri="{FF2B5EF4-FFF2-40B4-BE49-F238E27FC236}">
                <a16:creationId xmlns:a16="http://schemas.microsoft.com/office/drawing/2014/main" id="{14651696-A248-40B2-AC82-165F6299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Discovery + proof</a:t>
            </a:r>
          </a:p>
        </p:txBody>
      </p:sp>
      <p:sp>
        <p:nvSpPr>
          <p:cNvPr id="12" name="line-266">
            <a:extLst xmlns:a="http://schemas.openxmlformats.org/drawingml/2006/main">
              <a:ext uri="{FF2B5EF4-FFF2-40B4-BE49-F238E27FC236}">
                <a16:creationId xmlns:a16="http://schemas.microsoft.com/office/drawing/2014/main" id="{AC8423CF-692C-4EBD-A073-B5086AB1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76575"/>
            <a:ext cx="42862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5"/>
            </a:solidFill>
            <a:prstDash val="solid"/>
          </a:ln>
        </p:spPr>
      </p:sp>
      <p:sp>
        <p:nvSpPr>
          <p:cNvPr id="13" name="text-267">
            <a:extLst xmlns:a="http://schemas.openxmlformats.org/drawingml/2006/main">
              <a:ext uri="{FF2B5EF4-FFF2-40B4-BE49-F238E27FC236}">
                <a16:creationId xmlns:a16="http://schemas.microsoft.com/office/drawing/2014/main" id="{F9D74553-1619-4653-86BF-E183B400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385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65665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465665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14" name="text-268">
            <a:extLst xmlns:a="http://schemas.openxmlformats.org/drawingml/2006/main">
              <a:ext uri="{FF2B5EF4-FFF2-40B4-BE49-F238E27FC236}">
                <a16:creationId xmlns:a16="http://schemas.microsoft.com/office/drawing/2014/main" id="{9D02DD67-727E-4BDE-BD3A-26CAE097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38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CONVERT</a:t>
            </a:r>
          </a:p>
        </p:txBody>
      </p:sp>
      <p:sp>
        <p:nvSpPr>
          <p:cNvPr id="15" name="text-269">
            <a:extLst xmlns:a="http://schemas.openxmlformats.org/drawingml/2006/main">
              <a:ext uri="{FF2B5EF4-FFF2-40B4-BE49-F238E27FC236}">
                <a16:creationId xmlns:a16="http://schemas.microsoft.com/office/drawing/2014/main" id="{6C48D3B0-9C7D-4573-BB91-BD3D702F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814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Cart + payment</a:t>
            </a:r>
          </a:p>
        </p:txBody>
      </p:sp>
      <p:sp>
        <p:nvSpPr>
          <p:cNvPr id="16" name="line-270">
            <a:extLst xmlns:a="http://schemas.openxmlformats.org/drawingml/2006/main">
              <a:ext uri="{FF2B5EF4-FFF2-40B4-BE49-F238E27FC236}">
                <a16:creationId xmlns:a16="http://schemas.microsoft.com/office/drawing/2014/main" id="{4749BB4D-41D9-4599-BB92-EBA09524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667125"/>
            <a:ext cx="42862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5"/>
            </a:solidFill>
            <a:prstDash val="solid"/>
          </a:ln>
        </p:spPr>
      </p:sp>
      <p:sp>
        <p:nvSpPr>
          <p:cNvPr id="17" name="text-271">
            <a:extLst xmlns:a="http://schemas.openxmlformats.org/drawingml/2006/main">
              <a:ext uri="{FF2B5EF4-FFF2-40B4-BE49-F238E27FC236}">
                <a16:creationId xmlns:a16="http://schemas.microsoft.com/office/drawing/2014/main" id="{F168599D-5B14-433A-B591-03C592A6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290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9A9F90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9A9F90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8" name="text-272">
            <a:extLst xmlns:a="http://schemas.openxmlformats.org/drawingml/2006/main">
              <a:ext uri="{FF2B5EF4-FFF2-40B4-BE49-F238E27FC236}">
                <a16:creationId xmlns:a16="http://schemas.microsoft.com/office/drawing/2014/main" id="{A822603E-20E9-4AC7-B5E0-EBBF8EA4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29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DELIVER</a:t>
            </a:r>
          </a:p>
        </p:txBody>
      </p:sp>
      <p:sp>
        <p:nvSpPr>
          <p:cNvPr id="19" name="text-273">
            <a:extLst xmlns:a="http://schemas.openxmlformats.org/drawingml/2006/main">
              <a:ext uri="{FF2B5EF4-FFF2-40B4-BE49-F238E27FC236}">
                <a16:creationId xmlns:a16="http://schemas.microsoft.com/office/drawing/2014/main" id="{E39C07A7-F600-4B8B-ADD6-9EB7A69D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Fulfilment + support</a:t>
            </a:r>
          </a:p>
        </p:txBody>
      </p:sp>
      <p:sp>
        <p:nvSpPr>
          <p:cNvPr id="20" name="line-274">
            <a:extLst xmlns:a="http://schemas.openxmlformats.org/drawingml/2006/main">
              <a:ext uri="{FF2B5EF4-FFF2-40B4-BE49-F238E27FC236}">
                <a16:creationId xmlns:a16="http://schemas.microsoft.com/office/drawing/2014/main" id="{918CB03C-294C-4BE3-B1CE-F0915858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257675"/>
            <a:ext cx="42862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5"/>
            </a:solidFill>
            <a:prstDash val="solid"/>
          </a:ln>
        </p:spPr>
      </p:sp>
      <p:sp>
        <p:nvSpPr>
          <p:cNvPr id="21" name="text-275">
            <a:extLst xmlns:a="http://schemas.openxmlformats.org/drawingml/2006/main">
              <a:ext uri="{FF2B5EF4-FFF2-40B4-BE49-F238E27FC236}">
                <a16:creationId xmlns:a16="http://schemas.microsoft.com/office/drawing/2014/main" id="{9FA80165-9E11-4661-BF23-CCD0899C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196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80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000080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22" name="text-276">
            <a:extLst xmlns:a="http://schemas.openxmlformats.org/drawingml/2006/main">
              <a:ext uri="{FF2B5EF4-FFF2-40B4-BE49-F238E27FC236}">
                <a16:creationId xmlns:a16="http://schemas.microsoft.com/office/drawing/2014/main" id="{B79D91D2-20E8-4A6A-AA26-5FE311F3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19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RETURN</a:t>
            </a:r>
          </a:p>
        </p:txBody>
      </p:sp>
      <p:sp>
        <p:nvSpPr>
          <p:cNvPr id="23" name="text-277">
            <a:extLst xmlns:a="http://schemas.openxmlformats.org/drawingml/2006/main">
              <a:ext uri="{FF2B5EF4-FFF2-40B4-BE49-F238E27FC236}">
                <a16:creationId xmlns:a16="http://schemas.microsoft.com/office/drawing/2014/main" id="{F42CE344-4CE8-4D00-A3DD-80691FC4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62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Review + referral + reorder</a:t>
            </a:r>
          </a:p>
        </p:txBody>
      </p:sp>
      <p:sp>
        <p:nvSpPr>
          <p:cNvPr id="24" name="rect-278">
            <a:extLst xmlns:a="http://schemas.openxmlformats.org/drawingml/2006/main">
              <a:ext uri="{FF2B5EF4-FFF2-40B4-BE49-F238E27FC236}">
                <a16:creationId xmlns:a16="http://schemas.microsoft.com/office/drawing/2014/main" id="{5E648C66-B9D1-4D99-838C-B6A8DD6A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229225"/>
            <a:ext cx="1085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279">
            <a:extLst xmlns:a="http://schemas.openxmlformats.org/drawingml/2006/main">
              <a:ext uri="{FF2B5EF4-FFF2-40B4-BE49-F238E27FC236}">
                <a16:creationId xmlns:a16="http://schemas.microsoft.com/office/drawing/2014/main" id="{E59CFAB6-BB64-4872-93A1-F9863A40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FIRST-PARTY EVENT SPINE</a:t>
            </a:r>
          </a:p>
        </p:txBody>
      </p:sp>
      <p:sp>
        <p:nvSpPr>
          <p:cNvPr id="26" name="text-280">
            <a:extLst xmlns:a="http://schemas.openxmlformats.org/drawingml/2006/main">
              <a:ext uri="{FF2B5EF4-FFF2-40B4-BE49-F238E27FC236}">
                <a16:creationId xmlns:a16="http://schemas.microsoft.com/office/drawing/2014/main" id="{BB10AE04-9175-459D-BF1C-0E03C5FA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2925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Consent-aware exports · feature flags · reproducible dashboards</a:t>
            </a:r>
          </a:p>
        </p:txBody>
      </p:sp>
      <p:sp>
        <p:nvSpPr>
          <p:cNvPr id="27" name="line-281">
            <a:extLst xmlns:a="http://schemas.openxmlformats.org/drawingml/2006/main">
              <a:ext uri="{FF2B5EF4-FFF2-40B4-BE49-F238E27FC236}">
                <a16:creationId xmlns:a16="http://schemas.microsoft.com/office/drawing/2014/main" id="{09A8C37E-EC59-4426-B432-1BDEA306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8" name="text-282">
            <a:extLst xmlns:a="http://schemas.openxmlformats.org/drawingml/2006/main">
              <a:ext uri="{FF2B5EF4-FFF2-40B4-BE49-F238E27FC236}">
                <a16:creationId xmlns:a16="http://schemas.microsoft.com/office/drawing/2014/main" id="{B6A0BF93-93B7-496D-AA49-4351E816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DATA</a:t>
            </a:r>
          </a:p>
        </p:txBody>
      </p:sp>
      <p:sp>
        <p:nvSpPr>
          <p:cNvPr id="29" name="text-283">
            <a:extLst xmlns:a="http://schemas.openxmlformats.org/drawingml/2006/main">
              <a:ext uri="{FF2B5EF4-FFF2-40B4-BE49-F238E27FC236}">
                <a16:creationId xmlns:a16="http://schemas.microsoft.com/office/drawing/2014/main" id="{BFA956C9-0B54-457D-8C62-B69C92FC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79481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8105184954ddc"/>
          <a:stretch xmlns:a="http://schemas.openxmlformats.org/drawingml/2006/main"/>
        </p:blipFill>
        <p:spPr>
          <a:xfrm xmlns:a="http://schemas.openxmlformats.org/drawingml/2006/main">
            <a:off x="10953750" y="254856"/>
            <a:ext cx="552450" cy="538038"/>
          </a:xfrm>
          <a:prstGeom xmlns:a="http://schemas.openxmlformats.org/drawingml/2006/main" prst="rect">
            <a:avLst/>
          </a:prstGeom>
        </p:spPr>
      </p:pic>
      <p:sp>
        <p:nvSpPr>
          <p:cNvPr id="2" name="rect-284">
            <a:extLst xmlns:a="http://schemas.openxmlformats.org/drawingml/2006/main">
              <a:ext uri="{FF2B5EF4-FFF2-40B4-BE49-F238E27FC236}">
                <a16:creationId xmlns:a16="http://schemas.microsoft.com/office/drawing/2014/main" id="{32A21756-91A6-40CB-BD6F-BF2CE7D0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57200"/>
            <a:ext cx="104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85">
            <a:extLst xmlns:a="http://schemas.openxmlformats.org/drawingml/2006/main">
              <a:ext uri="{FF2B5EF4-FFF2-40B4-BE49-F238E27FC236}">
                <a16:creationId xmlns:a16="http://schemas.microsoft.com/office/drawing/2014/main" id="{E23676C7-9D55-45A6-A32F-08776C66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B4A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B9B4AA"/>
                </a:solidFill>
                <a:latin typeface="Bahnschrift"/>
                <a:ea typeface="Bahnschrift"/>
                <a:cs typeface="Bahnschrift"/>
              </a:rPr>
              <a:t>GOVERNANCE</a:t>
            </a:r>
          </a:p>
        </p:txBody>
      </p:sp>
      <p:sp>
        <p:nvSpPr>
          <p:cNvPr id="4" name="text-286">
            <a:extLst xmlns:a="http://schemas.openxmlformats.org/drawingml/2006/main">
              <a:ext uri="{FF2B5EF4-FFF2-40B4-BE49-F238E27FC236}">
                <a16:creationId xmlns:a16="http://schemas.microsoft.com/office/drawing/2014/main" id="{8D1C304C-4AAB-4310-A9A2-665560F5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Two roles. Two-person control.</a:t>
            </a:r>
          </a:p>
        </p:txBody>
      </p:sp>
      <p:sp>
        <p:nvSpPr>
          <p:cNvPr id="5" name="text-287">
            <a:extLst xmlns:a="http://schemas.openxmlformats.org/drawingml/2006/main">
              <a:ext uri="{FF2B5EF4-FFF2-40B4-BE49-F238E27FC236}">
                <a16:creationId xmlns:a16="http://schemas.microsoft.com/office/drawing/2014/main" id="{CE25C2F0-140B-4121-80A3-A746F2FF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ADMIN</a:t>
            </a:r>
          </a:p>
        </p:txBody>
      </p:sp>
      <p:sp>
        <p:nvSpPr>
          <p:cNvPr id="6" name="text-288">
            <a:extLst xmlns:a="http://schemas.openxmlformats.org/drawingml/2006/main">
              <a:ext uri="{FF2B5EF4-FFF2-40B4-BE49-F238E27FC236}">
                <a16:creationId xmlns:a16="http://schemas.microsoft.com/office/drawing/2014/main" id="{E70E423C-EC2A-4AD3-B4E0-B091289C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381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B4A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B4AA"/>
                </a:solidFill>
                <a:latin typeface="Arial"/>
                <a:ea typeface="Arial"/>
                <a:cs typeface="Arial"/>
              </a:rPr>
              <a:t>Can initiate operational actions and critical change requests.</a:t>
            </a:r>
          </a:p>
        </p:txBody>
      </p:sp>
      <p:sp>
        <p:nvSpPr>
          <p:cNvPr id="7" name="text-289">
            <a:extLst xmlns:a="http://schemas.openxmlformats.org/drawingml/2006/main">
              <a:ext uri="{FF2B5EF4-FFF2-40B4-BE49-F238E27FC236}">
                <a16:creationId xmlns:a16="http://schemas.microsoft.com/office/drawing/2014/main" id="{DD2E3C7F-0DE9-4BEB-9A19-74B7EB11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VIEWER</a:t>
            </a:r>
          </a:p>
        </p:txBody>
      </p:sp>
      <p:sp>
        <p:nvSpPr>
          <p:cNvPr id="8" name="text-290">
            <a:extLst xmlns:a="http://schemas.openxmlformats.org/drawingml/2006/main">
              <a:ext uri="{FF2B5EF4-FFF2-40B4-BE49-F238E27FC236}">
                <a16:creationId xmlns:a16="http://schemas.microsoft.com/office/drawing/2014/main" id="{2A82FE67-0DA6-4EE2-9565-2A427F34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381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B4A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B4AA"/>
                </a:solidFill>
                <a:latin typeface="Arial"/>
                <a:ea typeface="Arial"/>
                <a:cs typeface="Arial"/>
              </a:rPr>
              <a:t>Read-only on every server endpoint, not just the interface.</a:t>
            </a:r>
          </a:p>
        </p:txBody>
      </p:sp>
      <p:sp>
        <p:nvSpPr>
          <p:cNvPr id="9" name="rect-291">
            <a:extLst xmlns:a="http://schemas.openxmlformats.org/drawingml/2006/main">
              <a:ext uri="{FF2B5EF4-FFF2-40B4-BE49-F238E27FC236}">
                <a16:creationId xmlns:a16="http://schemas.microsoft.com/office/drawing/2014/main" id="{C80CCFB3-AD3E-4449-AACF-5CD3A042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1762125"/>
            <a:ext cx="6000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92">
            <a:extLst xmlns:a="http://schemas.openxmlformats.org/drawingml/2006/main">
              <a:ext uri="{FF2B5EF4-FFF2-40B4-BE49-F238E27FC236}">
                <a16:creationId xmlns:a16="http://schemas.microsoft.com/office/drawing/2014/main" id="{A62A7DF9-2F3A-40EF-9584-FABFB9E1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43125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292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NO SELF-APPROVAL</a:t>
            </a:r>
          </a:p>
        </p:txBody>
      </p:sp>
      <p:sp>
        <p:nvSpPr>
          <p:cNvPr id="11" name="line-293">
            <a:extLst xmlns:a="http://schemas.openxmlformats.org/drawingml/2006/main">
              <a:ext uri="{FF2B5EF4-FFF2-40B4-BE49-F238E27FC236}">
                <a16:creationId xmlns:a16="http://schemas.microsoft.com/office/drawing/2014/main" id="{6193D4DD-BE7B-4BC0-9671-4882F084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76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1414"/>
            </a:solidFill>
            <a:prstDash val="solid"/>
          </a:ln>
        </p:spPr>
      </p:sp>
      <p:sp>
        <p:nvSpPr>
          <p:cNvPr id="12" name="text-294">
            <a:extLst xmlns:a="http://schemas.openxmlformats.org/drawingml/2006/main">
              <a:ext uri="{FF2B5EF4-FFF2-40B4-BE49-F238E27FC236}">
                <a16:creationId xmlns:a16="http://schemas.microsoft.com/office/drawing/2014/main" id="{6557B388-E6E3-4769-ACA8-B503AF69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Product · claim · batch · price · refund · stock · access</a:t>
            </a:r>
          </a:p>
        </p:txBody>
      </p:sp>
      <p:sp>
        <p:nvSpPr>
          <p:cNvPr id="13" name="text-295">
            <a:extLst xmlns:a="http://schemas.openxmlformats.org/drawingml/2006/main">
              <a:ext uri="{FF2B5EF4-FFF2-40B4-BE49-F238E27FC236}">
                <a16:creationId xmlns:a16="http://schemas.microsoft.com/office/drawing/2014/main" id="{965A0D0E-AAFA-45C0-BFE6-0AB43EBA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81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Creator</a:t>
            </a:r>
          </a:p>
        </p:txBody>
      </p:sp>
      <p:sp>
        <p:nvSpPr>
          <p:cNvPr id="14" name="text-296">
            <a:extLst xmlns:a="http://schemas.openxmlformats.org/drawingml/2006/main">
              <a:ext uri="{FF2B5EF4-FFF2-40B4-BE49-F238E27FC236}">
                <a16:creationId xmlns:a16="http://schemas.microsoft.com/office/drawing/2014/main" id="{787BDC98-B73F-497E-B2F6-DAE3CCDF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148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B0F1A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6B0F1A"/>
                </a:solidFill>
                <a:latin typeface="Bahnschrift"/>
                <a:ea typeface="Bahnschrift"/>
                <a:cs typeface="Bahnschrift"/>
              </a:rPr>
              <a:t>≠</a:t>
            </a:r>
          </a:p>
        </p:txBody>
      </p:sp>
      <p:sp>
        <p:nvSpPr>
          <p:cNvPr id="15" name="text-297">
            <a:extLst xmlns:a="http://schemas.openxmlformats.org/drawingml/2006/main">
              <a:ext uri="{FF2B5EF4-FFF2-40B4-BE49-F238E27FC236}">
                <a16:creationId xmlns:a16="http://schemas.microsoft.com/office/drawing/2014/main" id="{ABA1C16C-9E05-4C4B-A9F5-6CF2359A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Approver</a:t>
            </a:r>
          </a:p>
        </p:txBody>
      </p:sp>
      <p:sp>
        <p:nvSpPr>
          <p:cNvPr id="16" name="text-298">
            <a:extLst xmlns:a="http://schemas.openxmlformats.org/drawingml/2006/main">
              <a:ext uri="{FF2B5EF4-FFF2-40B4-BE49-F238E27FC236}">
                <a16:creationId xmlns:a16="http://schemas.microsoft.com/office/drawing/2014/main" id="{9973249C-A9AE-4F3F-9FB5-E678699D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8864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9B4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B4AA"/>
                </a:solidFill>
                <a:latin typeface="Arial"/>
                <a:ea typeface="Arial"/>
                <a:cs typeface="Arial"/>
              </a:rPr>
              <a:t>Exception: any Admin may quarantine a safety risk immediately; release still needs approval.</a:t>
            </a:r>
          </a:p>
        </p:txBody>
      </p:sp>
      <p:sp>
        <p:nvSpPr>
          <p:cNvPr id="17" name="line-299">
            <a:extLst xmlns:a="http://schemas.openxmlformats.org/drawingml/2006/main">
              <a:ext uri="{FF2B5EF4-FFF2-40B4-BE49-F238E27FC236}">
                <a16:creationId xmlns:a16="http://schemas.microsoft.com/office/drawing/2014/main" id="{6656B4B6-5DA6-4EE0-AB11-357C9024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8" name="text-300">
            <a:extLst xmlns:a="http://schemas.openxmlformats.org/drawingml/2006/main">
              <a:ext uri="{FF2B5EF4-FFF2-40B4-BE49-F238E27FC236}">
                <a16:creationId xmlns:a16="http://schemas.microsoft.com/office/drawing/2014/main" id="{9BFE496B-7EA3-4A7C-A01A-FF7B188A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6A0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A9A6A0"/>
                </a:solidFill>
                <a:latin typeface="Bahnschrift"/>
                <a:ea typeface="Bahnschrift"/>
                <a:cs typeface="Bahnschrift"/>
              </a:rPr>
              <a:t>GOVERNANCE</a:t>
            </a:r>
          </a:p>
        </p:txBody>
      </p:sp>
      <p:sp>
        <p:nvSpPr>
          <p:cNvPr id="19" name="text-301">
            <a:extLst xmlns:a="http://schemas.openxmlformats.org/drawingml/2006/main">
              <a:ext uri="{FF2B5EF4-FFF2-40B4-BE49-F238E27FC236}">
                <a16:creationId xmlns:a16="http://schemas.microsoft.com/office/drawing/2014/main" id="{CC6C46A0-4779-473E-AEED-D1AE175B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A6A0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A9A6A0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931489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1ae07ee694071"/>
          <a:stretch xmlns:a="http://schemas.openxmlformats.org/drawingml/2006/main"/>
        </p:blipFill>
        <p:spPr>
          <a:xfrm xmlns:a="http://schemas.openxmlformats.org/drawingml/2006/main">
            <a:off x="10953750" y="256106"/>
            <a:ext cx="552450" cy="535538"/>
          </a:xfrm>
          <a:prstGeom xmlns:a="http://schemas.openxmlformats.org/drawingml/2006/main" prst="rect">
            <a:avLst/>
          </a:prstGeom>
        </p:spPr>
      </p:pic>
      <p:sp>
        <p:nvSpPr>
          <p:cNvPr id="2" name="rect-302">
            <a:extLst xmlns:a="http://schemas.openxmlformats.org/drawingml/2006/main">
              <a:ext uri="{FF2B5EF4-FFF2-40B4-BE49-F238E27FC236}">
                <a16:creationId xmlns:a16="http://schemas.microsoft.com/office/drawing/2014/main" id="{58BD9643-8F7D-4810-81E0-C12F6153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57200"/>
            <a:ext cx="104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03">
            <a:extLst xmlns:a="http://schemas.openxmlformats.org/drawingml/2006/main">
              <a:ext uri="{FF2B5EF4-FFF2-40B4-BE49-F238E27FC236}">
                <a16:creationId xmlns:a16="http://schemas.microsoft.com/office/drawing/2014/main" id="{1DBAB62E-E3A6-41D5-93C4-A7C586F7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RELEASE MODEL</a:t>
            </a:r>
          </a:p>
        </p:txBody>
      </p:sp>
      <p:sp>
        <p:nvSpPr>
          <p:cNvPr id="4" name="text-304">
            <a:extLst xmlns:a="http://schemas.openxmlformats.org/drawingml/2006/main">
              <a:ext uri="{FF2B5EF4-FFF2-40B4-BE49-F238E27FC236}">
                <a16:creationId xmlns:a16="http://schemas.microsoft.com/office/drawing/2014/main" id="{03FCA8A5-E4BD-4A3B-A5A3-E6286AD8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One complete v1, two activation gates</a:t>
            </a:r>
          </a:p>
        </p:txBody>
      </p:sp>
      <p:sp>
        <p:nvSpPr>
          <p:cNvPr id="5" name="line-305">
            <a:extLst xmlns:a="http://schemas.openxmlformats.org/drawingml/2006/main">
              <a:ext uri="{FF2B5EF4-FFF2-40B4-BE49-F238E27FC236}">
                <a16:creationId xmlns:a16="http://schemas.microsoft.com/office/drawing/2014/main" id="{08DF266D-3E42-4CF5-9DA2-5155491B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2420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1414"/>
            </a:solidFill>
            <a:prstDash val="solid"/>
          </a:ln>
        </p:spPr>
      </p:sp>
      <p:sp>
        <p:nvSpPr>
          <p:cNvPr id="6" name="rect-306">
            <a:extLst xmlns:a="http://schemas.openxmlformats.org/drawingml/2006/main">
              <a:ext uri="{FF2B5EF4-FFF2-40B4-BE49-F238E27FC236}">
                <a16:creationId xmlns:a16="http://schemas.microsoft.com/office/drawing/2014/main" id="{D4B58BE7-50A5-418D-BFFB-D897D663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2762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307">
            <a:extLst xmlns:a="http://schemas.openxmlformats.org/drawingml/2006/main">
              <a:ext uri="{FF2B5EF4-FFF2-40B4-BE49-F238E27FC236}">
                <a16:creationId xmlns:a16="http://schemas.microsoft.com/office/drawing/2014/main" id="{FDD2D646-3731-46DF-9B8D-68D6A6B7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7655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</a:t>
            </a:r>
          </a:p>
        </p:txBody>
      </p:sp>
      <p:sp>
        <p:nvSpPr>
          <p:cNvPr id="8" name="text-308">
            <a:extLst xmlns:a="http://schemas.openxmlformats.org/drawingml/2006/main">
              <a:ext uri="{FF2B5EF4-FFF2-40B4-BE49-F238E27FC236}">
                <a16:creationId xmlns:a16="http://schemas.microsoft.com/office/drawing/2014/main" id="{04B1DDD2-8C1D-4B8F-8D07-D85E3FB0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D2C ACTIVATION</a:t>
            </a:r>
          </a:p>
        </p:txBody>
      </p:sp>
      <p:sp>
        <p:nvSpPr>
          <p:cNvPr id="9" name="text-309">
            <a:extLst xmlns:a="http://schemas.openxmlformats.org/drawingml/2006/main">
              <a:ext uri="{FF2B5EF4-FFF2-40B4-BE49-F238E27FC236}">
                <a16:creationId xmlns:a16="http://schemas.microsoft.com/office/drawing/2014/main" id="{B0CBB7AC-4391-41FD-BD65-9863B5E1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623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Commerce · proof · operations</a:t>
            </a:r>
          </a:p>
          <a:p xmlns:a="http://schemas.openxmlformats.org/drawingml/2006/main">
            <a:pPr algn="ctr">
              <a:defRPr sz="157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payments · shipping · support</a:t>
            </a:r>
          </a:p>
        </p:txBody>
      </p:sp>
      <p:sp>
        <p:nvSpPr>
          <p:cNvPr id="10" name="rect-310">
            <a:extLst xmlns:a="http://schemas.openxmlformats.org/drawingml/2006/main">
              <a:ext uri="{FF2B5EF4-FFF2-40B4-BE49-F238E27FC236}">
                <a16:creationId xmlns:a16="http://schemas.microsoft.com/office/drawing/2014/main" id="{7C80DA24-534B-4358-818D-8736AF42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5875" y="2762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311">
            <a:extLst xmlns:a="http://schemas.openxmlformats.org/drawingml/2006/main">
              <a:ext uri="{FF2B5EF4-FFF2-40B4-BE49-F238E27FC236}">
                <a16:creationId xmlns:a16="http://schemas.microsoft.com/office/drawing/2014/main" id="{CE6DB8C6-3AEB-44E1-BFCE-213B5EC4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7655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</a:t>
            </a:r>
          </a:p>
        </p:txBody>
      </p:sp>
      <p:sp>
        <p:nvSpPr>
          <p:cNvPr id="12" name="text-312">
            <a:extLst xmlns:a="http://schemas.openxmlformats.org/drawingml/2006/main">
              <a:ext uri="{FF2B5EF4-FFF2-40B4-BE49-F238E27FC236}">
                <a16:creationId xmlns:a16="http://schemas.microsoft.com/office/drawing/2014/main" id="{3C5EFD81-73DA-4D4E-B7B1-830D8BED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V1 COMPLETE</a:t>
            </a:r>
          </a:p>
        </p:txBody>
      </p:sp>
      <p:sp>
        <p:nvSpPr>
          <p:cNvPr id="13" name="text-313">
            <a:extLst xmlns:a="http://schemas.openxmlformats.org/drawingml/2006/main">
              <a:ext uri="{FF2B5EF4-FFF2-40B4-BE49-F238E27FC236}">
                <a16:creationId xmlns:a16="http://schemas.microsoft.com/office/drawing/2014/main" id="{4006C1A2-1277-43D8-85A1-B8568C50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62375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Amazon orders · inventory</a:t>
            </a:r>
          </a:p>
          <a:p xmlns:a="http://schemas.openxmlformats.org/drawingml/2006/main">
            <a:pPr algn="ctr">
              <a:defRPr sz="157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FBA + seller fulfilment · fees</a:t>
            </a:r>
          </a:p>
        </p:txBody>
      </p:sp>
      <p:sp>
        <p:nvSpPr>
          <p:cNvPr id="14" name="text-314">
            <a:extLst xmlns:a="http://schemas.openxmlformats.org/drawingml/2006/main">
              <a:ext uri="{FF2B5EF4-FFF2-40B4-BE49-F238E27FC236}">
                <a16:creationId xmlns:a16="http://schemas.microsoft.com/office/drawing/2014/main" id="{A32DD2C7-41FE-474F-A573-3C4C96AC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003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B0F1A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6B0F1A"/>
                </a:solidFill>
                <a:latin typeface="Bahnschrift"/>
                <a:ea typeface="Bahnschrift"/>
                <a:cs typeface="Bahnschrift"/>
              </a:rPr>
              <a:t>PUBLIC SITE MAY LAUNCH</a:t>
            </a:r>
          </a:p>
        </p:txBody>
      </p:sp>
      <p:sp>
        <p:nvSpPr>
          <p:cNvPr id="15" name="text-315">
            <a:extLst xmlns:a="http://schemas.openxmlformats.org/drawingml/2006/main">
              <a:ext uri="{FF2B5EF4-FFF2-40B4-BE49-F238E27FC236}">
                <a16:creationId xmlns:a16="http://schemas.microsoft.com/office/drawing/2014/main" id="{814E66AC-0854-4FB6-A31C-B16D8267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14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80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000080"/>
                </a:solidFill>
                <a:latin typeface="Bahnschrift"/>
                <a:ea typeface="Bahnschrift"/>
                <a:cs typeface="Bahnschrift"/>
              </a:rPr>
              <a:t>AMAZON ACTIVATES AFTER ACCEPTANCE</a:t>
            </a:r>
          </a:p>
        </p:txBody>
      </p:sp>
      <p:sp>
        <p:nvSpPr>
          <p:cNvPr id="16" name="rect-316">
            <a:extLst xmlns:a="http://schemas.openxmlformats.org/drawingml/2006/main">
              <a:ext uri="{FF2B5EF4-FFF2-40B4-BE49-F238E27FC236}">
                <a16:creationId xmlns:a16="http://schemas.microsoft.com/office/drawing/2014/main" id="{E447DF2B-AAC9-46D3-BC46-56189F24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1625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7" name="text-317">
            <a:extLst xmlns:a="http://schemas.openxmlformats.org/drawingml/2006/main">
              <a:ext uri="{FF2B5EF4-FFF2-40B4-BE49-F238E27FC236}">
                <a16:creationId xmlns:a16="http://schemas.microsoft.com/office/drawing/2014/main" id="{CC9C8DA2-6A28-4E42-AA42-B4E23B91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0F1A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6B0F1A"/>
                </a:solidFill>
                <a:latin typeface="Bahnschrift"/>
                <a:ea typeface="Bahnschrift"/>
                <a:cs typeface="Bahnschrift"/>
              </a:rPr>
              <a:t>KEY PRINCIPLE</a:t>
            </a:r>
          </a:p>
        </p:txBody>
      </p:sp>
      <p:sp>
        <p:nvSpPr>
          <p:cNvPr id="18" name="text-318">
            <a:extLst xmlns:a="http://schemas.openxmlformats.org/drawingml/2006/main">
              <a:ext uri="{FF2B5EF4-FFF2-40B4-BE49-F238E27FC236}">
                <a16:creationId xmlns:a16="http://schemas.microsoft.com/office/drawing/2014/main" id="{26A18AE4-822C-48C3-9BFA-3221AB16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340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Amazon credential readiness never blocks a safe owned-channel launch.</a:t>
            </a:r>
          </a:p>
        </p:txBody>
      </p:sp>
      <p:sp>
        <p:nvSpPr>
          <p:cNvPr id="19" name="line-319">
            <a:extLst xmlns:a="http://schemas.openxmlformats.org/drawingml/2006/main">
              <a:ext uri="{FF2B5EF4-FFF2-40B4-BE49-F238E27FC236}">
                <a16:creationId xmlns:a16="http://schemas.microsoft.com/office/drawing/2014/main" id="{B1FFDA86-B4C3-4AA5-83ED-85BEE1B2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0" name="text-320">
            <a:extLst xmlns:a="http://schemas.openxmlformats.org/drawingml/2006/main">
              <a:ext uri="{FF2B5EF4-FFF2-40B4-BE49-F238E27FC236}">
                <a16:creationId xmlns:a16="http://schemas.microsoft.com/office/drawing/2014/main" id="{E4C45D28-9D51-4C0C-B3AF-A23B1110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RELEASE MODEL</a:t>
            </a:r>
          </a:p>
        </p:txBody>
      </p:sp>
      <p:sp>
        <p:nvSpPr>
          <p:cNvPr id="21" name="text-321">
            <a:extLst xmlns:a="http://schemas.openxmlformats.org/drawingml/2006/main">
              <a:ext uri="{FF2B5EF4-FFF2-40B4-BE49-F238E27FC236}">
                <a16:creationId xmlns:a16="http://schemas.microsoft.com/office/drawing/2014/main" id="{06D43E4E-65F4-433C-893F-4D9C493D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522585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BF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12ba34fea43bf"/>
          <a:stretch xmlns:a="http://schemas.openxmlformats.org/drawingml/2006/main"/>
        </p:blipFill>
        <p:spPr>
          <a:xfrm xmlns:a="http://schemas.openxmlformats.org/drawingml/2006/main">
            <a:off x="10953750" y="256106"/>
            <a:ext cx="552450" cy="535538"/>
          </a:xfrm>
          <a:prstGeom xmlns:a="http://schemas.openxmlformats.org/drawingml/2006/main" prst="rect">
            <a:avLst/>
          </a:prstGeom>
        </p:spPr>
      </p:pic>
      <p:sp>
        <p:nvSpPr>
          <p:cNvPr id="2" name="rect-322">
            <a:extLst xmlns:a="http://schemas.openxmlformats.org/drawingml/2006/main">
              <a:ext uri="{FF2B5EF4-FFF2-40B4-BE49-F238E27FC236}">
                <a16:creationId xmlns:a16="http://schemas.microsoft.com/office/drawing/2014/main" id="{629E465B-4DE7-4AE4-B142-2E31C2B0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57200"/>
            <a:ext cx="104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23">
            <a:extLst xmlns:a="http://schemas.openxmlformats.org/drawingml/2006/main">
              <a:ext uri="{FF2B5EF4-FFF2-40B4-BE49-F238E27FC236}">
                <a16:creationId xmlns:a16="http://schemas.microsoft.com/office/drawing/2014/main" id="{0FAE7161-F485-4E7B-8F6B-F754E778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CEO ACTION</a:t>
            </a:r>
          </a:p>
        </p:txBody>
      </p:sp>
      <p:sp>
        <p:nvSpPr>
          <p:cNvPr id="4" name="text-324">
            <a:extLst xmlns:a="http://schemas.openxmlformats.org/drawingml/2006/main">
              <a:ext uri="{FF2B5EF4-FFF2-40B4-BE49-F238E27FC236}">
                <a16:creationId xmlns:a16="http://schemas.microsoft.com/office/drawing/2014/main" id="{CB2FF228-9B0B-4A0D-A71D-9B2DFE04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Approve the model. Assign the owners.</a:t>
            </a:r>
          </a:p>
        </p:txBody>
      </p:sp>
      <p:sp>
        <p:nvSpPr>
          <p:cNvPr id="5" name="text-325">
            <a:extLst xmlns:a="http://schemas.openxmlformats.org/drawingml/2006/main">
              <a:ext uri="{FF2B5EF4-FFF2-40B4-BE49-F238E27FC236}">
                <a16:creationId xmlns:a16="http://schemas.microsoft.com/office/drawing/2014/main" id="{1E091C52-696B-4499-978E-1AA1D414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Direction locked.</a:t>
            </a:r>
          </a:p>
          <a:p xmlns:a="http://schemas.openxmlformats.org/drawingml/2006/main">
            <a:pPr algn="l">
              <a:defRPr sz="28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28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Execution depends on six owners.</a:t>
            </a:r>
          </a:p>
        </p:txBody>
      </p:sp>
      <p:sp>
        <p:nvSpPr>
          <p:cNvPr id="6" name="text-326">
            <a:extLst xmlns:a="http://schemas.openxmlformats.org/drawingml/2006/main">
              <a:ext uri="{FF2B5EF4-FFF2-40B4-BE49-F238E27FC236}">
                <a16:creationId xmlns:a16="http://schemas.microsoft.com/office/drawing/2014/main" id="{41DD3500-18B0-4485-AEA5-D23BF6AC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7" name="text-327">
            <a:extLst xmlns:a="http://schemas.openxmlformats.org/drawingml/2006/main">
              <a:ext uri="{FF2B5EF4-FFF2-40B4-BE49-F238E27FC236}">
                <a16:creationId xmlns:a16="http://schemas.microsoft.com/office/drawing/2014/main" id="{A670D727-1F0D-4581-8C9A-D38E7D42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PRODUCT</a:t>
            </a:r>
          </a:p>
        </p:txBody>
      </p:sp>
      <p:sp>
        <p:nvSpPr>
          <p:cNvPr id="8" name="text-328">
            <a:extLst xmlns:a="http://schemas.openxmlformats.org/drawingml/2006/main">
              <a:ext uri="{FF2B5EF4-FFF2-40B4-BE49-F238E27FC236}">
                <a16:creationId xmlns:a16="http://schemas.microsoft.com/office/drawing/2014/main" id="{CE85AD17-F155-4513-9BF7-C6A1C592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Launch SKUs + signed product master</a:t>
            </a:r>
          </a:p>
        </p:txBody>
      </p:sp>
      <p:sp>
        <p:nvSpPr>
          <p:cNvPr id="9" name="text-329">
            <a:extLst xmlns:a="http://schemas.openxmlformats.org/drawingml/2006/main">
              <a:ext uri="{FF2B5EF4-FFF2-40B4-BE49-F238E27FC236}">
                <a16:creationId xmlns:a16="http://schemas.microsoft.com/office/drawing/2014/main" id="{B9ECBBC4-1B34-4219-A70A-D050976D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43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0" name="text-330">
            <a:extLst xmlns:a="http://schemas.openxmlformats.org/drawingml/2006/main">
              <a:ext uri="{FF2B5EF4-FFF2-40B4-BE49-F238E27FC236}">
                <a16:creationId xmlns:a16="http://schemas.microsoft.com/office/drawing/2014/main" id="{772AF351-6532-40C8-9FB8-6D08AEAE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COMPLIANCE</a:t>
            </a:r>
          </a:p>
        </p:txBody>
      </p:sp>
      <p:sp>
        <p:nvSpPr>
          <p:cNvPr id="11" name="text-331">
            <a:extLst xmlns:a="http://schemas.openxmlformats.org/drawingml/2006/main">
              <a:ext uri="{FF2B5EF4-FFF2-40B4-BE49-F238E27FC236}">
                <a16:creationId xmlns:a16="http://schemas.microsoft.com/office/drawing/2014/main" id="{64353A7D-67AC-401B-81D6-9E2ACDDA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671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Claims + labels + public proof</a:t>
            </a:r>
          </a:p>
        </p:txBody>
      </p:sp>
      <p:sp>
        <p:nvSpPr>
          <p:cNvPr id="12" name="text-332">
            <a:extLst xmlns:a="http://schemas.openxmlformats.org/drawingml/2006/main">
              <a:ext uri="{FF2B5EF4-FFF2-40B4-BE49-F238E27FC236}">
                <a16:creationId xmlns:a16="http://schemas.microsoft.com/office/drawing/2014/main" id="{0541E64D-7EC4-449E-83D1-D867BFAC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3" name="text-333">
            <a:extLst xmlns:a="http://schemas.openxmlformats.org/drawingml/2006/main">
              <a:ext uri="{FF2B5EF4-FFF2-40B4-BE49-F238E27FC236}">
                <a16:creationId xmlns:a16="http://schemas.microsoft.com/office/drawing/2014/main" id="{8390E4C7-AFBB-4A6B-B929-5E29304E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9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FINANCE</a:t>
            </a:r>
          </a:p>
        </p:txBody>
      </p:sp>
      <p:sp>
        <p:nvSpPr>
          <p:cNvPr id="14" name="text-334">
            <a:extLst xmlns:a="http://schemas.openxmlformats.org/drawingml/2006/main">
              <a:ext uri="{FF2B5EF4-FFF2-40B4-BE49-F238E27FC236}">
                <a16:creationId xmlns:a16="http://schemas.microsoft.com/office/drawing/2014/main" id="{E6B4F09E-3EC1-4948-BFA7-AC649B8D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434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Price + COGS + contribution inputs</a:t>
            </a:r>
          </a:p>
        </p:txBody>
      </p:sp>
      <p:sp>
        <p:nvSpPr>
          <p:cNvPr id="15" name="text-335">
            <a:extLst xmlns:a="http://schemas.openxmlformats.org/drawingml/2006/main">
              <a:ext uri="{FF2B5EF4-FFF2-40B4-BE49-F238E27FC236}">
                <a16:creationId xmlns:a16="http://schemas.microsoft.com/office/drawing/2014/main" id="{192B3C7E-D790-432C-B9F0-302EC33B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195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6" name="text-336">
            <a:extLst xmlns:a="http://schemas.openxmlformats.org/drawingml/2006/main">
              <a:ext uri="{FF2B5EF4-FFF2-40B4-BE49-F238E27FC236}">
                <a16:creationId xmlns:a16="http://schemas.microsoft.com/office/drawing/2014/main" id="{65542AFD-531C-4A37-8E77-6D3DD02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SERVICE</a:t>
            </a:r>
          </a:p>
        </p:txBody>
      </p:sp>
      <p:sp>
        <p:nvSpPr>
          <p:cNvPr id="17" name="text-337">
            <a:extLst xmlns:a="http://schemas.openxmlformats.org/drawingml/2006/main">
              <a:ext uri="{FF2B5EF4-FFF2-40B4-BE49-F238E27FC236}">
                <a16:creationId xmlns:a16="http://schemas.microsoft.com/office/drawing/2014/main" id="{E610AA5F-AE87-4599-9E6D-47CC0DC3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434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SLA + returns + safety escalation</a:t>
            </a:r>
          </a:p>
        </p:txBody>
      </p:sp>
      <p:sp>
        <p:nvSpPr>
          <p:cNvPr id="18" name="text-338">
            <a:extLst xmlns:a="http://schemas.openxmlformats.org/drawingml/2006/main">
              <a:ext uri="{FF2B5EF4-FFF2-40B4-BE49-F238E27FC236}">
                <a16:creationId xmlns:a16="http://schemas.microsoft.com/office/drawing/2014/main" id="{D6FA267B-28CA-4537-A3E3-019D7830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19" name="text-339">
            <a:extLst xmlns:a="http://schemas.openxmlformats.org/drawingml/2006/main">
              <a:ext uri="{FF2B5EF4-FFF2-40B4-BE49-F238E27FC236}">
                <a16:creationId xmlns:a16="http://schemas.microsoft.com/office/drawing/2014/main" id="{6F64E5FC-45DB-4816-AB8D-60BF869A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95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LOGISTICS</a:t>
            </a:r>
          </a:p>
        </p:txBody>
      </p:sp>
      <p:sp>
        <p:nvSpPr>
          <p:cNvPr id="20" name="text-340">
            <a:extLst xmlns:a="http://schemas.openxmlformats.org/drawingml/2006/main">
              <a:ext uri="{FF2B5EF4-FFF2-40B4-BE49-F238E27FC236}">
                <a16:creationId xmlns:a16="http://schemas.microsoft.com/office/drawing/2014/main" id="{3F40623D-6129-4C71-A41F-A32C2FB1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197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Two vendors + contracted terms</a:t>
            </a:r>
          </a:p>
        </p:txBody>
      </p:sp>
      <p:sp>
        <p:nvSpPr>
          <p:cNvPr id="21" name="text-341">
            <a:extLst xmlns:a="http://schemas.openxmlformats.org/drawingml/2006/main">
              <a:ext uri="{FF2B5EF4-FFF2-40B4-BE49-F238E27FC236}">
                <a16:creationId xmlns:a16="http://schemas.microsoft.com/office/drawing/2014/main" id="{520A8EA0-7535-46FE-AC22-8A481434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95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22" name="text-342">
            <a:extLst xmlns:a="http://schemas.openxmlformats.org/drawingml/2006/main">
              <a:ext uri="{FF2B5EF4-FFF2-40B4-BE49-F238E27FC236}">
                <a16:creationId xmlns:a16="http://schemas.microsoft.com/office/drawing/2014/main" id="{DF1D0F16-748A-4FDF-90CB-6AF4441F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95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COMMUNICATION</a:t>
            </a:r>
          </a:p>
        </p:txBody>
      </p:sp>
      <p:sp>
        <p:nvSpPr>
          <p:cNvPr id="23" name="text-343">
            <a:extLst xmlns:a="http://schemas.openxmlformats.org/drawingml/2006/main">
              <a:ext uri="{FF2B5EF4-FFF2-40B4-BE49-F238E27FC236}">
                <a16:creationId xmlns:a16="http://schemas.microsoft.com/office/drawing/2014/main" id="{BBAFB842-444B-4408-AE61-7E4712DB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1414"/>
                </a:solidFill>
                <a:latin typeface="Arial"/>
                <a:ea typeface="Arial"/>
                <a:cs typeface="Arial"/>
              </a:rPr>
              <a:t>Email + WhatsApp + privacy contacts</a:t>
            </a:r>
          </a:p>
        </p:txBody>
      </p:sp>
      <p:sp>
        <p:nvSpPr>
          <p:cNvPr id="24" name="rect-344">
            <a:extLst xmlns:a="http://schemas.openxmlformats.org/drawingml/2006/main">
              <a:ext uri="{FF2B5EF4-FFF2-40B4-BE49-F238E27FC236}">
                <a16:creationId xmlns:a16="http://schemas.microsoft.com/office/drawing/2014/main" id="{6E1D32B9-3C58-4F33-B663-A689ED0F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867400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345">
            <a:extLst xmlns:a="http://schemas.openxmlformats.org/drawingml/2006/main">
              <a:ext uri="{FF2B5EF4-FFF2-40B4-BE49-F238E27FC236}">
                <a16:creationId xmlns:a16="http://schemas.microsoft.com/office/drawing/2014/main" id="{CDDFBB8D-FFFE-44DD-A215-962CCB7F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APPROVE MODEL  ·  ASSIGN OWNERS  ·  UNLOCK DESIGN REQUIREMENTS</a:t>
            </a:r>
          </a:p>
        </p:txBody>
      </p:sp>
      <p:sp>
        <p:nvSpPr>
          <p:cNvPr id="26" name="line-346">
            <a:extLst xmlns:a="http://schemas.openxmlformats.org/drawingml/2006/main">
              <a:ext uri="{FF2B5EF4-FFF2-40B4-BE49-F238E27FC236}">
                <a16:creationId xmlns:a16="http://schemas.microsoft.com/office/drawing/2014/main" id="{CCF70BB8-E663-4D9E-81F2-44DE0557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7" name="text-347">
            <a:extLst xmlns:a="http://schemas.openxmlformats.org/drawingml/2006/main">
              <a:ext uri="{FF2B5EF4-FFF2-40B4-BE49-F238E27FC236}">
                <a16:creationId xmlns:a16="http://schemas.microsoft.com/office/drawing/2014/main" id="{87AF51A7-C039-4089-9CBF-23CE1EB6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CEO ACTION</a:t>
            </a:r>
          </a:p>
        </p:txBody>
      </p:sp>
      <p:sp>
        <p:nvSpPr>
          <p:cNvPr id="28" name="text-348">
            <a:extLst xmlns:a="http://schemas.openxmlformats.org/drawingml/2006/main">
              <a:ext uri="{FF2B5EF4-FFF2-40B4-BE49-F238E27FC236}">
                <a16:creationId xmlns:a16="http://schemas.microsoft.com/office/drawing/2014/main" id="{D92638B6-0BB2-4E79-AF3F-542AE23B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50893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e9bcb8c854db7"/>
          <a:stretch xmlns:a="http://schemas.openxmlformats.org/drawingml/2006/main"/>
        </p:blipFill>
        <p:spPr>
          <a:xfrm xmlns:a="http://schemas.openxmlformats.org/drawingml/2006/main">
            <a:off x="11049000" y="235598"/>
            <a:ext cx="457200" cy="443204"/>
          </a:xfrm>
          <a:prstGeom xmlns:a="http://schemas.openxmlformats.org/drawingml/2006/main" prst="rect">
            <a:avLst/>
          </a:prstGeom>
        </p:spPr>
      </p:pic>
      <p:sp>
        <p:nvSpPr>
          <p:cNvPr id="2" name="text-349">
            <a:extLst xmlns:a="http://schemas.openxmlformats.org/drawingml/2006/main">
              <a:ext uri="{FF2B5EF4-FFF2-40B4-BE49-F238E27FC236}">
                <a16:creationId xmlns:a16="http://schemas.microsoft.com/office/drawing/2014/main" id="{EB45B2C0-3CDD-40F8-AF16-5AD8A15F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RECORD</a:t>
            </a:r>
          </a:p>
        </p:txBody>
      </p:sp>
      <p:sp>
        <p:nvSpPr>
          <p:cNvPr id="3" name="text-350">
            <a:extLst xmlns:a="http://schemas.openxmlformats.org/drawingml/2006/main">
              <a:ext uri="{FF2B5EF4-FFF2-40B4-BE49-F238E27FC236}">
                <a16:creationId xmlns:a16="http://schemas.microsoft.com/office/drawing/2014/main" id="{A90D1D08-7CAE-4CDA-9A93-F8670B8F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Audience &amp; positioning</a:t>
            </a:r>
          </a:p>
        </p:txBody>
      </p:sp>
      <p:sp>
        <p:nvSpPr>
          <p:cNvPr id="4" name="rect-351">
            <a:extLst xmlns:a="http://schemas.openxmlformats.org/drawingml/2006/main">
              <a:ext uri="{FF2B5EF4-FFF2-40B4-BE49-F238E27FC236}">
                <a16:creationId xmlns:a16="http://schemas.microsoft.com/office/drawing/2014/main" id="{E4BF3F3B-5A6A-455B-9EAC-5D787B3F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304925"/>
            <a:ext cx="1085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52">
            <a:extLst xmlns:a="http://schemas.openxmlformats.org/drawingml/2006/main">
              <a:ext uri="{FF2B5EF4-FFF2-40B4-BE49-F238E27FC236}">
                <a16:creationId xmlns:a16="http://schemas.microsoft.com/office/drawing/2014/main" id="{40EE6113-DA3F-4696-9EE3-020E70B6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</a:t>
            </a:r>
          </a:p>
        </p:txBody>
      </p:sp>
      <p:sp>
        <p:nvSpPr>
          <p:cNvPr id="6" name="text-353">
            <a:extLst xmlns:a="http://schemas.openxmlformats.org/drawingml/2006/main">
              <a:ext uri="{FF2B5EF4-FFF2-40B4-BE49-F238E27FC236}">
                <a16:creationId xmlns:a16="http://schemas.microsoft.com/office/drawing/2014/main" id="{0AEBE685-5891-4C88-9679-340959C5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57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rPr>
              <a:t>CHOSEN</a:t>
            </a:r>
          </a:p>
        </p:txBody>
      </p:sp>
      <p:sp>
        <p:nvSpPr>
          <p:cNvPr id="7" name="text-354">
            <a:extLst xmlns:a="http://schemas.openxmlformats.org/drawingml/2006/main">
              <a:ext uri="{FF2B5EF4-FFF2-40B4-BE49-F238E27FC236}">
                <a16:creationId xmlns:a16="http://schemas.microsoft.com/office/drawing/2014/main" id="{6F4CCB79-D37C-476D-98E7-BCA11081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573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ALTERNATIVES NOT SELECTED</a:t>
            </a:r>
          </a:p>
        </p:txBody>
      </p:sp>
      <p:sp>
        <p:nvSpPr>
          <p:cNvPr id="8" name="line-355">
            <a:extLst xmlns:a="http://schemas.openxmlformats.org/drawingml/2006/main">
              <a:ext uri="{FF2B5EF4-FFF2-40B4-BE49-F238E27FC236}">
                <a16:creationId xmlns:a16="http://schemas.microsoft.com/office/drawing/2014/main" id="{5DB07A2F-74B1-4653-AE43-EFE797AA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9" name="text-356">
            <a:extLst xmlns:a="http://schemas.openxmlformats.org/drawingml/2006/main">
              <a:ext uri="{FF2B5EF4-FFF2-40B4-BE49-F238E27FC236}">
                <a16:creationId xmlns:a16="http://schemas.microsoft.com/office/drawing/2014/main" id="{0D212EEC-105C-4DAA-94FC-06CA6BAB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APPENDIX</a:t>
            </a:r>
          </a:p>
        </p:txBody>
      </p:sp>
      <p:sp>
        <p:nvSpPr>
          <p:cNvPr id="10" name="text-357">
            <a:extLst xmlns:a="http://schemas.openxmlformats.org/drawingml/2006/main">
              <a:ext uri="{FF2B5EF4-FFF2-40B4-BE49-F238E27FC236}">
                <a16:creationId xmlns:a16="http://schemas.microsoft.com/office/drawing/2014/main" id="{73376F6A-92A2-44F0-8391-90F8CF19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15</a:t>
            </a:r>
          </a:p>
        </p:txBody>
      </p:sp>
      <p:sp>
        <p:nvSpPr>
          <p:cNvPr id="11" name="text-358">
            <a:extLst xmlns:a="http://schemas.openxmlformats.org/drawingml/2006/main">
              <a:ext uri="{FF2B5EF4-FFF2-40B4-BE49-F238E27FC236}">
                <a16:creationId xmlns:a16="http://schemas.microsoft.com/office/drawing/2014/main" id="{FE87C2F2-34AE-44AB-82A1-306974D1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Primary audience</a:t>
            </a:r>
          </a:p>
        </p:txBody>
      </p:sp>
      <p:sp>
        <p:nvSpPr>
          <p:cNvPr id="12" name="rect-359">
            <a:extLst xmlns:a="http://schemas.openxmlformats.org/drawingml/2006/main">
              <a:ext uri="{FF2B5EF4-FFF2-40B4-BE49-F238E27FC236}">
                <a16:creationId xmlns:a16="http://schemas.microsoft.com/office/drawing/2014/main" id="{56525A67-BC48-45B7-A161-7AA4D7C8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185737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360">
            <a:extLst xmlns:a="http://schemas.openxmlformats.org/drawingml/2006/main">
              <a:ext uri="{FF2B5EF4-FFF2-40B4-BE49-F238E27FC236}">
                <a16:creationId xmlns:a16="http://schemas.microsoft.com/office/drawing/2014/main" id="{AE073112-7AF1-41BD-A5E6-65E04D94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Skeptical Indian shoppers, 18–35</a:t>
            </a:r>
          </a:p>
        </p:txBody>
      </p:sp>
      <p:sp>
        <p:nvSpPr>
          <p:cNvPr id="14" name="text-361">
            <a:extLst xmlns:a="http://schemas.openxmlformats.org/drawingml/2006/main">
              <a:ext uri="{FF2B5EF4-FFF2-40B4-BE49-F238E27FC236}">
                <a16:creationId xmlns:a16="http://schemas.microsoft.com/office/drawing/2014/main" id="{FBE20CF8-AF1C-43F9-A48A-C6D78C1B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Fitness buyers  ·  Women-first wellness</a:t>
            </a:r>
          </a:p>
        </p:txBody>
      </p:sp>
      <p:sp>
        <p:nvSpPr>
          <p:cNvPr id="15" name="line-362">
            <a:extLst xmlns:a="http://schemas.openxmlformats.org/drawingml/2006/main">
              <a:ext uri="{FF2B5EF4-FFF2-40B4-BE49-F238E27FC236}">
                <a16:creationId xmlns:a16="http://schemas.microsoft.com/office/drawing/2014/main" id="{4C771506-4609-442A-9603-A105B5D4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794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6" name="text-363">
            <a:extLst xmlns:a="http://schemas.openxmlformats.org/drawingml/2006/main">
              <a:ext uri="{FF2B5EF4-FFF2-40B4-BE49-F238E27FC236}">
                <a16:creationId xmlns:a16="http://schemas.microsoft.com/office/drawing/2014/main" id="{4D35A2AB-20C5-4448-99DE-CEF8327D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224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Primary job</a:t>
            </a:r>
          </a:p>
        </p:txBody>
      </p:sp>
      <p:sp>
        <p:nvSpPr>
          <p:cNvPr id="17" name="rect-364">
            <a:extLst xmlns:a="http://schemas.openxmlformats.org/drawingml/2006/main">
              <a:ext uri="{FF2B5EF4-FFF2-40B4-BE49-F238E27FC236}">
                <a16:creationId xmlns:a16="http://schemas.microsoft.com/office/drawing/2014/main" id="{EC4CF1D2-11D6-4527-8F09-9FA5E380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276034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365">
            <a:extLst xmlns:a="http://schemas.openxmlformats.org/drawingml/2006/main">
              <a:ext uri="{FF2B5EF4-FFF2-40B4-BE49-F238E27FC236}">
                <a16:creationId xmlns:a16="http://schemas.microsoft.com/office/drawing/2014/main" id="{F7758CF8-0B9C-4490-BDCD-5756296C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1272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Confident first purchase</a:t>
            </a:r>
          </a:p>
        </p:txBody>
      </p:sp>
      <p:sp>
        <p:nvSpPr>
          <p:cNvPr id="19" name="text-366">
            <a:extLst xmlns:a="http://schemas.openxmlformats.org/drawingml/2006/main">
              <a:ext uri="{FF2B5EF4-FFF2-40B4-BE49-F238E27FC236}">
                <a16:creationId xmlns:a16="http://schemas.microsoft.com/office/drawing/2014/main" id="{E723F811-508B-4B7F-A170-C5DFE4A5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272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Explore proof first  ·  Build a customer list</a:t>
            </a:r>
          </a:p>
        </p:txBody>
      </p:sp>
      <p:sp>
        <p:nvSpPr>
          <p:cNvPr id="20" name="line-367">
            <a:extLst xmlns:a="http://schemas.openxmlformats.org/drawingml/2006/main">
              <a:ext uri="{FF2B5EF4-FFF2-40B4-BE49-F238E27FC236}">
                <a16:creationId xmlns:a16="http://schemas.microsoft.com/office/drawing/2014/main" id="{D3FD7D7C-6887-4C31-B4A7-555F1D40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091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1" name="text-368">
            <a:extLst xmlns:a="http://schemas.openxmlformats.org/drawingml/2006/main">
              <a:ext uri="{FF2B5EF4-FFF2-40B4-BE49-F238E27FC236}">
                <a16:creationId xmlns:a16="http://schemas.microsoft.com/office/drawing/2014/main" id="{EBC8C0D8-022F-4473-82A5-C327FAA4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521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Experience tone</a:t>
            </a:r>
          </a:p>
        </p:txBody>
      </p:sp>
      <p:sp>
        <p:nvSpPr>
          <p:cNvPr id="22" name="rect-369">
            <a:extLst xmlns:a="http://schemas.openxmlformats.org/drawingml/2006/main">
              <a:ext uri="{FF2B5EF4-FFF2-40B4-BE49-F238E27FC236}">
                <a16:creationId xmlns:a16="http://schemas.microsoft.com/office/drawing/2014/main" id="{7684B550-818F-4CA9-A41E-1CC67C85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66331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370">
            <a:extLst xmlns:a="http://schemas.openxmlformats.org/drawingml/2006/main">
              <a:ext uri="{FF2B5EF4-FFF2-40B4-BE49-F238E27FC236}">
                <a16:creationId xmlns:a16="http://schemas.microsoft.com/office/drawing/2014/main" id="{B4FC74FD-7741-47AA-8B16-2387DA01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569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Playful, evidence-led</a:t>
            </a:r>
          </a:p>
        </p:txBody>
      </p:sp>
      <p:sp>
        <p:nvSpPr>
          <p:cNvPr id="24" name="text-371">
            <a:extLst xmlns:a="http://schemas.openxmlformats.org/drawingml/2006/main">
              <a:ext uri="{FF2B5EF4-FFF2-40B4-BE49-F238E27FC236}">
                <a16:creationId xmlns:a16="http://schemas.microsoft.com/office/drawing/2014/main" id="{A27D865A-E309-404F-BD04-F861A29A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569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Premium scientific  ·  Bold performance</a:t>
            </a:r>
          </a:p>
        </p:txBody>
      </p:sp>
      <p:sp>
        <p:nvSpPr>
          <p:cNvPr id="25" name="line-372">
            <a:extLst xmlns:a="http://schemas.openxmlformats.org/drawingml/2006/main">
              <a:ext uri="{FF2B5EF4-FFF2-40B4-BE49-F238E27FC236}">
                <a16:creationId xmlns:a16="http://schemas.microsoft.com/office/drawing/2014/main" id="{EF569DF9-4927-46CF-B207-85F970A4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388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6" name="text-373">
            <a:extLst xmlns:a="http://schemas.openxmlformats.org/drawingml/2006/main">
              <a:ext uri="{FF2B5EF4-FFF2-40B4-BE49-F238E27FC236}">
                <a16:creationId xmlns:a16="http://schemas.microsoft.com/office/drawing/2014/main" id="{8F5B61CA-056E-4D33-99C3-D60CF682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818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Language</a:t>
            </a:r>
          </a:p>
        </p:txBody>
      </p:sp>
      <p:sp>
        <p:nvSpPr>
          <p:cNvPr id="27" name="rect-374">
            <a:extLst xmlns:a="http://schemas.openxmlformats.org/drawingml/2006/main">
              <a:ext uri="{FF2B5EF4-FFF2-40B4-BE49-F238E27FC236}">
                <a16:creationId xmlns:a16="http://schemas.microsoft.com/office/drawing/2014/main" id="{DCFF29B1-82BD-4714-A602-CFCF900E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56628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375">
            <a:extLst xmlns:a="http://schemas.openxmlformats.org/drawingml/2006/main">
              <a:ext uri="{FF2B5EF4-FFF2-40B4-BE49-F238E27FC236}">
                <a16:creationId xmlns:a16="http://schemas.microsoft.com/office/drawing/2014/main" id="{8D3BED47-F4DC-4C18-9762-5D624853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1866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English first; multilingual foundation</a:t>
            </a:r>
          </a:p>
        </p:txBody>
      </p:sp>
      <p:sp>
        <p:nvSpPr>
          <p:cNvPr id="29" name="text-376">
            <a:extLst xmlns:a="http://schemas.openxmlformats.org/drawingml/2006/main">
              <a:ext uri="{FF2B5EF4-FFF2-40B4-BE49-F238E27FC236}">
                <a16:creationId xmlns:a16="http://schemas.microsoft.com/office/drawing/2014/main" id="{3064BDB3-78E2-4B3D-8BE7-A0CB3294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866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Pan-India Hinglish  ·  Gujarat bilingual</a:t>
            </a:r>
          </a:p>
        </p:txBody>
      </p:sp>
      <p:sp>
        <p:nvSpPr>
          <p:cNvPr id="30" name="line-377">
            <a:extLst xmlns:a="http://schemas.openxmlformats.org/drawingml/2006/main">
              <a:ext uri="{FF2B5EF4-FFF2-40B4-BE49-F238E27FC236}">
                <a16:creationId xmlns:a16="http://schemas.microsoft.com/office/drawing/2014/main" id="{E449D4F1-F2A3-4D9D-A465-B361EF28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685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1" name="text-378">
            <a:extLst xmlns:a="http://schemas.openxmlformats.org/drawingml/2006/main">
              <a:ext uri="{FF2B5EF4-FFF2-40B4-BE49-F238E27FC236}">
                <a16:creationId xmlns:a16="http://schemas.microsoft.com/office/drawing/2014/main" id="{334C071A-3593-4F2B-8062-C9DE2C1E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115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Catalogue</a:t>
            </a:r>
          </a:p>
        </p:txBody>
      </p:sp>
      <p:sp>
        <p:nvSpPr>
          <p:cNvPr id="32" name="rect-379">
            <a:extLst xmlns:a="http://schemas.openxmlformats.org/drawingml/2006/main">
              <a:ext uri="{FF2B5EF4-FFF2-40B4-BE49-F238E27FC236}">
                <a16:creationId xmlns:a16="http://schemas.microsoft.com/office/drawing/2014/main" id="{55233130-4589-4377-BAE0-A86CA2F1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546925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380">
            <a:extLst xmlns:a="http://schemas.openxmlformats.org/drawingml/2006/main">
              <a:ext uri="{FF2B5EF4-FFF2-40B4-BE49-F238E27FC236}">
                <a16:creationId xmlns:a16="http://schemas.microsoft.com/office/drawing/2014/main" id="{DE3B7676-8207-4953-BFC7-72F72CAD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2163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Configurable nine-product structure</a:t>
            </a:r>
          </a:p>
        </p:txBody>
      </p:sp>
      <p:sp>
        <p:nvSpPr>
          <p:cNvPr id="34" name="text-381">
            <a:extLst xmlns:a="http://schemas.openxmlformats.org/drawingml/2006/main">
              <a:ext uri="{FF2B5EF4-FFF2-40B4-BE49-F238E27FC236}">
                <a16:creationId xmlns:a16="http://schemas.microsoft.com/office/drawing/2014/main" id="{F8736A85-8706-4C0A-9CB9-30488C37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2163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Lock three first  ·  Publish all nine</a:t>
            </a:r>
          </a:p>
        </p:txBody>
      </p:sp>
    </p:spTree>
    <p:extLst>
      <p:ext uri="{BB962C8B-B14F-4D97-AF65-F5344CB8AC3E}">
        <p14:creationId xmlns:p14="http://schemas.microsoft.com/office/powerpoint/2010/main" val="18906394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8af37fb8f4562"/>
          <a:stretch xmlns:a="http://schemas.openxmlformats.org/drawingml/2006/main"/>
        </p:blipFill>
        <p:spPr>
          <a:xfrm xmlns:a="http://schemas.openxmlformats.org/drawingml/2006/main">
            <a:off x="11049000" y="235598"/>
            <a:ext cx="457200" cy="443204"/>
          </a:xfrm>
          <a:prstGeom xmlns:a="http://schemas.openxmlformats.org/drawingml/2006/main" prst="rect">
            <a:avLst/>
          </a:prstGeom>
        </p:spPr>
      </p:pic>
      <p:sp>
        <p:nvSpPr>
          <p:cNvPr id="2" name="text-382">
            <a:extLst xmlns:a="http://schemas.openxmlformats.org/drawingml/2006/main">
              <a:ext uri="{FF2B5EF4-FFF2-40B4-BE49-F238E27FC236}">
                <a16:creationId xmlns:a16="http://schemas.microsoft.com/office/drawing/2014/main" id="{44864B9F-4D82-4937-93A2-00E25ED4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RECORD</a:t>
            </a:r>
          </a:p>
        </p:txBody>
      </p:sp>
      <p:sp>
        <p:nvSpPr>
          <p:cNvPr id="3" name="text-383">
            <a:extLst xmlns:a="http://schemas.openxmlformats.org/drawingml/2006/main">
              <a:ext uri="{FF2B5EF4-FFF2-40B4-BE49-F238E27FC236}">
                <a16:creationId xmlns:a16="http://schemas.microsoft.com/office/drawing/2014/main" id="{2E4B0167-B08F-4D14-9612-A894761D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Commerce &amp; growth</a:t>
            </a:r>
          </a:p>
        </p:txBody>
      </p:sp>
      <p:sp>
        <p:nvSpPr>
          <p:cNvPr id="4" name="rect-384">
            <a:extLst xmlns:a="http://schemas.openxmlformats.org/drawingml/2006/main">
              <a:ext uri="{FF2B5EF4-FFF2-40B4-BE49-F238E27FC236}">
                <a16:creationId xmlns:a16="http://schemas.microsoft.com/office/drawing/2014/main" id="{ADF06076-B77D-4DD8-8E5B-5BC5AC1D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304925"/>
            <a:ext cx="1085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85">
            <a:extLst xmlns:a="http://schemas.openxmlformats.org/drawingml/2006/main">
              <a:ext uri="{FF2B5EF4-FFF2-40B4-BE49-F238E27FC236}">
                <a16:creationId xmlns:a16="http://schemas.microsoft.com/office/drawing/2014/main" id="{3CEE1E64-0CC6-455E-A712-528490AE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</a:t>
            </a:r>
          </a:p>
        </p:txBody>
      </p:sp>
      <p:sp>
        <p:nvSpPr>
          <p:cNvPr id="6" name="text-386">
            <a:extLst xmlns:a="http://schemas.openxmlformats.org/drawingml/2006/main">
              <a:ext uri="{FF2B5EF4-FFF2-40B4-BE49-F238E27FC236}">
                <a16:creationId xmlns:a16="http://schemas.microsoft.com/office/drawing/2014/main" id="{84C9C8FD-B22E-43D2-87E7-73EBEB16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57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rPr>
              <a:t>CHOSEN</a:t>
            </a:r>
          </a:p>
        </p:txBody>
      </p:sp>
      <p:sp>
        <p:nvSpPr>
          <p:cNvPr id="7" name="text-387">
            <a:extLst xmlns:a="http://schemas.openxmlformats.org/drawingml/2006/main">
              <a:ext uri="{FF2B5EF4-FFF2-40B4-BE49-F238E27FC236}">
                <a16:creationId xmlns:a16="http://schemas.microsoft.com/office/drawing/2014/main" id="{B87A398C-EA3D-4A8C-B96B-95E70440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573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ALTERNATIVES NOT SELECTED</a:t>
            </a:r>
          </a:p>
        </p:txBody>
      </p:sp>
      <p:sp>
        <p:nvSpPr>
          <p:cNvPr id="8" name="line-388">
            <a:extLst xmlns:a="http://schemas.openxmlformats.org/drawingml/2006/main">
              <a:ext uri="{FF2B5EF4-FFF2-40B4-BE49-F238E27FC236}">
                <a16:creationId xmlns:a16="http://schemas.microsoft.com/office/drawing/2014/main" id="{3FB9420D-3A7A-4385-9520-9A5F98D9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9" name="text-389">
            <a:extLst xmlns:a="http://schemas.openxmlformats.org/drawingml/2006/main">
              <a:ext uri="{FF2B5EF4-FFF2-40B4-BE49-F238E27FC236}">
                <a16:creationId xmlns:a16="http://schemas.microsoft.com/office/drawing/2014/main" id="{B9B608E7-FDE6-4DA2-8341-25F06CD7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APPENDIX</a:t>
            </a:r>
          </a:p>
        </p:txBody>
      </p:sp>
      <p:sp>
        <p:nvSpPr>
          <p:cNvPr id="10" name="text-390">
            <a:extLst xmlns:a="http://schemas.openxmlformats.org/drawingml/2006/main">
              <a:ext uri="{FF2B5EF4-FFF2-40B4-BE49-F238E27FC236}">
                <a16:creationId xmlns:a16="http://schemas.microsoft.com/office/drawing/2014/main" id="{88E63C35-B76D-48B8-8D51-37A6AB98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16</a:t>
            </a:r>
          </a:p>
        </p:txBody>
      </p:sp>
      <p:sp>
        <p:nvSpPr>
          <p:cNvPr id="11" name="text-391">
            <a:extLst xmlns:a="http://schemas.openxmlformats.org/drawingml/2006/main">
              <a:ext uri="{FF2B5EF4-FFF2-40B4-BE49-F238E27FC236}">
                <a16:creationId xmlns:a16="http://schemas.microsoft.com/office/drawing/2014/main" id="{823A958C-9E2F-4BD4-BACD-9953D961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Launch model</a:t>
            </a:r>
          </a:p>
        </p:txBody>
      </p:sp>
      <p:sp>
        <p:nvSpPr>
          <p:cNvPr id="12" name="rect-392">
            <a:extLst xmlns:a="http://schemas.openxmlformats.org/drawingml/2006/main">
              <a:ext uri="{FF2B5EF4-FFF2-40B4-BE49-F238E27FC236}">
                <a16:creationId xmlns:a16="http://schemas.microsoft.com/office/drawing/2014/main" id="{008FD6E2-845F-40D6-8F98-44D1AB8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1857375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393">
            <a:extLst xmlns:a="http://schemas.openxmlformats.org/drawingml/2006/main">
              <a:ext uri="{FF2B5EF4-FFF2-40B4-BE49-F238E27FC236}">
                <a16:creationId xmlns:a16="http://schemas.microsoft.com/office/drawing/2014/main" id="{2C9F05A2-274C-4894-9BB7-32E61173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One-time purchases + bundles</a:t>
            </a:r>
          </a:p>
        </p:txBody>
      </p:sp>
      <p:sp>
        <p:nvSpPr>
          <p:cNvPr id="14" name="text-394">
            <a:extLst xmlns:a="http://schemas.openxmlformats.org/drawingml/2006/main">
              <a:ext uri="{FF2B5EF4-FFF2-40B4-BE49-F238E27FC236}">
                <a16:creationId xmlns:a16="http://schemas.microsoft.com/office/drawing/2014/main" id="{A9274D48-A68C-4E32-8EEE-158F4D88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Subscriptions  ·  Preorder hybrid</a:t>
            </a:r>
          </a:p>
        </p:txBody>
      </p:sp>
      <p:sp>
        <p:nvSpPr>
          <p:cNvPr id="15" name="line-395">
            <a:extLst xmlns:a="http://schemas.openxmlformats.org/drawingml/2006/main">
              <a:ext uri="{FF2B5EF4-FFF2-40B4-BE49-F238E27FC236}">
                <a16:creationId xmlns:a16="http://schemas.microsoft.com/office/drawing/2014/main" id="{ABDD39E6-A43C-4001-84FD-78429C19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6" name="text-396">
            <a:extLst xmlns:a="http://schemas.openxmlformats.org/drawingml/2006/main">
              <a:ext uri="{FF2B5EF4-FFF2-40B4-BE49-F238E27FC236}">
                <a16:creationId xmlns:a16="http://schemas.microsoft.com/office/drawing/2014/main" id="{5CC5A6E2-5FAE-42BF-980E-CCE3BCC8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Persuasion</a:t>
            </a:r>
          </a:p>
        </p:txBody>
      </p:sp>
      <p:sp>
        <p:nvSpPr>
          <p:cNvPr id="17" name="rect-397">
            <a:extLst xmlns:a="http://schemas.openxmlformats.org/drawingml/2006/main">
              <a:ext uri="{FF2B5EF4-FFF2-40B4-BE49-F238E27FC236}">
                <a16:creationId xmlns:a16="http://schemas.microsoft.com/office/drawing/2014/main" id="{848243AE-EAC6-4000-9DA2-065E7069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2609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398">
            <a:extLst xmlns:a="http://schemas.openxmlformats.org/drawingml/2006/main">
              <a:ext uri="{FF2B5EF4-FFF2-40B4-BE49-F238E27FC236}">
                <a16:creationId xmlns:a16="http://schemas.microsoft.com/office/drawing/2014/main" id="{D51F1C20-A7D2-47E8-9701-1D3DCB53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Ethical nudges only</a:t>
            </a:r>
          </a:p>
        </p:txBody>
      </p:sp>
      <p:sp>
        <p:nvSpPr>
          <p:cNvPr id="19" name="text-399">
            <a:extLst xmlns:a="http://schemas.openxmlformats.org/drawingml/2006/main">
              <a:ext uri="{FF2B5EF4-FFF2-40B4-BE49-F238E27FC236}">
                <a16:creationId xmlns:a16="http://schemas.microsoft.com/office/drawing/2014/main" id="{8C821A62-3E42-41F6-91D1-706AC927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62225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Promotion-led  ·  Education-led minimal sell</a:t>
            </a:r>
          </a:p>
        </p:txBody>
      </p:sp>
      <p:sp>
        <p:nvSpPr>
          <p:cNvPr id="20" name="line-400">
            <a:extLst xmlns:a="http://schemas.openxmlformats.org/drawingml/2006/main">
              <a:ext uri="{FF2B5EF4-FFF2-40B4-BE49-F238E27FC236}">
                <a16:creationId xmlns:a16="http://schemas.microsoft.com/office/drawing/2014/main" id="{E750FA53-1EB2-49B7-9622-018B064F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1" name="text-401">
            <a:extLst xmlns:a="http://schemas.openxmlformats.org/drawingml/2006/main">
              <a:ext uri="{FF2B5EF4-FFF2-40B4-BE49-F238E27FC236}">
                <a16:creationId xmlns:a16="http://schemas.microsoft.com/office/drawing/2014/main" id="{8A14D3E6-9909-4055-A526-14E4C634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Upselling</a:t>
            </a:r>
          </a:p>
        </p:txBody>
      </p:sp>
      <p:sp>
        <p:nvSpPr>
          <p:cNvPr id="22" name="rect-402">
            <a:extLst xmlns:a="http://schemas.openxmlformats.org/drawingml/2006/main">
              <a:ext uri="{FF2B5EF4-FFF2-40B4-BE49-F238E27FC236}">
                <a16:creationId xmlns:a16="http://schemas.microsoft.com/office/drawing/2014/main" id="{B8FEB384-6751-4484-AA5A-FEF04D25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362325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403">
            <a:extLst xmlns:a="http://schemas.openxmlformats.org/drawingml/2006/main">
              <a:ext uri="{FF2B5EF4-FFF2-40B4-BE49-F238E27FC236}">
                <a16:creationId xmlns:a16="http://schemas.microsoft.com/office/drawing/2014/main" id="{4009391B-22B7-4441-8801-65E1A379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14700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Rules-based offers</a:t>
            </a:r>
          </a:p>
        </p:txBody>
      </p:sp>
      <p:sp>
        <p:nvSpPr>
          <p:cNvPr id="24" name="text-404">
            <a:extLst xmlns:a="http://schemas.openxmlformats.org/drawingml/2006/main">
              <a:ext uri="{FF2B5EF4-FFF2-40B4-BE49-F238E27FC236}">
                <a16:creationId xmlns:a16="http://schemas.microsoft.com/office/drawing/2014/main" id="{429107B2-E056-4F65-BF88-48B4A4E1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Dynamic personalization  ·  Bundles only</a:t>
            </a:r>
          </a:p>
        </p:txBody>
      </p:sp>
      <p:sp>
        <p:nvSpPr>
          <p:cNvPr id="25" name="line-405">
            <a:extLst xmlns:a="http://schemas.openxmlformats.org/drawingml/2006/main">
              <a:ext uri="{FF2B5EF4-FFF2-40B4-BE49-F238E27FC236}">
                <a16:creationId xmlns:a16="http://schemas.microsoft.com/office/drawing/2014/main" id="{761CA35B-A24A-415B-9155-9E2B9A9E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6" name="text-406">
            <a:extLst xmlns:a="http://schemas.openxmlformats.org/drawingml/2006/main">
              <a:ext uri="{FF2B5EF4-FFF2-40B4-BE49-F238E27FC236}">
                <a16:creationId xmlns:a16="http://schemas.microsoft.com/office/drawing/2014/main" id="{B51ECBD4-F4F0-48F0-8857-EA0E8C2D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Retention</a:t>
            </a:r>
          </a:p>
        </p:txBody>
      </p:sp>
      <p:sp>
        <p:nvSpPr>
          <p:cNvPr id="27" name="rect-407">
            <a:extLst xmlns:a="http://schemas.openxmlformats.org/drawingml/2006/main">
              <a:ext uri="{FF2B5EF4-FFF2-40B4-BE49-F238E27FC236}">
                <a16:creationId xmlns:a16="http://schemas.microsoft.com/office/drawing/2014/main" id="{22214F6B-0105-4217-8140-6B838D6A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1148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408">
            <a:extLst xmlns:a="http://schemas.openxmlformats.org/drawingml/2006/main">
              <a:ext uri="{FF2B5EF4-FFF2-40B4-BE49-F238E27FC236}">
                <a16:creationId xmlns:a16="http://schemas.microsoft.com/office/drawing/2014/main" id="{D502815A-7712-4084-A6E3-6CD1D18A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67175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Lifecycle essentials + referrals</a:t>
            </a:r>
          </a:p>
        </p:txBody>
      </p:sp>
      <p:sp>
        <p:nvSpPr>
          <p:cNvPr id="29" name="text-409">
            <a:extLst xmlns:a="http://schemas.openxmlformats.org/drawingml/2006/main">
              <a:ext uri="{FF2B5EF4-FFF2-40B4-BE49-F238E27FC236}">
                <a16:creationId xmlns:a16="http://schemas.microsoft.com/office/drawing/2014/main" id="{E3454D7D-0129-4385-905D-C2B31EAF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Essentials only  ·  Transactional only</a:t>
            </a:r>
          </a:p>
        </p:txBody>
      </p:sp>
      <p:sp>
        <p:nvSpPr>
          <p:cNvPr id="30" name="line-410">
            <a:extLst xmlns:a="http://schemas.openxmlformats.org/drawingml/2006/main">
              <a:ext uri="{FF2B5EF4-FFF2-40B4-BE49-F238E27FC236}">
                <a16:creationId xmlns:a16="http://schemas.microsoft.com/office/drawing/2014/main" id="{9C92C9F2-847B-4098-B5A0-F22CA1D7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1" name="text-411">
            <a:extLst xmlns:a="http://schemas.openxmlformats.org/drawingml/2006/main">
              <a:ext uri="{FF2B5EF4-FFF2-40B4-BE49-F238E27FC236}">
                <a16:creationId xmlns:a16="http://schemas.microsoft.com/office/drawing/2014/main" id="{E802E0AD-0CAA-4576-9645-E178C337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Referral reward</a:t>
            </a:r>
          </a:p>
        </p:txBody>
      </p:sp>
      <p:sp>
        <p:nvSpPr>
          <p:cNvPr id="32" name="rect-412">
            <a:extLst xmlns:a="http://schemas.openxmlformats.org/drawingml/2006/main">
              <a:ext uri="{FF2B5EF4-FFF2-40B4-BE49-F238E27FC236}">
                <a16:creationId xmlns:a16="http://schemas.microsoft.com/office/drawing/2014/main" id="{B57EE4A0-D663-473C-A856-FB83D0A9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867275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413">
            <a:extLst xmlns:a="http://schemas.openxmlformats.org/drawingml/2006/main">
              <a:ext uri="{FF2B5EF4-FFF2-40B4-BE49-F238E27FC236}">
                <a16:creationId xmlns:a16="http://schemas.microsoft.com/office/drawing/2014/main" id="{6810AA52-47FA-4257-ADDC-B574CF00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9650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Store credit after delivery</a:t>
            </a:r>
          </a:p>
        </p:txBody>
      </p:sp>
      <p:sp>
        <p:nvSpPr>
          <p:cNvPr id="34" name="text-414">
            <a:extLst xmlns:a="http://schemas.openxmlformats.org/drawingml/2006/main">
              <a:ext uri="{FF2B5EF4-FFF2-40B4-BE49-F238E27FC236}">
                <a16:creationId xmlns:a16="http://schemas.microsoft.com/office/drawing/2014/main" id="{DE86E482-8AA2-4411-A056-72071BF6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Coupon at purchase  ·  Cash payout</a:t>
            </a:r>
          </a:p>
        </p:txBody>
      </p:sp>
      <p:sp>
        <p:nvSpPr>
          <p:cNvPr id="35" name="line-415">
            <a:extLst xmlns:a="http://schemas.openxmlformats.org/drawingml/2006/main">
              <a:ext uri="{FF2B5EF4-FFF2-40B4-BE49-F238E27FC236}">
                <a16:creationId xmlns:a16="http://schemas.microsoft.com/office/drawing/2014/main" id="{24B52B0F-1655-4463-8AE6-027473AB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6" name="text-416">
            <a:extLst xmlns:a="http://schemas.openxmlformats.org/drawingml/2006/main">
              <a:ext uri="{FF2B5EF4-FFF2-40B4-BE49-F238E27FC236}">
                <a16:creationId xmlns:a16="http://schemas.microsoft.com/office/drawing/2014/main" id="{1F800EA0-AAEE-46D7-8DB4-4F0195B9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Reviews</a:t>
            </a:r>
          </a:p>
        </p:txBody>
      </p:sp>
      <p:sp>
        <p:nvSpPr>
          <p:cNvPr id="37" name="rect-417">
            <a:extLst xmlns:a="http://schemas.openxmlformats.org/drawingml/2006/main">
              <a:ext uri="{FF2B5EF4-FFF2-40B4-BE49-F238E27FC236}">
                <a16:creationId xmlns:a16="http://schemas.microsoft.com/office/drawing/2014/main" id="{1AAD0115-222E-438B-8478-960F0A16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56197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418">
            <a:extLst xmlns:a="http://schemas.openxmlformats.org/drawingml/2006/main">
              <a:ext uri="{FF2B5EF4-FFF2-40B4-BE49-F238E27FC236}">
                <a16:creationId xmlns:a16="http://schemas.microsoft.com/office/drawing/2014/main" id="{7AFF64C1-0B35-462D-9798-8F17F046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72125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Verified buyers only</a:t>
            </a:r>
          </a:p>
        </p:txBody>
      </p:sp>
      <p:sp>
        <p:nvSpPr>
          <p:cNvPr id="39" name="text-419">
            <a:extLst xmlns:a="http://schemas.openxmlformats.org/drawingml/2006/main">
              <a:ext uri="{FF2B5EF4-FFF2-40B4-BE49-F238E27FC236}">
                <a16:creationId xmlns:a16="http://schemas.microsoft.com/office/drawing/2014/main" id="{AEE140EE-CCE9-4210-9609-B16033F3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72125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Third-party widget  ·  Defer reviews</a:t>
            </a:r>
          </a:p>
        </p:txBody>
      </p:sp>
    </p:spTree>
    <p:extLst>
      <p:ext uri="{BB962C8B-B14F-4D97-AF65-F5344CB8AC3E}">
        <p14:creationId xmlns:p14="http://schemas.microsoft.com/office/powerpoint/2010/main" val="20793689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7ed34a2f34afa"/>
          <a:stretch xmlns:a="http://schemas.openxmlformats.org/drawingml/2006/main"/>
        </p:blipFill>
        <p:spPr>
          <a:xfrm xmlns:a="http://schemas.openxmlformats.org/drawingml/2006/main">
            <a:off x="11049000" y="235598"/>
            <a:ext cx="457200" cy="443204"/>
          </a:xfrm>
          <a:prstGeom xmlns:a="http://schemas.openxmlformats.org/drawingml/2006/main" prst="rect">
            <a:avLst/>
          </a:prstGeom>
        </p:spPr>
      </p:pic>
      <p:sp>
        <p:nvSpPr>
          <p:cNvPr id="2" name="text-420">
            <a:extLst xmlns:a="http://schemas.openxmlformats.org/drawingml/2006/main">
              <a:ext uri="{FF2B5EF4-FFF2-40B4-BE49-F238E27FC236}">
                <a16:creationId xmlns:a16="http://schemas.microsoft.com/office/drawing/2014/main" id="{D16B8C3F-02F8-4D10-9DAF-8516AD5B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RECORD</a:t>
            </a:r>
          </a:p>
        </p:txBody>
      </p:sp>
      <p:sp>
        <p:nvSpPr>
          <p:cNvPr id="3" name="text-421">
            <a:extLst xmlns:a="http://schemas.openxmlformats.org/drawingml/2006/main">
              <a:ext uri="{FF2B5EF4-FFF2-40B4-BE49-F238E27FC236}">
                <a16:creationId xmlns:a16="http://schemas.microsoft.com/office/drawing/2014/main" id="{25AB465A-5E43-4D12-8A71-4F8E0225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Checkout &amp; identity</a:t>
            </a:r>
          </a:p>
        </p:txBody>
      </p:sp>
      <p:sp>
        <p:nvSpPr>
          <p:cNvPr id="4" name="rect-422">
            <a:extLst xmlns:a="http://schemas.openxmlformats.org/drawingml/2006/main">
              <a:ext uri="{FF2B5EF4-FFF2-40B4-BE49-F238E27FC236}">
                <a16:creationId xmlns:a16="http://schemas.microsoft.com/office/drawing/2014/main" id="{5834CBF1-1F3B-40C5-88DB-D83CA936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304925"/>
            <a:ext cx="1085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23">
            <a:extLst xmlns:a="http://schemas.openxmlformats.org/drawingml/2006/main">
              <a:ext uri="{FF2B5EF4-FFF2-40B4-BE49-F238E27FC236}">
                <a16:creationId xmlns:a16="http://schemas.microsoft.com/office/drawing/2014/main" id="{0C01B7B7-1AB3-4E85-AFD8-C177F420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</a:t>
            </a:r>
          </a:p>
        </p:txBody>
      </p:sp>
      <p:sp>
        <p:nvSpPr>
          <p:cNvPr id="6" name="text-424">
            <a:extLst xmlns:a="http://schemas.openxmlformats.org/drawingml/2006/main">
              <a:ext uri="{FF2B5EF4-FFF2-40B4-BE49-F238E27FC236}">
                <a16:creationId xmlns:a16="http://schemas.microsoft.com/office/drawing/2014/main" id="{277C78E4-DEF7-4B03-B267-0D9AD4C0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57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rPr>
              <a:t>CHOSEN</a:t>
            </a:r>
          </a:p>
        </p:txBody>
      </p:sp>
      <p:sp>
        <p:nvSpPr>
          <p:cNvPr id="7" name="text-425">
            <a:extLst xmlns:a="http://schemas.openxmlformats.org/drawingml/2006/main">
              <a:ext uri="{FF2B5EF4-FFF2-40B4-BE49-F238E27FC236}">
                <a16:creationId xmlns:a16="http://schemas.microsoft.com/office/drawing/2014/main" id="{B130CDDE-D5DE-419F-8D7A-E90FE39A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573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ALTERNATIVES NOT SELECTED</a:t>
            </a:r>
          </a:p>
        </p:txBody>
      </p:sp>
      <p:sp>
        <p:nvSpPr>
          <p:cNvPr id="8" name="line-426">
            <a:extLst xmlns:a="http://schemas.openxmlformats.org/drawingml/2006/main">
              <a:ext uri="{FF2B5EF4-FFF2-40B4-BE49-F238E27FC236}">
                <a16:creationId xmlns:a16="http://schemas.microsoft.com/office/drawing/2014/main" id="{A5CC76AB-BD6C-48D6-8DDB-0A4958B7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9" name="text-427">
            <a:extLst xmlns:a="http://schemas.openxmlformats.org/drawingml/2006/main">
              <a:ext uri="{FF2B5EF4-FFF2-40B4-BE49-F238E27FC236}">
                <a16:creationId xmlns:a16="http://schemas.microsoft.com/office/drawing/2014/main" id="{30F222CB-6A94-4D40-B618-506AE309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APPENDIX</a:t>
            </a:r>
          </a:p>
        </p:txBody>
      </p:sp>
      <p:sp>
        <p:nvSpPr>
          <p:cNvPr id="10" name="text-428">
            <a:extLst xmlns:a="http://schemas.openxmlformats.org/drawingml/2006/main">
              <a:ext uri="{FF2B5EF4-FFF2-40B4-BE49-F238E27FC236}">
                <a16:creationId xmlns:a16="http://schemas.microsoft.com/office/drawing/2014/main" id="{D035041B-E8D5-4099-9B27-0D96021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17</a:t>
            </a:r>
          </a:p>
        </p:txBody>
      </p:sp>
      <p:sp>
        <p:nvSpPr>
          <p:cNvPr id="11" name="text-429">
            <a:extLst xmlns:a="http://schemas.openxmlformats.org/drawingml/2006/main">
              <a:ext uri="{FF2B5EF4-FFF2-40B4-BE49-F238E27FC236}">
                <a16:creationId xmlns:a16="http://schemas.microsoft.com/office/drawing/2014/main" id="{5E462626-8685-4BF7-BBA4-F3040D78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2286000" cy="511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Checkout</a:t>
            </a:r>
          </a:p>
        </p:txBody>
      </p:sp>
      <p:sp>
        <p:nvSpPr>
          <p:cNvPr id="12" name="rect-430">
            <a:extLst xmlns:a="http://schemas.openxmlformats.org/drawingml/2006/main">
              <a:ext uri="{FF2B5EF4-FFF2-40B4-BE49-F238E27FC236}">
                <a16:creationId xmlns:a16="http://schemas.microsoft.com/office/drawing/2014/main" id="{4151AAE5-2F15-4BEE-9681-367C1AE8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1857375"/>
            <a:ext cx="66675" cy="4163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31">
            <a:extLst xmlns:a="http://schemas.openxmlformats.org/drawingml/2006/main">
              <a:ext uri="{FF2B5EF4-FFF2-40B4-BE49-F238E27FC236}">
                <a16:creationId xmlns:a16="http://schemas.microsoft.com/office/drawing/2014/main" id="{A93CF943-F7B4-4C24-A051-559A09EA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3619500" cy="53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Guest-first</a:t>
            </a:r>
          </a:p>
        </p:txBody>
      </p:sp>
      <p:sp>
        <p:nvSpPr>
          <p:cNvPr id="14" name="text-432">
            <a:extLst xmlns:a="http://schemas.openxmlformats.org/drawingml/2006/main">
              <a:ext uri="{FF2B5EF4-FFF2-40B4-BE49-F238E27FC236}">
                <a16:creationId xmlns:a16="http://schemas.microsoft.com/office/drawing/2014/main" id="{A98B3EC8-1232-43CB-B4CF-342F1A2F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238625" cy="53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OTP account required  ·  Email account required</a:t>
            </a:r>
          </a:p>
        </p:txBody>
      </p:sp>
      <p:sp>
        <p:nvSpPr>
          <p:cNvPr id="15" name="line-433">
            <a:extLst xmlns:a="http://schemas.openxmlformats.org/drawingml/2006/main">
              <a:ext uri="{FF2B5EF4-FFF2-40B4-BE49-F238E27FC236}">
                <a16:creationId xmlns:a16="http://schemas.microsoft.com/office/drawing/2014/main" id="{0183E6BF-75DD-4BAE-B261-654542B8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9954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6" name="text-434">
            <a:extLst xmlns:a="http://schemas.openxmlformats.org/drawingml/2006/main">
              <a:ext uri="{FF2B5EF4-FFF2-40B4-BE49-F238E27FC236}">
                <a16:creationId xmlns:a16="http://schemas.microsoft.com/office/drawing/2014/main" id="{0A227A76-CD0F-4EA6-BCFC-F8DEDFBE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64254"/>
            <a:ext cx="2286000" cy="511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Customer hub</a:t>
            </a:r>
          </a:p>
        </p:txBody>
      </p:sp>
      <p:sp>
        <p:nvSpPr>
          <p:cNvPr id="17" name="rect-435">
            <a:extLst xmlns:a="http://schemas.openxmlformats.org/drawingml/2006/main">
              <a:ext uri="{FF2B5EF4-FFF2-40B4-BE49-F238E27FC236}">
                <a16:creationId xmlns:a16="http://schemas.microsoft.com/office/drawing/2014/main" id="{1153587A-3682-4D95-9F96-520A8858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2502354"/>
            <a:ext cx="66675" cy="4163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436">
            <a:extLst xmlns:a="http://schemas.openxmlformats.org/drawingml/2006/main">
              <a:ext uri="{FF2B5EF4-FFF2-40B4-BE49-F238E27FC236}">
                <a16:creationId xmlns:a16="http://schemas.microsoft.com/office/drawing/2014/main" id="{19337224-7CAA-47B4-B5F6-085BB716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54729"/>
            <a:ext cx="3619500" cy="53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Claimable full account</a:t>
            </a:r>
          </a:p>
        </p:txBody>
      </p:sp>
      <p:sp>
        <p:nvSpPr>
          <p:cNvPr id="19" name="text-437">
            <a:extLst xmlns:a="http://schemas.openxmlformats.org/drawingml/2006/main">
              <a:ext uri="{FF2B5EF4-FFF2-40B4-BE49-F238E27FC236}">
                <a16:creationId xmlns:a16="http://schemas.microsoft.com/office/drawing/2014/main" id="{52452688-CF20-4133-BDB5-59E94B8A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4729"/>
            <a:ext cx="4238625" cy="53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Order links only  ·  Basic account</a:t>
            </a:r>
          </a:p>
        </p:txBody>
      </p:sp>
      <p:sp>
        <p:nvSpPr>
          <p:cNvPr id="20" name="line-438">
            <a:extLst xmlns:a="http://schemas.openxmlformats.org/drawingml/2006/main">
              <a:ext uri="{FF2B5EF4-FFF2-40B4-BE49-F238E27FC236}">
                <a16:creationId xmlns:a16="http://schemas.microsoft.com/office/drawing/2014/main" id="{943E2E13-2983-4E4B-9292-639136BF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4932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1" name="text-439">
            <a:extLst xmlns:a="http://schemas.openxmlformats.org/drawingml/2006/main">
              <a:ext uri="{FF2B5EF4-FFF2-40B4-BE49-F238E27FC236}">
                <a16:creationId xmlns:a16="http://schemas.microsoft.com/office/drawing/2014/main" id="{9FD924C7-B2EC-4101-B578-85174113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9232"/>
            <a:ext cx="2286000" cy="511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Customer login</a:t>
            </a:r>
          </a:p>
        </p:txBody>
      </p:sp>
      <p:sp>
        <p:nvSpPr>
          <p:cNvPr id="22" name="rect-440">
            <a:extLst xmlns:a="http://schemas.openxmlformats.org/drawingml/2006/main">
              <a:ext uri="{FF2B5EF4-FFF2-40B4-BE49-F238E27FC236}">
                <a16:creationId xmlns:a16="http://schemas.microsoft.com/office/drawing/2014/main" id="{C14F064F-807F-4431-96CB-035C68D9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147332"/>
            <a:ext cx="66675" cy="4163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441">
            <a:extLst xmlns:a="http://schemas.openxmlformats.org/drawingml/2006/main">
              <a:ext uri="{FF2B5EF4-FFF2-40B4-BE49-F238E27FC236}">
                <a16:creationId xmlns:a16="http://schemas.microsoft.com/office/drawing/2014/main" id="{224AACBC-EB90-49F5-BCBD-BB11672C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99707"/>
            <a:ext cx="3619500" cy="53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Mobile OTP + email fallback</a:t>
            </a:r>
          </a:p>
        </p:txBody>
      </p:sp>
      <p:sp>
        <p:nvSpPr>
          <p:cNvPr id="24" name="text-442">
            <a:extLst xmlns:a="http://schemas.openxmlformats.org/drawingml/2006/main">
              <a:ext uri="{FF2B5EF4-FFF2-40B4-BE49-F238E27FC236}">
                <a16:creationId xmlns:a16="http://schemas.microsoft.com/office/drawing/2014/main" id="{50473DF3-F6D2-4C42-9025-4D6E87F2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9707"/>
            <a:ext cx="4238625" cy="53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Mobile OTP only  ·  Email magic link</a:t>
            </a:r>
          </a:p>
        </p:txBody>
      </p:sp>
      <p:sp>
        <p:nvSpPr>
          <p:cNvPr id="25" name="line-443">
            <a:extLst xmlns:a="http://schemas.openxmlformats.org/drawingml/2006/main">
              <a:ext uri="{FF2B5EF4-FFF2-40B4-BE49-F238E27FC236}">
                <a16:creationId xmlns:a16="http://schemas.microsoft.com/office/drawing/2014/main" id="{186A4524-89B9-4F5D-AB06-20D0BC40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9911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6" name="text-444">
            <a:extLst xmlns:a="http://schemas.openxmlformats.org/drawingml/2006/main">
              <a:ext uri="{FF2B5EF4-FFF2-40B4-BE49-F238E27FC236}">
                <a16:creationId xmlns:a16="http://schemas.microsoft.com/office/drawing/2014/main" id="{A1AF0CC3-E0B6-4F5F-9BF7-D6D9D549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4211"/>
            <a:ext cx="2286000" cy="511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COD</a:t>
            </a:r>
          </a:p>
        </p:txBody>
      </p:sp>
      <p:sp>
        <p:nvSpPr>
          <p:cNvPr id="27" name="rect-445">
            <a:extLst xmlns:a="http://schemas.openxmlformats.org/drawingml/2006/main">
              <a:ext uri="{FF2B5EF4-FFF2-40B4-BE49-F238E27FC236}">
                <a16:creationId xmlns:a16="http://schemas.microsoft.com/office/drawing/2014/main" id="{C1364116-F89A-4236-806C-45C05E7B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792311"/>
            <a:ext cx="66675" cy="4163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446">
            <a:extLst xmlns:a="http://schemas.openxmlformats.org/drawingml/2006/main">
              <a:ext uri="{FF2B5EF4-FFF2-40B4-BE49-F238E27FC236}">
                <a16:creationId xmlns:a16="http://schemas.microsoft.com/office/drawing/2014/main" id="{AF36ECE4-C546-4E3F-9A90-B0D34CEA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44686"/>
            <a:ext cx="3619500" cy="53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Modelled, activated later</a:t>
            </a:r>
          </a:p>
        </p:txBody>
      </p:sp>
      <p:sp>
        <p:nvSpPr>
          <p:cNvPr id="29" name="text-447">
            <a:extLst xmlns:a="http://schemas.openxmlformats.org/drawingml/2006/main">
              <a:ext uri="{FF2B5EF4-FFF2-40B4-BE49-F238E27FC236}">
                <a16:creationId xmlns:a16="http://schemas.microsoft.com/office/drawing/2014/main" id="{82470714-F546-4590-8B58-6EC8568E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4686"/>
            <a:ext cx="4238625" cy="53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COD with controls  ·  Prepaid-only forever</a:t>
            </a:r>
          </a:p>
        </p:txBody>
      </p:sp>
      <p:sp>
        <p:nvSpPr>
          <p:cNvPr id="30" name="line-448">
            <a:extLst xmlns:a="http://schemas.openxmlformats.org/drawingml/2006/main">
              <a:ext uri="{FF2B5EF4-FFF2-40B4-BE49-F238E27FC236}">
                <a16:creationId xmlns:a16="http://schemas.microsoft.com/office/drawing/2014/main" id="{FFB7DAED-EC86-497C-A943-D1078728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4889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1" name="text-449">
            <a:extLst xmlns:a="http://schemas.openxmlformats.org/drawingml/2006/main">
              <a:ext uri="{FF2B5EF4-FFF2-40B4-BE49-F238E27FC236}">
                <a16:creationId xmlns:a16="http://schemas.microsoft.com/office/drawing/2014/main" id="{3ADAFD1E-3EBB-4719-8686-3D618C30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99189"/>
            <a:ext cx="2286000" cy="511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Stock hold</a:t>
            </a:r>
          </a:p>
        </p:txBody>
      </p:sp>
      <p:sp>
        <p:nvSpPr>
          <p:cNvPr id="32" name="rect-450">
            <a:extLst xmlns:a="http://schemas.openxmlformats.org/drawingml/2006/main">
              <a:ext uri="{FF2B5EF4-FFF2-40B4-BE49-F238E27FC236}">
                <a16:creationId xmlns:a16="http://schemas.microsoft.com/office/drawing/2014/main" id="{1761118F-0230-4432-8912-06A9705D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437289"/>
            <a:ext cx="66675" cy="4163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451">
            <a:extLst xmlns:a="http://schemas.openxmlformats.org/drawingml/2006/main">
              <a:ext uri="{FF2B5EF4-FFF2-40B4-BE49-F238E27FC236}">
                <a16:creationId xmlns:a16="http://schemas.microsoft.com/office/drawing/2014/main" id="{D890CBA5-677A-4D15-ACEF-6B3D888F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89664"/>
            <a:ext cx="3619500" cy="53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Timed payment reservation</a:t>
            </a:r>
          </a:p>
        </p:txBody>
      </p:sp>
      <p:sp>
        <p:nvSpPr>
          <p:cNvPr id="34" name="text-452">
            <a:extLst xmlns:a="http://schemas.openxmlformats.org/drawingml/2006/main">
              <a:ext uri="{FF2B5EF4-FFF2-40B4-BE49-F238E27FC236}">
                <a16:creationId xmlns:a16="http://schemas.microsoft.com/office/drawing/2014/main" id="{5F4ED9B7-4001-4829-A76B-5B007825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9664"/>
            <a:ext cx="4238625" cy="53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Deduct after payment  ·  Reserve in cart</a:t>
            </a:r>
          </a:p>
        </p:txBody>
      </p:sp>
      <p:sp>
        <p:nvSpPr>
          <p:cNvPr id="35" name="line-453">
            <a:extLst xmlns:a="http://schemas.openxmlformats.org/drawingml/2006/main">
              <a:ext uri="{FF2B5EF4-FFF2-40B4-BE49-F238E27FC236}">
                <a16:creationId xmlns:a16="http://schemas.microsoft.com/office/drawing/2014/main" id="{AC05B315-3F64-4C47-A339-B0FCA118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29868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6" name="text-454">
            <a:extLst xmlns:a="http://schemas.openxmlformats.org/drawingml/2006/main">
              <a:ext uri="{FF2B5EF4-FFF2-40B4-BE49-F238E27FC236}">
                <a16:creationId xmlns:a16="http://schemas.microsoft.com/office/drawing/2014/main" id="{D5499669-3093-4EB0-981B-6BD1C7FD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4168"/>
            <a:ext cx="2286000" cy="511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Tax invoice</a:t>
            </a:r>
          </a:p>
        </p:txBody>
      </p:sp>
      <p:sp>
        <p:nvSpPr>
          <p:cNvPr id="37" name="rect-455">
            <a:extLst xmlns:a="http://schemas.openxmlformats.org/drawingml/2006/main">
              <a:ext uri="{FF2B5EF4-FFF2-40B4-BE49-F238E27FC236}">
                <a16:creationId xmlns:a16="http://schemas.microsoft.com/office/drawing/2014/main" id="{3C8484B3-A40B-4153-A597-F7DB71E4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5082268"/>
            <a:ext cx="66675" cy="4163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456">
            <a:extLst xmlns:a="http://schemas.openxmlformats.org/drawingml/2006/main">
              <a:ext uri="{FF2B5EF4-FFF2-40B4-BE49-F238E27FC236}">
                <a16:creationId xmlns:a16="http://schemas.microsoft.com/office/drawing/2014/main" id="{3BF6CA27-E622-41E5-A344-AD30CFEA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34643"/>
            <a:ext cx="3619500" cy="53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Optional GSTIN</a:t>
            </a:r>
          </a:p>
        </p:txBody>
      </p:sp>
      <p:sp>
        <p:nvSpPr>
          <p:cNvPr id="39" name="text-457">
            <a:extLst xmlns:a="http://schemas.openxmlformats.org/drawingml/2006/main">
              <a:ext uri="{FF2B5EF4-FFF2-40B4-BE49-F238E27FC236}">
                <a16:creationId xmlns:a16="http://schemas.microsoft.com/office/drawing/2014/main" id="{6D2EEDB5-E74D-4651-A2C1-DC09CDB6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34643"/>
            <a:ext cx="4238625" cy="53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Consumer invoice only  ·  GST fields always</a:t>
            </a:r>
          </a:p>
        </p:txBody>
      </p:sp>
      <p:sp>
        <p:nvSpPr>
          <p:cNvPr id="40" name="line-458">
            <a:extLst xmlns:a="http://schemas.openxmlformats.org/drawingml/2006/main">
              <a:ext uri="{FF2B5EF4-FFF2-40B4-BE49-F238E27FC236}">
                <a16:creationId xmlns:a16="http://schemas.microsoft.com/office/drawing/2014/main" id="{32B05484-4FE5-466F-85B8-BFBF4C0C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4846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41" name="text-459">
            <a:extLst xmlns:a="http://schemas.openxmlformats.org/drawingml/2006/main">
              <a:ext uri="{FF2B5EF4-FFF2-40B4-BE49-F238E27FC236}">
                <a16:creationId xmlns:a16="http://schemas.microsoft.com/office/drawing/2014/main" id="{BA4A3E99-F9B1-4E58-9C02-EF7AF5A4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9146"/>
            <a:ext cx="2286000" cy="511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Minor access</a:t>
            </a:r>
          </a:p>
        </p:txBody>
      </p:sp>
      <p:sp>
        <p:nvSpPr>
          <p:cNvPr id="42" name="rect-460">
            <a:extLst xmlns:a="http://schemas.openxmlformats.org/drawingml/2006/main">
              <a:ext uri="{FF2B5EF4-FFF2-40B4-BE49-F238E27FC236}">
                <a16:creationId xmlns:a16="http://schemas.microsoft.com/office/drawing/2014/main" id="{E1FE2042-6E0D-4365-A674-4C0A754F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5727246"/>
            <a:ext cx="66675" cy="4163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461">
            <a:extLst xmlns:a="http://schemas.openxmlformats.org/drawingml/2006/main">
              <a:ext uri="{FF2B5EF4-FFF2-40B4-BE49-F238E27FC236}">
                <a16:creationId xmlns:a16="http://schemas.microsoft.com/office/drawing/2014/main" id="{54DB94BC-193F-4377-8037-C40885B1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79621"/>
            <a:ext cx="3619500" cy="53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Anyone browses; adults purchase</a:t>
            </a:r>
          </a:p>
        </p:txBody>
      </p:sp>
      <p:sp>
        <p:nvSpPr>
          <p:cNvPr id="44" name="text-462">
            <a:extLst xmlns:a="http://schemas.openxmlformats.org/drawingml/2006/main">
              <a:ext uri="{FF2B5EF4-FFF2-40B4-BE49-F238E27FC236}">
                <a16:creationId xmlns:a16="http://schemas.microsoft.com/office/drawing/2014/main" id="{CA5E5899-0A2B-4FCD-97C7-31E0F099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79621"/>
            <a:ext cx="4238625" cy="53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Guardian dependent profile  ·  Minor accounts</a:t>
            </a:r>
          </a:p>
        </p:txBody>
      </p:sp>
    </p:spTree>
    <p:extLst>
      <p:ext uri="{BB962C8B-B14F-4D97-AF65-F5344CB8AC3E}">
        <p14:creationId xmlns:p14="http://schemas.microsoft.com/office/powerpoint/2010/main" val="3298540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6e2e045494d6f"/>
          <a:stretch xmlns:a="http://schemas.openxmlformats.org/drawingml/2006/main"/>
        </p:blipFill>
        <p:spPr>
          <a:xfrm xmlns:a="http://schemas.openxmlformats.org/drawingml/2006/main">
            <a:off x="11049000" y="235598"/>
            <a:ext cx="457200" cy="443204"/>
          </a:xfrm>
          <a:prstGeom xmlns:a="http://schemas.openxmlformats.org/drawingml/2006/main" prst="rect">
            <a:avLst/>
          </a:prstGeom>
        </p:spPr>
      </p:pic>
      <p:sp>
        <p:nvSpPr>
          <p:cNvPr id="2" name="text-463">
            <a:extLst xmlns:a="http://schemas.openxmlformats.org/drawingml/2006/main">
              <a:ext uri="{FF2B5EF4-FFF2-40B4-BE49-F238E27FC236}">
                <a16:creationId xmlns:a16="http://schemas.microsoft.com/office/drawing/2014/main" id="{710CFE5F-900F-46D8-81A2-7E72DFA2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RECORD</a:t>
            </a:r>
          </a:p>
        </p:txBody>
      </p:sp>
      <p:sp>
        <p:nvSpPr>
          <p:cNvPr id="3" name="text-464">
            <a:extLst xmlns:a="http://schemas.openxmlformats.org/drawingml/2006/main">
              <a:ext uri="{FF2B5EF4-FFF2-40B4-BE49-F238E27FC236}">
                <a16:creationId xmlns:a16="http://schemas.microsoft.com/office/drawing/2014/main" id="{6B191484-5D24-4200-A0F3-62363243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Trust, proof &amp; safety</a:t>
            </a:r>
          </a:p>
        </p:txBody>
      </p:sp>
      <p:sp>
        <p:nvSpPr>
          <p:cNvPr id="4" name="rect-465">
            <a:extLst xmlns:a="http://schemas.openxmlformats.org/drawingml/2006/main">
              <a:ext uri="{FF2B5EF4-FFF2-40B4-BE49-F238E27FC236}">
                <a16:creationId xmlns:a16="http://schemas.microsoft.com/office/drawing/2014/main" id="{344AAE8C-2D40-472F-BFCE-AC974E0E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304925"/>
            <a:ext cx="1085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66">
            <a:extLst xmlns:a="http://schemas.openxmlformats.org/drawingml/2006/main">
              <a:ext uri="{FF2B5EF4-FFF2-40B4-BE49-F238E27FC236}">
                <a16:creationId xmlns:a16="http://schemas.microsoft.com/office/drawing/2014/main" id="{1A7063BA-5A25-47FD-8122-82D790B6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</a:t>
            </a:r>
          </a:p>
        </p:txBody>
      </p:sp>
      <p:sp>
        <p:nvSpPr>
          <p:cNvPr id="6" name="text-467">
            <a:extLst xmlns:a="http://schemas.openxmlformats.org/drawingml/2006/main">
              <a:ext uri="{FF2B5EF4-FFF2-40B4-BE49-F238E27FC236}">
                <a16:creationId xmlns:a16="http://schemas.microsoft.com/office/drawing/2014/main" id="{064455C5-9F78-4E44-8C86-7CE92B58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57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rPr>
              <a:t>CHOSEN</a:t>
            </a:r>
          </a:p>
        </p:txBody>
      </p:sp>
      <p:sp>
        <p:nvSpPr>
          <p:cNvPr id="7" name="text-468">
            <a:extLst xmlns:a="http://schemas.openxmlformats.org/drawingml/2006/main">
              <a:ext uri="{FF2B5EF4-FFF2-40B4-BE49-F238E27FC236}">
                <a16:creationId xmlns:a16="http://schemas.microsoft.com/office/drawing/2014/main" id="{C8662DE9-7142-44D6-944E-B4DEE482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573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ALTERNATIVES NOT SELECTED</a:t>
            </a:r>
          </a:p>
        </p:txBody>
      </p:sp>
      <p:sp>
        <p:nvSpPr>
          <p:cNvPr id="8" name="line-469">
            <a:extLst xmlns:a="http://schemas.openxmlformats.org/drawingml/2006/main">
              <a:ext uri="{FF2B5EF4-FFF2-40B4-BE49-F238E27FC236}">
                <a16:creationId xmlns:a16="http://schemas.microsoft.com/office/drawing/2014/main" id="{D7FD2D6D-A428-4DC4-86C0-42D5287C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9" name="text-470">
            <a:extLst xmlns:a="http://schemas.openxmlformats.org/drawingml/2006/main">
              <a:ext uri="{FF2B5EF4-FFF2-40B4-BE49-F238E27FC236}">
                <a16:creationId xmlns:a16="http://schemas.microsoft.com/office/drawing/2014/main" id="{2762CB36-F429-4181-9A23-372F66DF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APPENDIX</a:t>
            </a:r>
          </a:p>
        </p:txBody>
      </p:sp>
      <p:sp>
        <p:nvSpPr>
          <p:cNvPr id="10" name="text-471">
            <a:extLst xmlns:a="http://schemas.openxmlformats.org/drawingml/2006/main">
              <a:ext uri="{FF2B5EF4-FFF2-40B4-BE49-F238E27FC236}">
                <a16:creationId xmlns:a16="http://schemas.microsoft.com/office/drawing/2014/main" id="{A53579AC-93D9-4F17-B68A-CABE76B6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18</a:t>
            </a:r>
          </a:p>
        </p:txBody>
      </p:sp>
      <p:sp>
        <p:nvSpPr>
          <p:cNvPr id="11" name="text-472">
            <a:extLst xmlns:a="http://schemas.openxmlformats.org/drawingml/2006/main">
              <a:ext uri="{FF2B5EF4-FFF2-40B4-BE49-F238E27FC236}">
                <a16:creationId xmlns:a16="http://schemas.microsoft.com/office/drawing/2014/main" id="{F138E2F1-F224-4DCD-93F3-F575A862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Traceability</a:t>
            </a:r>
          </a:p>
        </p:txBody>
      </p:sp>
      <p:sp>
        <p:nvSpPr>
          <p:cNvPr id="12" name="rect-473">
            <a:extLst xmlns:a="http://schemas.openxmlformats.org/drawingml/2006/main">
              <a:ext uri="{FF2B5EF4-FFF2-40B4-BE49-F238E27FC236}">
                <a16:creationId xmlns:a16="http://schemas.microsoft.com/office/drawing/2014/main" id="{3A06278A-50CD-4E6A-9CE4-146E6FDD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185737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74">
            <a:extLst xmlns:a="http://schemas.openxmlformats.org/drawingml/2006/main">
              <a:ext uri="{FF2B5EF4-FFF2-40B4-BE49-F238E27FC236}">
                <a16:creationId xmlns:a16="http://schemas.microsoft.com/office/drawing/2014/main" id="{73A3A06E-6814-40F8-A0E9-B6ADB91E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Required before sale</a:t>
            </a:r>
          </a:p>
        </p:txBody>
      </p:sp>
      <p:sp>
        <p:nvSpPr>
          <p:cNvPr id="14" name="text-475">
            <a:extLst xmlns:a="http://schemas.openxmlformats.org/drawingml/2006/main">
              <a:ext uri="{FF2B5EF4-FFF2-40B4-BE49-F238E27FC236}">
                <a16:creationId xmlns:a16="http://schemas.microsoft.com/office/drawing/2014/main" id="{0DBE04EC-9A45-4DC7-B558-BFACAFAD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Progressive rollout  ·  Explainer only</a:t>
            </a:r>
          </a:p>
        </p:txBody>
      </p:sp>
      <p:sp>
        <p:nvSpPr>
          <p:cNvPr id="15" name="line-476">
            <a:extLst xmlns:a="http://schemas.openxmlformats.org/drawingml/2006/main">
              <a:ext uri="{FF2B5EF4-FFF2-40B4-BE49-F238E27FC236}">
                <a16:creationId xmlns:a16="http://schemas.microsoft.com/office/drawing/2014/main" id="{53A8806F-FEFB-46BB-803F-EFB499E3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794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6" name="text-477">
            <a:extLst xmlns:a="http://schemas.openxmlformats.org/drawingml/2006/main">
              <a:ext uri="{FF2B5EF4-FFF2-40B4-BE49-F238E27FC236}">
                <a16:creationId xmlns:a16="http://schemas.microsoft.com/office/drawing/2014/main" id="{B5A29C23-0A61-4403-920B-8C1248A4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224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QR model</a:t>
            </a:r>
          </a:p>
        </p:txBody>
      </p:sp>
      <p:sp>
        <p:nvSpPr>
          <p:cNvPr id="17" name="rect-478">
            <a:extLst xmlns:a="http://schemas.openxmlformats.org/drawingml/2006/main">
              <a:ext uri="{FF2B5EF4-FFF2-40B4-BE49-F238E27FC236}">
                <a16:creationId xmlns:a16="http://schemas.microsoft.com/office/drawing/2014/main" id="{8EE73092-A82D-485E-AFDC-FF6CB5D1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276034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479">
            <a:extLst xmlns:a="http://schemas.openxmlformats.org/drawingml/2006/main">
              <a:ext uri="{FF2B5EF4-FFF2-40B4-BE49-F238E27FC236}">
                <a16:creationId xmlns:a16="http://schemas.microsoft.com/office/drawing/2014/main" id="{561F8A09-FAC2-4DB8-A3CA-7E0FF06C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1272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Batch QR + concealed unit code</a:t>
            </a:r>
          </a:p>
        </p:txBody>
      </p:sp>
      <p:sp>
        <p:nvSpPr>
          <p:cNvPr id="19" name="text-480">
            <a:extLst xmlns:a="http://schemas.openxmlformats.org/drawingml/2006/main">
              <a:ext uri="{FF2B5EF4-FFF2-40B4-BE49-F238E27FC236}">
                <a16:creationId xmlns:a16="http://schemas.microsoft.com/office/drawing/2014/main" id="{E7B96984-B02F-4914-A7B6-5BBFF0CC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272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Batch QR only  ·  Unique public unit QR</a:t>
            </a:r>
          </a:p>
        </p:txBody>
      </p:sp>
      <p:sp>
        <p:nvSpPr>
          <p:cNvPr id="20" name="line-481">
            <a:extLst xmlns:a="http://schemas.openxmlformats.org/drawingml/2006/main">
              <a:ext uri="{FF2B5EF4-FFF2-40B4-BE49-F238E27FC236}">
                <a16:creationId xmlns:a16="http://schemas.microsoft.com/office/drawing/2014/main" id="{9BEED4B4-FC57-4F07-8A02-A9E88568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091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1" name="text-482">
            <a:extLst xmlns:a="http://schemas.openxmlformats.org/drawingml/2006/main">
              <a:ext uri="{FF2B5EF4-FFF2-40B4-BE49-F238E27FC236}">
                <a16:creationId xmlns:a16="http://schemas.microsoft.com/office/drawing/2014/main" id="{4169D2F5-D0D6-42D8-8595-6782B92B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521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Proof detail</a:t>
            </a:r>
          </a:p>
        </p:txBody>
      </p:sp>
      <p:sp>
        <p:nvSpPr>
          <p:cNvPr id="22" name="rect-483">
            <a:extLst xmlns:a="http://schemas.openxmlformats.org/drawingml/2006/main">
              <a:ext uri="{FF2B5EF4-FFF2-40B4-BE49-F238E27FC236}">
                <a16:creationId xmlns:a16="http://schemas.microsoft.com/office/drawing/2014/main" id="{33330689-8C7F-4456-AC00-FA676FBD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66331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484">
            <a:extLst xmlns:a="http://schemas.openxmlformats.org/drawingml/2006/main">
              <a:ext uri="{FF2B5EF4-FFF2-40B4-BE49-F238E27FC236}">
                <a16:creationId xmlns:a16="http://schemas.microsoft.com/office/drawing/2014/main" id="{2CAB4BF1-73A6-419A-875D-208CE41E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569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Summary + redacted files</a:t>
            </a:r>
          </a:p>
        </p:txBody>
      </p:sp>
      <p:sp>
        <p:nvSpPr>
          <p:cNvPr id="24" name="text-485">
            <a:extLst xmlns:a="http://schemas.openxmlformats.org/drawingml/2006/main">
              <a:ext uri="{FF2B5EF4-FFF2-40B4-BE49-F238E27FC236}">
                <a16:creationId xmlns:a16="http://schemas.microsoft.com/office/drawing/2014/main" id="{93C840E3-F44C-40DE-9D0E-3F22BFE1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569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Summaries only  ·  Files only</a:t>
            </a:r>
          </a:p>
        </p:txBody>
      </p:sp>
      <p:sp>
        <p:nvSpPr>
          <p:cNvPr id="25" name="line-486">
            <a:extLst xmlns:a="http://schemas.openxmlformats.org/drawingml/2006/main">
              <a:ext uri="{FF2B5EF4-FFF2-40B4-BE49-F238E27FC236}">
                <a16:creationId xmlns:a16="http://schemas.microsoft.com/office/drawing/2014/main" id="{4763D44E-8738-4E2C-AE4E-B1EF27A8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388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6" name="text-487">
            <a:extLst xmlns:a="http://schemas.openxmlformats.org/drawingml/2006/main">
              <a:ext uri="{FF2B5EF4-FFF2-40B4-BE49-F238E27FC236}">
                <a16:creationId xmlns:a16="http://schemas.microsoft.com/office/drawing/2014/main" id="{2B53E917-9C9F-4F26-84FF-98EFDF88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818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Code source</a:t>
            </a:r>
          </a:p>
        </p:txBody>
      </p:sp>
      <p:sp>
        <p:nvSpPr>
          <p:cNvPr id="27" name="rect-488">
            <a:extLst xmlns:a="http://schemas.openxmlformats.org/drawingml/2006/main">
              <a:ext uri="{FF2B5EF4-FFF2-40B4-BE49-F238E27FC236}">
                <a16:creationId xmlns:a16="http://schemas.microsoft.com/office/drawing/2014/main" id="{64C370C4-497A-4E52-9EFE-21406171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56628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489">
            <a:extLst xmlns:a="http://schemas.openxmlformats.org/drawingml/2006/main">
              <a:ext uri="{FF2B5EF4-FFF2-40B4-BE49-F238E27FC236}">
                <a16:creationId xmlns:a16="http://schemas.microsoft.com/office/drawing/2014/main" id="{6F4BF718-EBB5-4745-B25F-EC8CA253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1866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Generate internally</a:t>
            </a:r>
          </a:p>
        </p:txBody>
      </p:sp>
      <p:sp>
        <p:nvSpPr>
          <p:cNvPr id="29" name="text-490">
            <a:extLst xmlns:a="http://schemas.openxmlformats.org/drawingml/2006/main">
              <a:ext uri="{FF2B5EF4-FFF2-40B4-BE49-F238E27FC236}">
                <a16:creationId xmlns:a16="http://schemas.microsoft.com/office/drawing/2014/main" id="{2938A669-D01D-4FB7-B1D0-98821308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866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Import vendor codes  ·  Third-party platform</a:t>
            </a:r>
          </a:p>
        </p:txBody>
      </p:sp>
      <p:sp>
        <p:nvSpPr>
          <p:cNvPr id="30" name="line-491">
            <a:extLst xmlns:a="http://schemas.openxmlformats.org/drawingml/2006/main">
              <a:ext uri="{FF2B5EF4-FFF2-40B4-BE49-F238E27FC236}">
                <a16:creationId xmlns:a16="http://schemas.microsoft.com/office/drawing/2014/main" id="{24909308-3D90-4DE4-AEA6-87515F94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685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1" name="text-492">
            <a:extLst xmlns:a="http://schemas.openxmlformats.org/drawingml/2006/main">
              <a:ext uri="{FF2B5EF4-FFF2-40B4-BE49-F238E27FC236}">
                <a16:creationId xmlns:a16="http://schemas.microsoft.com/office/drawing/2014/main" id="{1BEE5E26-7907-4C9F-9B85-53826A6B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115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Safety cases</a:t>
            </a:r>
          </a:p>
        </p:txBody>
      </p:sp>
      <p:sp>
        <p:nvSpPr>
          <p:cNvPr id="32" name="rect-493">
            <a:extLst xmlns:a="http://schemas.openxmlformats.org/drawingml/2006/main">
              <a:ext uri="{FF2B5EF4-FFF2-40B4-BE49-F238E27FC236}">
                <a16:creationId xmlns:a16="http://schemas.microsoft.com/office/drawing/2014/main" id="{22826240-1D31-453F-91E4-CAAD07BE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546925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494">
            <a:extLst xmlns:a="http://schemas.openxmlformats.org/drawingml/2006/main">
              <a:ext uri="{FF2B5EF4-FFF2-40B4-BE49-F238E27FC236}">
                <a16:creationId xmlns:a16="http://schemas.microsoft.com/office/drawing/2014/main" id="{9B9954C0-58FE-4E64-8913-FC8DBE34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2163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Dedicated escalation</a:t>
            </a:r>
          </a:p>
        </p:txBody>
      </p:sp>
      <p:sp>
        <p:nvSpPr>
          <p:cNvPr id="34" name="text-495">
            <a:extLst xmlns:a="http://schemas.openxmlformats.org/drawingml/2006/main">
              <a:ext uri="{FF2B5EF4-FFF2-40B4-BE49-F238E27FC236}">
                <a16:creationId xmlns:a16="http://schemas.microsoft.com/office/drawing/2014/main" id="{F9CDF631-8525-4006-84CB-492B3B64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2163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Normal support  ·  External channel</a:t>
            </a:r>
          </a:p>
        </p:txBody>
      </p:sp>
    </p:spTree>
    <p:extLst>
      <p:ext uri="{BB962C8B-B14F-4D97-AF65-F5344CB8AC3E}">
        <p14:creationId xmlns:p14="http://schemas.microsoft.com/office/powerpoint/2010/main" val="6238708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ec6e3332c4f0e"/>
          <a:stretch xmlns:a="http://schemas.openxmlformats.org/drawingml/2006/main"/>
        </p:blipFill>
        <p:spPr>
          <a:xfrm xmlns:a="http://schemas.openxmlformats.org/drawingml/2006/main">
            <a:off x="11049000" y="235598"/>
            <a:ext cx="457200" cy="443204"/>
          </a:xfrm>
          <a:prstGeom xmlns:a="http://schemas.openxmlformats.org/drawingml/2006/main" prst="rect">
            <a:avLst/>
          </a:prstGeom>
        </p:spPr>
      </p:pic>
      <p:sp>
        <p:nvSpPr>
          <p:cNvPr id="2" name="text-496">
            <a:extLst xmlns:a="http://schemas.openxmlformats.org/drawingml/2006/main">
              <a:ext uri="{FF2B5EF4-FFF2-40B4-BE49-F238E27FC236}">
                <a16:creationId xmlns:a16="http://schemas.microsoft.com/office/drawing/2014/main" id="{91BB8CCA-875C-4772-A2DE-A856202B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RECORD</a:t>
            </a:r>
          </a:p>
        </p:txBody>
      </p:sp>
      <p:sp>
        <p:nvSpPr>
          <p:cNvPr id="3" name="text-497">
            <a:extLst xmlns:a="http://schemas.openxmlformats.org/drawingml/2006/main">
              <a:ext uri="{FF2B5EF4-FFF2-40B4-BE49-F238E27FC236}">
                <a16:creationId xmlns:a16="http://schemas.microsoft.com/office/drawing/2014/main" id="{9C48E726-3BD8-48BD-A982-AF971B5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Service &amp; education</a:t>
            </a:r>
          </a:p>
        </p:txBody>
      </p:sp>
      <p:sp>
        <p:nvSpPr>
          <p:cNvPr id="4" name="rect-498">
            <a:extLst xmlns:a="http://schemas.openxmlformats.org/drawingml/2006/main">
              <a:ext uri="{FF2B5EF4-FFF2-40B4-BE49-F238E27FC236}">
                <a16:creationId xmlns:a16="http://schemas.microsoft.com/office/drawing/2014/main" id="{C1C057FF-9581-403C-8BCA-CBFDDA91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304925"/>
            <a:ext cx="1085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99">
            <a:extLst xmlns:a="http://schemas.openxmlformats.org/drawingml/2006/main">
              <a:ext uri="{FF2B5EF4-FFF2-40B4-BE49-F238E27FC236}">
                <a16:creationId xmlns:a16="http://schemas.microsoft.com/office/drawing/2014/main" id="{41F8386D-CC0F-4076-902A-BE8CB778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</a:t>
            </a:r>
          </a:p>
        </p:txBody>
      </p:sp>
      <p:sp>
        <p:nvSpPr>
          <p:cNvPr id="6" name="text-500">
            <a:extLst xmlns:a="http://schemas.openxmlformats.org/drawingml/2006/main">
              <a:ext uri="{FF2B5EF4-FFF2-40B4-BE49-F238E27FC236}">
                <a16:creationId xmlns:a16="http://schemas.microsoft.com/office/drawing/2014/main" id="{6D0CAFB6-38EA-4620-A02E-B348741B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57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rPr>
              <a:t>CHOSEN</a:t>
            </a:r>
          </a:p>
        </p:txBody>
      </p:sp>
      <p:sp>
        <p:nvSpPr>
          <p:cNvPr id="7" name="text-501">
            <a:extLst xmlns:a="http://schemas.openxmlformats.org/drawingml/2006/main">
              <a:ext uri="{FF2B5EF4-FFF2-40B4-BE49-F238E27FC236}">
                <a16:creationId xmlns:a16="http://schemas.microsoft.com/office/drawing/2014/main" id="{960B507E-113A-4C5F-A4D4-A28763DD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573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ALTERNATIVES NOT SELECTED</a:t>
            </a:r>
          </a:p>
        </p:txBody>
      </p:sp>
      <p:sp>
        <p:nvSpPr>
          <p:cNvPr id="8" name="line-502">
            <a:extLst xmlns:a="http://schemas.openxmlformats.org/drawingml/2006/main">
              <a:ext uri="{FF2B5EF4-FFF2-40B4-BE49-F238E27FC236}">
                <a16:creationId xmlns:a16="http://schemas.microsoft.com/office/drawing/2014/main" id="{055195A5-0682-40C4-9D03-B17455D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9" name="text-503">
            <a:extLst xmlns:a="http://schemas.openxmlformats.org/drawingml/2006/main">
              <a:ext uri="{FF2B5EF4-FFF2-40B4-BE49-F238E27FC236}">
                <a16:creationId xmlns:a16="http://schemas.microsoft.com/office/drawing/2014/main" id="{FA3FADC9-AC31-4314-A8F7-A0CB558C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APPENDIX</a:t>
            </a:r>
          </a:p>
        </p:txBody>
      </p:sp>
      <p:sp>
        <p:nvSpPr>
          <p:cNvPr id="10" name="text-504">
            <a:extLst xmlns:a="http://schemas.openxmlformats.org/drawingml/2006/main">
              <a:ext uri="{FF2B5EF4-FFF2-40B4-BE49-F238E27FC236}">
                <a16:creationId xmlns:a16="http://schemas.microsoft.com/office/drawing/2014/main" id="{C13B0A14-57B1-4C69-BBEF-EF4A62DA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19</a:t>
            </a:r>
          </a:p>
        </p:txBody>
      </p:sp>
      <p:sp>
        <p:nvSpPr>
          <p:cNvPr id="11" name="text-505">
            <a:extLst xmlns:a="http://schemas.openxmlformats.org/drawingml/2006/main">
              <a:ext uri="{FF2B5EF4-FFF2-40B4-BE49-F238E27FC236}">
                <a16:creationId xmlns:a16="http://schemas.microsoft.com/office/drawing/2014/main" id="{0746A8E1-C8A1-47CD-833D-D9E90CD1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Support</a:t>
            </a:r>
          </a:p>
        </p:txBody>
      </p:sp>
      <p:sp>
        <p:nvSpPr>
          <p:cNvPr id="12" name="rect-506">
            <a:extLst xmlns:a="http://schemas.openxmlformats.org/drawingml/2006/main">
              <a:ext uri="{FF2B5EF4-FFF2-40B4-BE49-F238E27FC236}">
                <a16:creationId xmlns:a16="http://schemas.microsoft.com/office/drawing/2014/main" id="{D5DB1640-39AC-4678-BE62-C673516F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185737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507">
            <a:extLst xmlns:a="http://schemas.openxmlformats.org/drawingml/2006/main">
              <a:ext uri="{FF2B5EF4-FFF2-40B4-BE49-F238E27FC236}">
                <a16:creationId xmlns:a16="http://schemas.microsoft.com/office/drawing/2014/main" id="{57218C2E-F515-4886-B675-34CA3DBC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Unified case inbox</a:t>
            </a:r>
          </a:p>
        </p:txBody>
      </p:sp>
      <p:sp>
        <p:nvSpPr>
          <p:cNvPr id="14" name="text-508">
            <a:extLst xmlns:a="http://schemas.openxmlformats.org/drawingml/2006/main">
              <a:ext uri="{FF2B5EF4-FFF2-40B4-BE49-F238E27FC236}">
                <a16:creationId xmlns:a16="http://schemas.microsoft.com/office/drawing/2014/main" id="{C3DC3BB5-363B-4626-9993-E0A235BC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WhatsApp primary  ·  External helpdesk</a:t>
            </a:r>
          </a:p>
        </p:txBody>
      </p:sp>
      <p:sp>
        <p:nvSpPr>
          <p:cNvPr id="15" name="line-509">
            <a:extLst xmlns:a="http://schemas.openxmlformats.org/drawingml/2006/main">
              <a:ext uri="{FF2B5EF4-FFF2-40B4-BE49-F238E27FC236}">
                <a16:creationId xmlns:a16="http://schemas.microsoft.com/office/drawing/2014/main" id="{D64B06DB-033E-4571-ADC0-22365E73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794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6" name="text-510">
            <a:extLst xmlns:a="http://schemas.openxmlformats.org/drawingml/2006/main">
              <a:ext uri="{FF2B5EF4-FFF2-40B4-BE49-F238E27FC236}">
                <a16:creationId xmlns:a16="http://schemas.microsoft.com/office/drawing/2014/main" id="{5C569DF7-87D6-48F5-BA63-44DBB65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224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Returns flow</a:t>
            </a:r>
          </a:p>
        </p:txBody>
      </p:sp>
      <p:sp>
        <p:nvSpPr>
          <p:cNvPr id="17" name="rect-511">
            <a:extLst xmlns:a="http://schemas.openxmlformats.org/drawingml/2006/main">
              <a:ext uri="{FF2B5EF4-FFF2-40B4-BE49-F238E27FC236}">
                <a16:creationId xmlns:a16="http://schemas.microsoft.com/office/drawing/2014/main" id="{F38A24C7-6287-44F1-9596-239B8C12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276034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512">
            <a:extLst xmlns:a="http://schemas.openxmlformats.org/drawingml/2006/main">
              <a:ext uri="{FF2B5EF4-FFF2-40B4-BE49-F238E27FC236}">
                <a16:creationId xmlns:a16="http://schemas.microsoft.com/office/drawing/2014/main" id="{49669CFA-0FC3-406F-96AF-7AD52962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1272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Support-managed</a:t>
            </a:r>
          </a:p>
        </p:txBody>
      </p:sp>
      <p:sp>
        <p:nvSpPr>
          <p:cNvPr id="19" name="text-513">
            <a:extLst xmlns:a="http://schemas.openxmlformats.org/drawingml/2006/main">
              <a:ext uri="{FF2B5EF4-FFF2-40B4-BE49-F238E27FC236}">
                <a16:creationId xmlns:a16="http://schemas.microsoft.com/office/drawing/2014/main" id="{6087506C-E010-471D-ADB6-108AAF18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272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Self-service request  ·  Automatic returns</a:t>
            </a:r>
          </a:p>
        </p:txBody>
      </p:sp>
      <p:sp>
        <p:nvSpPr>
          <p:cNvPr id="20" name="line-514">
            <a:extLst xmlns:a="http://schemas.openxmlformats.org/drawingml/2006/main">
              <a:ext uri="{FF2B5EF4-FFF2-40B4-BE49-F238E27FC236}">
                <a16:creationId xmlns:a16="http://schemas.microsoft.com/office/drawing/2014/main" id="{BD3BA9D5-9067-4F39-9765-95D54D48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091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1" name="text-515">
            <a:extLst xmlns:a="http://schemas.openxmlformats.org/drawingml/2006/main">
              <a:ext uri="{FF2B5EF4-FFF2-40B4-BE49-F238E27FC236}">
                <a16:creationId xmlns:a16="http://schemas.microsoft.com/office/drawing/2014/main" id="{2B0C02CE-9E08-4333-A0F1-8FF38B27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521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Eligibility</a:t>
            </a:r>
          </a:p>
        </p:txBody>
      </p:sp>
      <p:sp>
        <p:nvSpPr>
          <p:cNvPr id="22" name="rect-516">
            <a:extLst xmlns:a="http://schemas.openxmlformats.org/drawingml/2006/main">
              <a:ext uri="{FF2B5EF4-FFF2-40B4-BE49-F238E27FC236}">
                <a16:creationId xmlns:a16="http://schemas.microsoft.com/office/drawing/2014/main" id="{0518B52F-FFE8-4704-8CE1-C4197B84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66331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517">
            <a:extLst xmlns:a="http://schemas.openxmlformats.org/drawingml/2006/main">
              <a:ext uri="{FF2B5EF4-FFF2-40B4-BE49-F238E27FC236}">
                <a16:creationId xmlns:a16="http://schemas.microsoft.com/office/drawing/2014/main" id="{6C827EB8-0235-4BF5-B108-56442BA9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569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Issue-based only</a:t>
            </a:r>
          </a:p>
        </p:txBody>
      </p:sp>
      <p:sp>
        <p:nvSpPr>
          <p:cNvPr id="24" name="text-518">
            <a:extLst xmlns:a="http://schemas.openxmlformats.org/drawingml/2006/main">
              <a:ext uri="{FF2B5EF4-FFF2-40B4-BE49-F238E27FC236}">
                <a16:creationId xmlns:a16="http://schemas.microsoft.com/office/drawing/2014/main" id="{CF9B1B43-DF7C-48EE-ADB7-2DE7E1CE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569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Unopened returns  ·  Case by case</a:t>
            </a:r>
          </a:p>
        </p:txBody>
      </p:sp>
      <p:sp>
        <p:nvSpPr>
          <p:cNvPr id="25" name="line-519">
            <a:extLst xmlns:a="http://schemas.openxmlformats.org/drawingml/2006/main">
              <a:ext uri="{FF2B5EF4-FFF2-40B4-BE49-F238E27FC236}">
                <a16:creationId xmlns:a16="http://schemas.microsoft.com/office/drawing/2014/main" id="{975B2D10-812C-4CAA-88A2-E14B1735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388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6" name="text-520">
            <a:extLst xmlns:a="http://schemas.openxmlformats.org/drawingml/2006/main">
              <a:ext uri="{FF2B5EF4-FFF2-40B4-BE49-F238E27FC236}">
                <a16:creationId xmlns:a16="http://schemas.microsoft.com/office/drawing/2014/main" id="{E3764A94-3BF5-4B3F-B67C-AE6D551B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818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Cancellation</a:t>
            </a:r>
          </a:p>
        </p:txBody>
      </p:sp>
      <p:sp>
        <p:nvSpPr>
          <p:cNvPr id="27" name="rect-521">
            <a:extLst xmlns:a="http://schemas.openxmlformats.org/drawingml/2006/main">
              <a:ext uri="{FF2B5EF4-FFF2-40B4-BE49-F238E27FC236}">
                <a16:creationId xmlns:a16="http://schemas.microsoft.com/office/drawing/2014/main" id="{0D338720-F32F-44D4-A5A2-02C40BBC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56628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522">
            <a:extLst xmlns:a="http://schemas.openxmlformats.org/drawingml/2006/main">
              <a:ext uri="{FF2B5EF4-FFF2-40B4-BE49-F238E27FC236}">
                <a16:creationId xmlns:a16="http://schemas.microsoft.com/office/drawing/2014/main" id="{6112A254-4374-4103-8581-2E2F8E9B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1866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Support approval only</a:t>
            </a:r>
          </a:p>
        </p:txBody>
      </p:sp>
      <p:sp>
        <p:nvSpPr>
          <p:cNvPr id="29" name="text-523">
            <a:extLst xmlns:a="http://schemas.openxmlformats.org/drawingml/2006/main">
              <a:ext uri="{FF2B5EF4-FFF2-40B4-BE49-F238E27FC236}">
                <a16:creationId xmlns:a16="http://schemas.microsoft.com/office/drawing/2014/main" id="{BD68C7AA-56C4-413B-8FDC-C9DA8569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866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Self-cancel before fulfilment  ·  No cancellation</a:t>
            </a:r>
          </a:p>
        </p:txBody>
      </p:sp>
      <p:sp>
        <p:nvSpPr>
          <p:cNvPr id="30" name="line-524">
            <a:extLst xmlns:a="http://schemas.openxmlformats.org/drawingml/2006/main">
              <a:ext uri="{FF2B5EF4-FFF2-40B4-BE49-F238E27FC236}">
                <a16:creationId xmlns:a16="http://schemas.microsoft.com/office/drawing/2014/main" id="{BC800592-D901-49B0-93E5-6779C25B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685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1" name="text-525">
            <a:extLst xmlns:a="http://schemas.openxmlformats.org/drawingml/2006/main">
              <a:ext uri="{FF2B5EF4-FFF2-40B4-BE49-F238E27FC236}">
                <a16:creationId xmlns:a16="http://schemas.microsoft.com/office/drawing/2014/main" id="{D0CEA7E5-64BC-4DC6-AC80-89BE88B2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115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Education</a:t>
            </a:r>
          </a:p>
        </p:txBody>
      </p:sp>
      <p:sp>
        <p:nvSpPr>
          <p:cNvPr id="32" name="rect-526">
            <a:extLst xmlns:a="http://schemas.openxmlformats.org/drawingml/2006/main">
              <a:ext uri="{FF2B5EF4-FFF2-40B4-BE49-F238E27FC236}">
                <a16:creationId xmlns:a16="http://schemas.microsoft.com/office/drawing/2014/main" id="{ED017767-0462-4304-B5A7-B302D5B7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546925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527">
            <a:extLst xmlns:a="http://schemas.openxmlformats.org/drawingml/2006/main">
              <a:ext uri="{FF2B5EF4-FFF2-40B4-BE49-F238E27FC236}">
                <a16:creationId xmlns:a16="http://schemas.microsoft.com/office/drawing/2014/main" id="{457A8875-2A08-477D-9F0F-8614B04B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2163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Ingredient + proof library</a:t>
            </a:r>
          </a:p>
        </p:txBody>
      </p:sp>
      <p:sp>
        <p:nvSpPr>
          <p:cNvPr id="34" name="text-528">
            <a:extLst xmlns:a="http://schemas.openxmlformats.org/drawingml/2006/main">
              <a:ext uri="{FF2B5EF4-FFF2-40B4-BE49-F238E27FC236}">
                <a16:creationId xmlns:a16="http://schemas.microsoft.com/office/drawing/2014/main" id="{84FD4DAC-9B0D-4928-9411-1B0F1305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2163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Full editorial hub  ·  PDP education only</a:t>
            </a:r>
          </a:p>
        </p:txBody>
      </p:sp>
    </p:spTree>
    <p:extLst>
      <p:ext uri="{BB962C8B-B14F-4D97-AF65-F5344CB8AC3E}">
        <p14:creationId xmlns:p14="http://schemas.microsoft.com/office/powerpoint/2010/main" val="11449830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2ed498d6046cb"/>
          <a:stretch xmlns:a="http://schemas.openxmlformats.org/drawingml/2006/main"/>
        </p:blipFill>
        <p:spPr>
          <a:xfrm xmlns:a="http://schemas.openxmlformats.org/drawingml/2006/main">
            <a:off x="11049000" y="235598"/>
            <a:ext cx="457200" cy="443204"/>
          </a:xfrm>
          <a:prstGeom xmlns:a="http://schemas.openxmlformats.org/drawingml/2006/main" prst="rect">
            <a:avLst/>
          </a:prstGeom>
        </p:spPr>
      </p:pic>
      <p:sp>
        <p:nvSpPr>
          <p:cNvPr id="2" name="text-529">
            <a:extLst xmlns:a="http://schemas.openxmlformats.org/drawingml/2006/main">
              <a:ext uri="{FF2B5EF4-FFF2-40B4-BE49-F238E27FC236}">
                <a16:creationId xmlns:a16="http://schemas.microsoft.com/office/drawing/2014/main" id="{D5EF6A39-ACA7-48A3-9654-E3080EFB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RECORD</a:t>
            </a:r>
          </a:p>
        </p:txBody>
      </p:sp>
      <p:sp>
        <p:nvSpPr>
          <p:cNvPr id="3" name="text-530">
            <a:extLst xmlns:a="http://schemas.openxmlformats.org/drawingml/2006/main">
              <a:ext uri="{FF2B5EF4-FFF2-40B4-BE49-F238E27FC236}">
                <a16:creationId xmlns:a16="http://schemas.microsoft.com/office/drawing/2014/main" id="{663E6662-3568-4168-AF23-857AAD4A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Administration &amp; governance</a:t>
            </a:r>
          </a:p>
        </p:txBody>
      </p:sp>
      <p:sp>
        <p:nvSpPr>
          <p:cNvPr id="4" name="rect-531">
            <a:extLst xmlns:a="http://schemas.openxmlformats.org/drawingml/2006/main">
              <a:ext uri="{FF2B5EF4-FFF2-40B4-BE49-F238E27FC236}">
                <a16:creationId xmlns:a16="http://schemas.microsoft.com/office/drawing/2014/main" id="{51464924-7212-46BD-992D-B06F2840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304925"/>
            <a:ext cx="1085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532">
            <a:extLst xmlns:a="http://schemas.openxmlformats.org/drawingml/2006/main">
              <a:ext uri="{FF2B5EF4-FFF2-40B4-BE49-F238E27FC236}">
                <a16:creationId xmlns:a16="http://schemas.microsoft.com/office/drawing/2014/main" id="{71255ED5-4FB5-4C20-8992-63414E5C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</a:t>
            </a:r>
          </a:p>
        </p:txBody>
      </p:sp>
      <p:sp>
        <p:nvSpPr>
          <p:cNvPr id="6" name="text-533">
            <a:extLst xmlns:a="http://schemas.openxmlformats.org/drawingml/2006/main">
              <a:ext uri="{FF2B5EF4-FFF2-40B4-BE49-F238E27FC236}">
                <a16:creationId xmlns:a16="http://schemas.microsoft.com/office/drawing/2014/main" id="{861EA460-EE1A-4AC4-9EE3-A011F55E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57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rPr>
              <a:t>CHOSEN</a:t>
            </a:r>
          </a:p>
        </p:txBody>
      </p:sp>
      <p:sp>
        <p:nvSpPr>
          <p:cNvPr id="7" name="text-534">
            <a:extLst xmlns:a="http://schemas.openxmlformats.org/drawingml/2006/main">
              <a:ext uri="{FF2B5EF4-FFF2-40B4-BE49-F238E27FC236}">
                <a16:creationId xmlns:a16="http://schemas.microsoft.com/office/drawing/2014/main" id="{CF16ABF3-41D5-4F98-A50F-245D181F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573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ALTERNATIVES NOT SELECTED</a:t>
            </a:r>
          </a:p>
        </p:txBody>
      </p:sp>
      <p:sp>
        <p:nvSpPr>
          <p:cNvPr id="8" name="line-535">
            <a:extLst xmlns:a="http://schemas.openxmlformats.org/drawingml/2006/main">
              <a:ext uri="{FF2B5EF4-FFF2-40B4-BE49-F238E27FC236}">
                <a16:creationId xmlns:a16="http://schemas.microsoft.com/office/drawing/2014/main" id="{FA0E9AB9-B6B7-45B0-B347-379F927E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9" name="text-536">
            <a:extLst xmlns:a="http://schemas.openxmlformats.org/drawingml/2006/main">
              <a:ext uri="{FF2B5EF4-FFF2-40B4-BE49-F238E27FC236}">
                <a16:creationId xmlns:a16="http://schemas.microsoft.com/office/drawing/2014/main" id="{C61AC6F9-9ED0-45F2-B35D-A37FEE0F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APPENDIX</a:t>
            </a:r>
          </a:p>
        </p:txBody>
      </p:sp>
      <p:sp>
        <p:nvSpPr>
          <p:cNvPr id="10" name="text-537">
            <a:extLst xmlns:a="http://schemas.openxmlformats.org/drawingml/2006/main">
              <a:ext uri="{FF2B5EF4-FFF2-40B4-BE49-F238E27FC236}">
                <a16:creationId xmlns:a16="http://schemas.microsoft.com/office/drawing/2014/main" id="{B1D77AFB-24AF-4A82-9114-1EF86DAD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20</a:t>
            </a:r>
          </a:p>
        </p:txBody>
      </p:sp>
      <p:sp>
        <p:nvSpPr>
          <p:cNvPr id="11" name="text-538">
            <a:extLst xmlns:a="http://schemas.openxmlformats.org/drawingml/2006/main">
              <a:ext uri="{FF2B5EF4-FFF2-40B4-BE49-F238E27FC236}">
                <a16:creationId xmlns:a16="http://schemas.microsoft.com/office/drawing/2014/main" id="{92DB58C9-A7D8-4D93-B9D4-6993A4A9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Admin scope</a:t>
            </a:r>
          </a:p>
        </p:txBody>
      </p:sp>
      <p:sp>
        <p:nvSpPr>
          <p:cNvPr id="12" name="rect-539">
            <a:extLst xmlns:a="http://schemas.openxmlformats.org/drawingml/2006/main">
              <a:ext uri="{FF2B5EF4-FFF2-40B4-BE49-F238E27FC236}">
                <a16:creationId xmlns:a16="http://schemas.microsoft.com/office/drawing/2014/main" id="{E4DA2E45-C3D7-406B-95B3-27998405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1857375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540">
            <a:extLst xmlns:a="http://schemas.openxmlformats.org/drawingml/2006/main">
              <a:ext uri="{FF2B5EF4-FFF2-40B4-BE49-F238E27FC236}">
                <a16:creationId xmlns:a16="http://schemas.microsoft.com/office/drawing/2014/main" id="{AA14D839-5CD1-4EAE-B1E2-EEDCC62F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Full operational core</a:t>
            </a:r>
          </a:p>
        </p:txBody>
      </p:sp>
      <p:sp>
        <p:nvSpPr>
          <p:cNvPr id="14" name="text-541">
            <a:extLst xmlns:a="http://schemas.openxmlformats.org/drawingml/2006/main">
              <a:ext uri="{FF2B5EF4-FFF2-40B4-BE49-F238E27FC236}">
                <a16:creationId xmlns:a16="http://schemas.microsoft.com/office/drawing/2014/main" id="{A859692B-3D51-4AF2-AAE3-53DC6F0B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Orders + fulfilment  ·  Vendor dashboards</a:t>
            </a:r>
          </a:p>
        </p:txBody>
      </p:sp>
      <p:sp>
        <p:nvSpPr>
          <p:cNvPr id="15" name="line-542">
            <a:extLst xmlns:a="http://schemas.openxmlformats.org/drawingml/2006/main">
              <a:ext uri="{FF2B5EF4-FFF2-40B4-BE49-F238E27FC236}">
                <a16:creationId xmlns:a16="http://schemas.microsoft.com/office/drawing/2014/main" id="{83461170-9B2C-424D-90B1-C0326843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6" name="text-543">
            <a:extLst xmlns:a="http://schemas.openxmlformats.org/drawingml/2006/main">
              <a:ext uri="{FF2B5EF4-FFF2-40B4-BE49-F238E27FC236}">
                <a16:creationId xmlns:a16="http://schemas.microsoft.com/office/drawing/2014/main" id="{3D9CB238-AD12-4DFD-B599-697CEC6F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Inventory authority</a:t>
            </a:r>
          </a:p>
        </p:txBody>
      </p:sp>
      <p:sp>
        <p:nvSpPr>
          <p:cNvPr id="17" name="rect-544">
            <a:extLst xmlns:a="http://schemas.openxmlformats.org/drawingml/2006/main">
              <a:ext uri="{FF2B5EF4-FFF2-40B4-BE49-F238E27FC236}">
                <a16:creationId xmlns:a16="http://schemas.microsoft.com/office/drawing/2014/main" id="{3228F23D-8F04-428E-A13E-AF52C3AE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2609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545">
            <a:extLst xmlns:a="http://schemas.openxmlformats.org/drawingml/2006/main">
              <a:ext uri="{FF2B5EF4-FFF2-40B4-BE49-F238E27FC236}">
                <a16:creationId xmlns:a16="http://schemas.microsoft.com/office/drawing/2014/main" id="{DC3AB5D4-F690-4319-8C69-BCD374DA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Internal inventory ledger</a:t>
            </a:r>
          </a:p>
        </p:txBody>
      </p:sp>
      <p:sp>
        <p:nvSpPr>
          <p:cNvPr id="19" name="text-546">
            <a:extLst xmlns:a="http://schemas.openxmlformats.org/drawingml/2006/main">
              <a:ext uri="{FF2B5EF4-FFF2-40B4-BE49-F238E27FC236}">
                <a16:creationId xmlns:a16="http://schemas.microsoft.com/office/drawing/2014/main" id="{7B65ECB9-DFFE-4BFE-BFE0-E20588C8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62225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Shipping warehouse  ·  Manual quantities</a:t>
            </a:r>
          </a:p>
        </p:txBody>
      </p:sp>
      <p:sp>
        <p:nvSpPr>
          <p:cNvPr id="20" name="line-547">
            <a:extLst xmlns:a="http://schemas.openxmlformats.org/drawingml/2006/main">
              <a:ext uri="{FF2B5EF4-FFF2-40B4-BE49-F238E27FC236}">
                <a16:creationId xmlns:a16="http://schemas.microsoft.com/office/drawing/2014/main" id="{EC5F0DFA-4D64-44CD-AA52-A825D8AC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1" name="text-548">
            <a:extLst xmlns:a="http://schemas.openxmlformats.org/drawingml/2006/main">
              <a:ext uri="{FF2B5EF4-FFF2-40B4-BE49-F238E27FC236}">
                <a16:creationId xmlns:a16="http://schemas.microsoft.com/office/drawing/2014/main" id="{DC63114C-DE2C-4850-B18A-4241351C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Access roles</a:t>
            </a:r>
          </a:p>
        </p:txBody>
      </p:sp>
      <p:sp>
        <p:nvSpPr>
          <p:cNvPr id="22" name="rect-549">
            <a:extLst xmlns:a="http://schemas.openxmlformats.org/drawingml/2006/main">
              <a:ext uri="{FF2B5EF4-FFF2-40B4-BE49-F238E27FC236}">
                <a16:creationId xmlns:a16="http://schemas.microsoft.com/office/drawing/2014/main" id="{6BC5F611-6B9E-4987-9A07-97D48A8F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362325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550">
            <a:extLst xmlns:a="http://schemas.openxmlformats.org/drawingml/2006/main">
              <a:ext uri="{FF2B5EF4-FFF2-40B4-BE49-F238E27FC236}">
                <a16:creationId xmlns:a16="http://schemas.microsoft.com/office/drawing/2014/main" id="{BFAA6EA0-9164-4EEF-BB6A-EBAC2DBD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14700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Admin + Viewer</a:t>
            </a:r>
          </a:p>
        </p:txBody>
      </p:sp>
      <p:sp>
        <p:nvSpPr>
          <p:cNvPr id="24" name="text-551">
            <a:extLst xmlns:a="http://schemas.openxmlformats.org/drawingml/2006/main">
              <a:ext uri="{FF2B5EF4-FFF2-40B4-BE49-F238E27FC236}">
                <a16:creationId xmlns:a16="http://schemas.microsoft.com/office/drawing/2014/main" id="{CE22CBE3-9208-4FAE-8F5B-723C9F31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Named functional roles  ·  Fully custom roles</a:t>
            </a:r>
          </a:p>
        </p:txBody>
      </p:sp>
      <p:sp>
        <p:nvSpPr>
          <p:cNvPr id="25" name="line-552">
            <a:extLst xmlns:a="http://schemas.openxmlformats.org/drawingml/2006/main">
              <a:ext uri="{FF2B5EF4-FFF2-40B4-BE49-F238E27FC236}">
                <a16:creationId xmlns:a16="http://schemas.microsoft.com/office/drawing/2014/main" id="{2E53F280-E9DC-40A5-914B-6126C136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6" name="text-553">
            <a:extLst xmlns:a="http://schemas.openxmlformats.org/drawingml/2006/main">
              <a:ext uri="{FF2B5EF4-FFF2-40B4-BE49-F238E27FC236}">
                <a16:creationId xmlns:a16="http://schemas.microsoft.com/office/drawing/2014/main" id="{48BDC83F-BC43-437F-87B7-5D497174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Approval coverage</a:t>
            </a:r>
          </a:p>
        </p:txBody>
      </p:sp>
      <p:sp>
        <p:nvSpPr>
          <p:cNvPr id="27" name="rect-554">
            <a:extLst xmlns:a="http://schemas.openxmlformats.org/drawingml/2006/main">
              <a:ext uri="{FF2B5EF4-FFF2-40B4-BE49-F238E27FC236}">
                <a16:creationId xmlns:a16="http://schemas.microsoft.com/office/drawing/2014/main" id="{FDB5F7F5-1C5C-437F-9A06-EA75AFEC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1148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555">
            <a:extLst xmlns:a="http://schemas.openxmlformats.org/drawingml/2006/main">
              <a:ext uri="{FF2B5EF4-FFF2-40B4-BE49-F238E27FC236}">
                <a16:creationId xmlns:a16="http://schemas.microsoft.com/office/drawing/2014/main" id="{75C573D0-7FCE-4460-A3FE-A98F4093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67175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All critical changes</a:t>
            </a:r>
          </a:p>
        </p:txBody>
      </p:sp>
      <p:sp>
        <p:nvSpPr>
          <p:cNvPr id="29" name="text-556">
            <a:extLst xmlns:a="http://schemas.openxmlformats.org/drawingml/2006/main">
              <a:ext uri="{FF2B5EF4-FFF2-40B4-BE49-F238E27FC236}">
                <a16:creationId xmlns:a16="http://schemas.microsoft.com/office/drawing/2014/main" id="{A4075A49-088B-46E1-8A67-CA183758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Claims + proof + batches  ·  Audit only</a:t>
            </a:r>
          </a:p>
        </p:txBody>
      </p:sp>
      <p:sp>
        <p:nvSpPr>
          <p:cNvPr id="30" name="line-557">
            <a:extLst xmlns:a="http://schemas.openxmlformats.org/drawingml/2006/main">
              <a:ext uri="{FF2B5EF4-FFF2-40B4-BE49-F238E27FC236}">
                <a16:creationId xmlns:a16="http://schemas.microsoft.com/office/drawing/2014/main" id="{5DB363C1-0776-41FD-973D-FC2132C2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1" name="text-558">
            <a:extLst xmlns:a="http://schemas.openxmlformats.org/drawingml/2006/main">
              <a:ext uri="{FF2B5EF4-FFF2-40B4-BE49-F238E27FC236}">
                <a16:creationId xmlns:a16="http://schemas.microsoft.com/office/drawing/2014/main" id="{B3CB543D-4E9A-4744-B3AA-5948B55E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Approver</a:t>
            </a:r>
          </a:p>
        </p:txBody>
      </p:sp>
      <p:sp>
        <p:nvSpPr>
          <p:cNvPr id="32" name="rect-559">
            <a:extLst xmlns:a="http://schemas.openxmlformats.org/drawingml/2006/main">
              <a:ext uri="{FF2B5EF4-FFF2-40B4-BE49-F238E27FC236}">
                <a16:creationId xmlns:a16="http://schemas.microsoft.com/office/drawing/2014/main" id="{BB48F97E-8304-46CD-92CD-0FF67E35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867275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560">
            <a:extLst xmlns:a="http://schemas.openxmlformats.org/drawingml/2006/main">
              <a:ext uri="{FF2B5EF4-FFF2-40B4-BE49-F238E27FC236}">
                <a16:creationId xmlns:a16="http://schemas.microsoft.com/office/drawing/2014/main" id="{B934D944-C300-4BA8-80B8-4A1C9FA9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9650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Any other Admin</a:t>
            </a:r>
          </a:p>
        </p:txBody>
      </p:sp>
      <p:sp>
        <p:nvSpPr>
          <p:cNvPr id="34" name="text-561">
            <a:extLst xmlns:a="http://schemas.openxmlformats.org/drawingml/2006/main">
              <a:ext uri="{FF2B5EF4-FFF2-40B4-BE49-F238E27FC236}">
                <a16:creationId xmlns:a16="http://schemas.microsoft.com/office/drawing/2014/main" id="{FD956069-6116-4A7D-8C0A-743639A6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Designated Approver  ·  Founder only</a:t>
            </a:r>
          </a:p>
        </p:txBody>
      </p:sp>
      <p:sp>
        <p:nvSpPr>
          <p:cNvPr id="35" name="line-562">
            <a:extLst xmlns:a="http://schemas.openxmlformats.org/drawingml/2006/main">
              <a:ext uri="{FF2B5EF4-FFF2-40B4-BE49-F238E27FC236}">
                <a16:creationId xmlns:a16="http://schemas.microsoft.com/office/drawing/2014/main" id="{6A18FE69-A08D-444E-90EA-CAA3B4BE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6" name="text-563">
            <a:extLst xmlns:a="http://schemas.openxmlformats.org/drawingml/2006/main">
              <a:ext uri="{FF2B5EF4-FFF2-40B4-BE49-F238E27FC236}">
                <a16:creationId xmlns:a16="http://schemas.microsoft.com/office/drawing/2014/main" id="{89184425-B733-4384-8E7A-74CBA277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Admin login</a:t>
            </a:r>
          </a:p>
        </p:txBody>
      </p:sp>
      <p:sp>
        <p:nvSpPr>
          <p:cNvPr id="37" name="rect-564">
            <a:extLst xmlns:a="http://schemas.openxmlformats.org/drawingml/2006/main">
              <a:ext uri="{FF2B5EF4-FFF2-40B4-BE49-F238E27FC236}">
                <a16:creationId xmlns:a16="http://schemas.microsoft.com/office/drawing/2014/main" id="{A4AB9610-1C59-4846-9DA7-C7882244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56197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565">
            <a:extLst xmlns:a="http://schemas.openxmlformats.org/drawingml/2006/main">
              <a:ext uri="{FF2B5EF4-FFF2-40B4-BE49-F238E27FC236}">
                <a16:creationId xmlns:a16="http://schemas.microsoft.com/office/drawing/2014/main" id="{E3902D8E-21BE-4A25-A148-EA4095E9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72125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Microsoft SSO + MFA</a:t>
            </a:r>
          </a:p>
        </p:txBody>
      </p:sp>
      <p:sp>
        <p:nvSpPr>
          <p:cNvPr id="39" name="text-566">
            <a:extLst xmlns:a="http://schemas.openxmlformats.org/drawingml/2006/main">
              <a:ext uri="{FF2B5EF4-FFF2-40B4-BE49-F238E27FC236}">
                <a16:creationId xmlns:a16="http://schemas.microsoft.com/office/drawing/2014/main" id="{DB0F0447-6355-459A-BCBF-DF48E2F1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72125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Email + MFA  ·  Password only</a:t>
            </a:r>
          </a:p>
        </p:txBody>
      </p:sp>
    </p:spTree>
    <p:extLst>
      <p:ext uri="{BB962C8B-B14F-4D97-AF65-F5344CB8AC3E}">
        <p14:creationId xmlns:p14="http://schemas.microsoft.com/office/powerpoint/2010/main" val="14752571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dc00283d84124"/>
          <a:stretch xmlns:a="http://schemas.openxmlformats.org/drawingml/2006/main"/>
        </p:blipFill>
        <p:spPr>
          <a:xfrm xmlns:a="http://schemas.openxmlformats.org/drawingml/2006/main">
            <a:off x="11049000" y="235598"/>
            <a:ext cx="457200" cy="443204"/>
          </a:xfrm>
          <a:prstGeom xmlns:a="http://schemas.openxmlformats.org/drawingml/2006/main" prst="rect">
            <a:avLst/>
          </a:prstGeom>
        </p:spPr>
      </p:pic>
      <p:sp>
        <p:nvSpPr>
          <p:cNvPr id="2" name="text-567">
            <a:extLst xmlns:a="http://schemas.openxmlformats.org/drawingml/2006/main">
              <a:ext uri="{FF2B5EF4-FFF2-40B4-BE49-F238E27FC236}">
                <a16:creationId xmlns:a16="http://schemas.microsoft.com/office/drawing/2014/main" id="{E255C930-1228-474F-A438-9E8A4459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RECORD</a:t>
            </a:r>
          </a:p>
        </p:txBody>
      </p:sp>
      <p:sp>
        <p:nvSpPr>
          <p:cNvPr id="3" name="text-568">
            <a:extLst xmlns:a="http://schemas.openxmlformats.org/drawingml/2006/main">
              <a:ext uri="{FF2B5EF4-FFF2-40B4-BE49-F238E27FC236}">
                <a16:creationId xmlns:a16="http://schemas.microsoft.com/office/drawing/2014/main" id="{E03EB7ED-2181-4AB8-8C53-FDC980E9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Fulfilment &amp; logistics</a:t>
            </a:r>
          </a:p>
        </p:txBody>
      </p:sp>
      <p:sp>
        <p:nvSpPr>
          <p:cNvPr id="4" name="rect-569">
            <a:extLst xmlns:a="http://schemas.openxmlformats.org/drawingml/2006/main">
              <a:ext uri="{FF2B5EF4-FFF2-40B4-BE49-F238E27FC236}">
                <a16:creationId xmlns:a16="http://schemas.microsoft.com/office/drawing/2014/main" id="{EB966366-4B49-4565-9DD7-EE86636C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304925"/>
            <a:ext cx="1085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570">
            <a:extLst xmlns:a="http://schemas.openxmlformats.org/drawingml/2006/main">
              <a:ext uri="{FF2B5EF4-FFF2-40B4-BE49-F238E27FC236}">
                <a16:creationId xmlns:a16="http://schemas.microsoft.com/office/drawing/2014/main" id="{4B3C0217-5744-43C4-A013-E87A3BB1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</a:t>
            </a:r>
          </a:p>
        </p:txBody>
      </p:sp>
      <p:sp>
        <p:nvSpPr>
          <p:cNvPr id="6" name="text-571">
            <a:extLst xmlns:a="http://schemas.openxmlformats.org/drawingml/2006/main">
              <a:ext uri="{FF2B5EF4-FFF2-40B4-BE49-F238E27FC236}">
                <a16:creationId xmlns:a16="http://schemas.microsoft.com/office/drawing/2014/main" id="{F650F5E3-C9C7-457A-BA71-C17F6770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57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rPr>
              <a:t>CHOSEN</a:t>
            </a:r>
          </a:p>
        </p:txBody>
      </p:sp>
      <p:sp>
        <p:nvSpPr>
          <p:cNvPr id="7" name="text-572">
            <a:extLst xmlns:a="http://schemas.openxmlformats.org/drawingml/2006/main">
              <a:ext uri="{FF2B5EF4-FFF2-40B4-BE49-F238E27FC236}">
                <a16:creationId xmlns:a16="http://schemas.microsoft.com/office/drawing/2014/main" id="{A5EE978C-6F04-4883-9778-084E9B64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573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ALTERNATIVES NOT SELECTED</a:t>
            </a:r>
          </a:p>
        </p:txBody>
      </p:sp>
      <p:sp>
        <p:nvSpPr>
          <p:cNvPr id="8" name="line-573">
            <a:extLst xmlns:a="http://schemas.openxmlformats.org/drawingml/2006/main">
              <a:ext uri="{FF2B5EF4-FFF2-40B4-BE49-F238E27FC236}">
                <a16:creationId xmlns:a16="http://schemas.microsoft.com/office/drawing/2014/main" id="{AB7CC18B-1A61-4874-A114-A66D895F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9" name="text-574">
            <a:extLst xmlns:a="http://schemas.openxmlformats.org/drawingml/2006/main">
              <a:ext uri="{FF2B5EF4-FFF2-40B4-BE49-F238E27FC236}">
                <a16:creationId xmlns:a16="http://schemas.microsoft.com/office/drawing/2014/main" id="{4C312BDA-16EA-4B99-8884-18ABA98B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APPENDIX</a:t>
            </a:r>
          </a:p>
        </p:txBody>
      </p:sp>
      <p:sp>
        <p:nvSpPr>
          <p:cNvPr id="10" name="text-575">
            <a:extLst xmlns:a="http://schemas.openxmlformats.org/drawingml/2006/main">
              <a:ext uri="{FF2B5EF4-FFF2-40B4-BE49-F238E27FC236}">
                <a16:creationId xmlns:a16="http://schemas.microsoft.com/office/drawing/2014/main" id="{06CF5651-A943-41A4-9920-2FC0778E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21</a:t>
            </a:r>
          </a:p>
        </p:txBody>
      </p:sp>
      <p:sp>
        <p:nvSpPr>
          <p:cNvPr id="11" name="text-576">
            <a:extLst xmlns:a="http://schemas.openxmlformats.org/drawingml/2006/main">
              <a:ext uri="{FF2B5EF4-FFF2-40B4-BE49-F238E27FC236}">
                <a16:creationId xmlns:a16="http://schemas.microsoft.com/office/drawing/2014/main" id="{24C07E2D-6E40-49A1-8170-FE6C9498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22860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Fulfilment</a:t>
            </a:r>
          </a:p>
        </p:txBody>
      </p:sp>
      <p:sp>
        <p:nvSpPr>
          <p:cNvPr id="12" name="rect-577">
            <a:extLst xmlns:a="http://schemas.openxmlformats.org/drawingml/2006/main">
              <a:ext uri="{FF2B5EF4-FFF2-40B4-BE49-F238E27FC236}">
                <a16:creationId xmlns:a16="http://schemas.microsoft.com/office/drawing/2014/main" id="{4678EB34-FFEF-4ADC-8136-1153D56A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1857375"/>
            <a:ext cx="66675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578">
            <a:extLst xmlns:a="http://schemas.openxmlformats.org/drawingml/2006/main">
              <a:ext uri="{FF2B5EF4-FFF2-40B4-BE49-F238E27FC236}">
                <a16:creationId xmlns:a16="http://schemas.microsoft.com/office/drawing/2014/main" id="{AFE4BB24-3F8E-465D-A4B6-56B6E3CA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3619500" cy="101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Two-provider experiment</a:t>
            </a:r>
          </a:p>
        </p:txBody>
      </p:sp>
      <p:sp>
        <p:nvSpPr>
          <p:cNvPr id="14" name="text-579">
            <a:extLst xmlns:a="http://schemas.openxmlformats.org/drawingml/2006/main">
              <a:ext uri="{FF2B5EF4-FFF2-40B4-BE49-F238E27FC236}">
                <a16:creationId xmlns:a16="http://schemas.microsoft.com/office/drawing/2014/main" id="{DFB3897A-178A-4AB5-9722-5B13298C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238625" cy="101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One provider, abstracted  ·  Manual first</a:t>
            </a:r>
          </a:p>
        </p:txBody>
      </p:sp>
      <p:sp>
        <p:nvSpPr>
          <p:cNvPr id="15" name="line-580">
            <a:extLst xmlns:a="http://schemas.openxmlformats.org/drawingml/2006/main">
              <a:ext uri="{FF2B5EF4-FFF2-40B4-BE49-F238E27FC236}">
                <a16:creationId xmlns:a16="http://schemas.microsoft.com/office/drawing/2014/main" id="{CFD4E6B3-6F80-4EC1-AF80-8C8E56D7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3688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6" name="text-581">
            <a:extLst xmlns:a="http://schemas.openxmlformats.org/drawingml/2006/main">
              <a:ext uri="{FF2B5EF4-FFF2-40B4-BE49-F238E27FC236}">
                <a16:creationId xmlns:a16="http://schemas.microsoft.com/office/drawing/2014/main" id="{8D7F4046-580A-4649-A634-4DA187E0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7988"/>
            <a:ext cx="22860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Courier pair</a:t>
            </a:r>
          </a:p>
        </p:txBody>
      </p:sp>
      <p:sp>
        <p:nvSpPr>
          <p:cNvPr id="17" name="rect-582">
            <a:extLst xmlns:a="http://schemas.openxmlformats.org/drawingml/2006/main">
              <a:ext uri="{FF2B5EF4-FFF2-40B4-BE49-F238E27FC236}">
                <a16:creationId xmlns:a16="http://schemas.microsoft.com/office/drawing/2014/main" id="{7A870059-4469-4B6C-879A-4FAD660F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2986088"/>
            <a:ext cx="66675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583">
            <a:extLst xmlns:a="http://schemas.openxmlformats.org/drawingml/2006/main">
              <a:ext uri="{FF2B5EF4-FFF2-40B4-BE49-F238E27FC236}">
                <a16:creationId xmlns:a16="http://schemas.microsoft.com/office/drawing/2014/main" id="{4B1041A5-20AD-4761-9AE5-74882C55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38463"/>
            <a:ext cx="3619500" cy="101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Two configurable provider slots</a:t>
            </a:r>
          </a:p>
        </p:txBody>
      </p:sp>
      <p:sp>
        <p:nvSpPr>
          <p:cNvPr id="19" name="text-584">
            <a:extLst xmlns:a="http://schemas.openxmlformats.org/drawingml/2006/main">
              <a:ext uri="{FF2B5EF4-FFF2-40B4-BE49-F238E27FC236}">
                <a16:creationId xmlns:a16="http://schemas.microsoft.com/office/drawing/2014/main" id="{87493651-7B20-4419-A061-7D5456BF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38463"/>
            <a:ext cx="4238625" cy="101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Shiprocket + Delhivery  ·  Shiprocket + Shipneer</a:t>
            </a:r>
          </a:p>
        </p:txBody>
      </p:sp>
      <p:sp>
        <p:nvSpPr>
          <p:cNvPr id="20" name="line-585">
            <a:extLst xmlns:a="http://schemas.openxmlformats.org/drawingml/2006/main">
              <a:ext uri="{FF2B5EF4-FFF2-40B4-BE49-F238E27FC236}">
                <a16:creationId xmlns:a16="http://schemas.microsoft.com/office/drawing/2014/main" id="{915C9D7E-9747-43A3-B712-4FAC21C5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1" name="text-586">
            <a:extLst xmlns:a="http://schemas.openxmlformats.org/drawingml/2006/main">
              <a:ext uri="{FF2B5EF4-FFF2-40B4-BE49-F238E27FC236}">
                <a16:creationId xmlns:a16="http://schemas.microsoft.com/office/drawing/2014/main" id="{001D2942-E845-43CC-BABC-4F7028FF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22860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Allocation</a:t>
            </a:r>
          </a:p>
        </p:txBody>
      </p:sp>
      <p:sp>
        <p:nvSpPr>
          <p:cNvPr id="22" name="rect-587">
            <a:extLst xmlns:a="http://schemas.openxmlformats.org/drawingml/2006/main">
              <a:ext uri="{FF2B5EF4-FFF2-40B4-BE49-F238E27FC236}">
                <a16:creationId xmlns:a16="http://schemas.microsoft.com/office/drawing/2014/main" id="{001BCE79-D348-438E-BC6C-641FE9C6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114800"/>
            <a:ext cx="66675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588">
            <a:extLst xmlns:a="http://schemas.openxmlformats.org/drawingml/2006/main">
              <a:ext uri="{FF2B5EF4-FFF2-40B4-BE49-F238E27FC236}">
                <a16:creationId xmlns:a16="http://schemas.microsoft.com/office/drawing/2014/main" id="{6C10DB22-6CF7-4AAA-909F-08640D3B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67175"/>
            <a:ext cx="3619500" cy="101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Stratified 50/50</a:t>
            </a:r>
          </a:p>
        </p:txBody>
      </p:sp>
      <p:sp>
        <p:nvSpPr>
          <p:cNvPr id="24" name="text-589">
            <a:extLst xmlns:a="http://schemas.openxmlformats.org/drawingml/2006/main">
              <a:ext uri="{FF2B5EF4-FFF2-40B4-BE49-F238E27FC236}">
                <a16:creationId xmlns:a16="http://schemas.microsoft.com/office/drawing/2014/main" id="{8CC3D366-5047-4A6C-9A8F-BFE00A80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4238625" cy="101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Cheapest eligible  ·  Fastest eligible</a:t>
            </a:r>
          </a:p>
        </p:txBody>
      </p:sp>
      <p:sp>
        <p:nvSpPr>
          <p:cNvPr id="25" name="line-590">
            <a:extLst xmlns:a="http://schemas.openxmlformats.org/drawingml/2006/main">
              <a:ext uri="{FF2B5EF4-FFF2-40B4-BE49-F238E27FC236}">
                <a16:creationId xmlns:a16="http://schemas.microsoft.com/office/drawing/2014/main" id="{4833B7EC-9099-4219-8726-31BB27B6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1113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6" name="text-591">
            <a:extLst xmlns:a="http://schemas.openxmlformats.org/drawingml/2006/main">
              <a:ext uri="{FF2B5EF4-FFF2-40B4-BE49-F238E27FC236}">
                <a16:creationId xmlns:a16="http://schemas.microsoft.com/office/drawing/2014/main" id="{C4CBE1A6-2C34-4BFE-B3F7-ED9B46C8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5413"/>
            <a:ext cx="228600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Warehouse</a:t>
            </a:r>
          </a:p>
        </p:txBody>
      </p:sp>
      <p:sp>
        <p:nvSpPr>
          <p:cNvPr id="27" name="rect-592">
            <a:extLst xmlns:a="http://schemas.openxmlformats.org/drawingml/2006/main">
              <a:ext uri="{FF2B5EF4-FFF2-40B4-BE49-F238E27FC236}">
                <a16:creationId xmlns:a16="http://schemas.microsoft.com/office/drawing/2014/main" id="{C6DCE7A8-C5BA-4E9A-9CC6-78173835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5243513"/>
            <a:ext cx="66675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593">
            <a:extLst xmlns:a="http://schemas.openxmlformats.org/drawingml/2006/main">
              <a:ext uri="{FF2B5EF4-FFF2-40B4-BE49-F238E27FC236}">
                <a16:creationId xmlns:a16="http://schemas.microsoft.com/office/drawing/2014/main" id="{98C0CEC3-AE4B-4877-8DE3-6028AA25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95888"/>
            <a:ext cx="3619500" cy="101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One active location</a:t>
            </a:r>
          </a:p>
        </p:txBody>
      </p:sp>
      <p:sp>
        <p:nvSpPr>
          <p:cNvPr id="29" name="text-594">
            <a:extLst xmlns:a="http://schemas.openxmlformats.org/drawingml/2006/main">
              <a:ext uri="{FF2B5EF4-FFF2-40B4-BE49-F238E27FC236}">
                <a16:creationId xmlns:a16="http://schemas.microsoft.com/office/drawing/2014/main" id="{7BC66C42-54EA-417D-8CF3-10697063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95888"/>
            <a:ext cx="4238625" cy="101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Multiple warehouses  ·  Courier-managed stock</a:t>
            </a:r>
          </a:p>
        </p:txBody>
      </p:sp>
    </p:spTree>
    <p:extLst>
      <p:ext uri="{BB962C8B-B14F-4D97-AF65-F5344CB8AC3E}">
        <p14:creationId xmlns:p14="http://schemas.microsoft.com/office/powerpoint/2010/main" val="8063248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3f26273674a3b"/>
          <a:stretch xmlns:a="http://schemas.openxmlformats.org/drawingml/2006/main"/>
        </p:blipFill>
        <p:spPr>
          <a:xfrm xmlns:a="http://schemas.openxmlformats.org/drawingml/2006/main">
            <a:off x="11049000" y="235598"/>
            <a:ext cx="457200" cy="443204"/>
          </a:xfrm>
          <a:prstGeom xmlns:a="http://schemas.openxmlformats.org/drawingml/2006/main" prst="rect">
            <a:avLst/>
          </a:prstGeom>
        </p:spPr>
      </p:pic>
      <p:sp>
        <p:nvSpPr>
          <p:cNvPr id="2" name="text-595">
            <a:extLst xmlns:a="http://schemas.openxmlformats.org/drawingml/2006/main">
              <a:ext uri="{FF2B5EF4-FFF2-40B4-BE49-F238E27FC236}">
                <a16:creationId xmlns:a16="http://schemas.microsoft.com/office/drawing/2014/main" id="{024AD6A9-CFC1-44A5-80E0-FD7A9A2B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RECORD</a:t>
            </a:r>
          </a:p>
        </p:txBody>
      </p:sp>
      <p:sp>
        <p:nvSpPr>
          <p:cNvPr id="3" name="text-596">
            <a:extLst xmlns:a="http://schemas.openxmlformats.org/drawingml/2006/main">
              <a:ext uri="{FF2B5EF4-FFF2-40B4-BE49-F238E27FC236}">
                <a16:creationId xmlns:a16="http://schemas.microsoft.com/office/drawing/2014/main" id="{626E92DE-25BD-4B38-AB5D-E8152E6A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Amazon channel</a:t>
            </a:r>
          </a:p>
        </p:txBody>
      </p:sp>
      <p:sp>
        <p:nvSpPr>
          <p:cNvPr id="4" name="rect-597">
            <a:extLst xmlns:a="http://schemas.openxmlformats.org/drawingml/2006/main">
              <a:ext uri="{FF2B5EF4-FFF2-40B4-BE49-F238E27FC236}">
                <a16:creationId xmlns:a16="http://schemas.microsoft.com/office/drawing/2014/main" id="{A470805D-347E-4083-B79E-AAE806D9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304925"/>
            <a:ext cx="1085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598">
            <a:extLst xmlns:a="http://schemas.openxmlformats.org/drawingml/2006/main">
              <a:ext uri="{FF2B5EF4-FFF2-40B4-BE49-F238E27FC236}">
                <a16:creationId xmlns:a16="http://schemas.microsoft.com/office/drawing/2014/main" id="{22F094B9-259B-45E0-99F4-3E7BF8B2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</a:t>
            </a:r>
          </a:p>
        </p:txBody>
      </p:sp>
      <p:sp>
        <p:nvSpPr>
          <p:cNvPr id="6" name="text-599">
            <a:extLst xmlns:a="http://schemas.openxmlformats.org/drawingml/2006/main">
              <a:ext uri="{FF2B5EF4-FFF2-40B4-BE49-F238E27FC236}">
                <a16:creationId xmlns:a16="http://schemas.microsoft.com/office/drawing/2014/main" id="{C28F5F1B-9BFC-4EA5-B902-2143DA82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57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rPr>
              <a:t>CHOSEN</a:t>
            </a:r>
          </a:p>
        </p:txBody>
      </p:sp>
      <p:sp>
        <p:nvSpPr>
          <p:cNvPr id="7" name="text-600">
            <a:extLst xmlns:a="http://schemas.openxmlformats.org/drawingml/2006/main">
              <a:ext uri="{FF2B5EF4-FFF2-40B4-BE49-F238E27FC236}">
                <a16:creationId xmlns:a16="http://schemas.microsoft.com/office/drawing/2014/main" id="{7A7A07AB-370B-43DE-9B04-90287684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573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ALTERNATIVES NOT SELECTED</a:t>
            </a:r>
          </a:p>
        </p:txBody>
      </p:sp>
      <p:sp>
        <p:nvSpPr>
          <p:cNvPr id="8" name="line-601">
            <a:extLst xmlns:a="http://schemas.openxmlformats.org/drawingml/2006/main">
              <a:ext uri="{FF2B5EF4-FFF2-40B4-BE49-F238E27FC236}">
                <a16:creationId xmlns:a16="http://schemas.microsoft.com/office/drawing/2014/main" id="{A4D6C2E8-9B63-49BC-9DCE-0A0D0A8A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9" name="text-602">
            <a:extLst xmlns:a="http://schemas.openxmlformats.org/drawingml/2006/main">
              <a:ext uri="{FF2B5EF4-FFF2-40B4-BE49-F238E27FC236}">
                <a16:creationId xmlns:a16="http://schemas.microsoft.com/office/drawing/2014/main" id="{54A2E031-5E04-4E67-86C3-105C76D0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APPENDIX</a:t>
            </a:r>
          </a:p>
        </p:txBody>
      </p:sp>
      <p:sp>
        <p:nvSpPr>
          <p:cNvPr id="10" name="text-603">
            <a:extLst xmlns:a="http://schemas.openxmlformats.org/drawingml/2006/main">
              <a:ext uri="{FF2B5EF4-FFF2-40B4-BE49-F238E27FC236}">
                <a16:creationId xmlns:a16="http://schemas.microsoft.com/office/drawing/2014/main" id="{F344872C-F97B-4EAB-8D10-B4316464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22</a:t>
            </a:r>
          </a:p>
        </p:txBody>
      </p:sp>
      <p:sp>
        <p:nvSpPr>
          <p:cNvPr id="11" name="text-604">
            <a:extLst xmlns:a="http://schemas.openxmlformats.org/drawingml/2006/main">
              <a:ext uri="{FF2B5EF4-FFF2-40B4-BE49-F238E27FC236}">
                <a16:creationId xmlns:a16="http://schemas.microsoft.com/office/drawing/2014/main" id="{42002279-27D4-4ECD-A2FF-33B7D013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Sales channels</a:t>
            </a:r>
          </a:p>
        </p:txBody>
      </p:sp>
      <p:sp>
        <p:nvSpPr>
          <p:cNvPr id="12" name="rect-605">
            <a:extLst xmlns:a="http://schemas.openxmlformats.org/drawingml/2006/main">
              <a:ext uri="{FF2B5EF4-FFF2-40B4-BE49-F238E27FC236}">
                <a16:creationId xmlns:a16="http://schemas.microsoft.com/office/drawing/2014/main" id="{EAD52F2B-B85C-42A7-8C0E-E486A39D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185737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606">
            <a:extLst xmlns:a="http://schemas.openxmlformats.org/drawingml/2006/main">
              <a:ext uri="{FF2B5EF4-FFF2-40B4-BE49-F238E27FC236}">
                <a16:creationId xmlns:a16="http://schemas.microsoft.com/office/drawing/2014/main" id="{B24B10CF-1F08-4F30-8FC9-A9BE4867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Add Amazon sync</a:t>
            </a:r>
          </a:p>
        </p:txBody>
      </p:sp>
      <p:sp>
        <p:nvSpPr>
          <p:cNvPr id="14" name="text-607">
            <a:extLst xmlns:a="http://schemas.openxmlformats.org/drawingml/2006/main">
              <a:ext uri="{FF2B5EF4-FFF2-40B4-BE49-F238E27FC236}">
                <a16:creationId xmlns:a16="http://schemas.microsoft.com/office/drawing/2014/main" id="{C3804B83-A8C1-49CD-A752-E6DA51FB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D2C website only  ·  Omnichannel core</a:t>
            </a:r>
          </a:p>
        </p:txBody>
      </p:sp>
      <p:sp>
        <p:nvSpPr>
          <p:cNvPr id="15" name="line-608">
            <a:extLst xmlns:a="http://schemas.openxmlformats.org/drawingml/2006/main">
              <a:ext uri="{FF2B5EF4-FFF2-40B4-BE49-F238E27FC236}">
                <a16:creationId xmlns:a16="http://schemas.microsoft.com/office/drawing/2014/main" id="{87D7537C-DB83-40E4-8169-FE42F797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794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6" name="text-609">
            <a:extLst xmlns:a="http://schemas.openxmlformats.org/drawingml/2006/main">
              <a:ext uri="{FF2B5EF4-FFF2-40B4-BE49-F238E27FC236}">
                <a16:creationId xmlns:a16="http://schemas.microsoft.com/office/drawing/2014/main" id="{5C5FCA33-CDF3-485B-9537-65560AFF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224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Amazon scope</a:t>
            </a:r>
          </a:p>
        </p:txBody>
      </p:sp>
      <p:sp>
        <p:nvSpPr>
          <p:cNvPr id="17" name="rect-610">
            <a:extLst xmlns:a="http://schemas.openxmlformats.org/drawingml/2006/main">
              <a:ext uri="{FF2B5EF4-FFF2-40B4-BE49-F238E27FC236}">
                <a16:creationId xmlns:a16="http://schemas.microsoft.com/office/drawing/2014/main" id="{E5260AFE-038E-4D7A-89B8-F56F79CD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276034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611">
            <a:extLst xmlns:a="http://schemas.openxmlformats.org/drawingml/2006/main">
              <a:ext uri="{FF2B5EF4-FFF2-40B4-BE49-F238E27FC236}">
                <a16:creationId xmlns:a16="http://schemas.microsoft.com/office/drawing/2014/main" id="{EFD4BE7F-30E7-4D3D-8B5E-629C9C0E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1272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Operations sync</a:t>
            </a:r>
          </a:p>
        </p:txBody>
      </p:sp>
      <p:sp>
        <p:nvSpPr>
          <p:cNvPr id="19" name="text-612">
            <a:extLst xmlns:a="http://schemas.openxmlformats.org/drawingml/2006/main">
              <a:ext uri="{FF2B5EF4-FFF2-40B4-BE49-F238E27FC236}">
                <a16:creationId xmlns:a16="http://schemas.microsoft.com/office/drawing/2014/main" id="{E133E504-978E-45E3-AB35-43F698CE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272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Full channel manager  ·  Orders only</a:t>
            </a:r>
          </a:p>
        </p:txBody>
      </p:sp>
      <p:sp>
        <p:nvSpPr>
          <p:cNvPr id="20" name="line-613">
            <a:extLst xmlns:a="http://schemas.openxmlformats.org/drawingml/2006/main">
              <a:ext uri="{FF2B5EF4-FFF2-40B4-BE49-F238E27FC236}">
                <a16:creationId xmlns:a16="http://schemas.microsoft.com/office/drawing/2014/main" id="{C140B5AF-1BB4-4046-95E5-9295F172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091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1" name="text-614">
            <a:extLst xmlns:a="http://schemas.openxmlformats.org/drawingml/2006/main">
              <a:ext uri="{FF2B5EF4-FFF2-40B4-BE49-F238E27FC236}">
                <a16:creationId xmlns:a16="http://schemas.microsoft.com/office/drawing/2014/main" id="{0CB6F362-763A-4BD5-9ABB-AA0D8768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521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Fulfilment modes</a:t>
            </a:r>
          </a:p>
        </p:txBody>
      </p:sp>
      <p:sp>
        <p:nvSpPr>
          <p:cNvPr id="22" name="rect-615">
            <a:extLst xmlns:a="http://schemas.openxmlformats.org/drawingml/2006/main">
              <a:ext uri="{FF2B5EF4-FFF2-40B4-BE49-F238E27FC236}">
                <a16:creationId xmlns:a16="http://schemas.microsoft.com/office/drawing/2014/main" id="{A1F191BE-5A3D-4ACE-9EBF-B47F8693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66331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616">
            <a:extLst xmlns:a="http://schemas.openxmlformats.org/drawingml/2006/main">
              <a:ext uri="{FF2B5EF4-FFF2-40B4-BE49-F238E27FC236}">
                <a16:creationId xmlns:a16="http://schemas.microsoft.com/office/drawing/2014/main" id="{E974F297-F62C-4336-A62E-12DB650B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569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Seller-fulfilled + FBA</a:t>
            </a:r>
          </a:p>
        </p:txBody>
      </p:sp>
      <p:sp>
        <p:nvSpPr>
          <p:cNvPr id="24" name="text-617">
            <a:extLst xmlns:a="http://schemas.openxmlformats.org/drawingml/2006/main">
              <a:ext uri="{FF2B5EF4-FFF2-40B4-BE49-F238E27FC236}">
                <a16:creationId xmlns:a16="http://schemas.microsoft.com/office/drawing/2014/main" id="{093915BD-A0EF-47C4-8CCB-E737FEBA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569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Seller-fulfilled first  ·  FBA only</a:t>
            </a:r>
          </a:p>
        </p:txBody>
      </p:sp>
      <p:sp>
        <p:nvSpPr>
          <p:cNvPr id="25" name="line-618">
            <a:extLst xmlns:a="http://schemas.openxmlformats.org/drawingml/2006/main">
              <a:ext uri="{FF2B5EF4-FFF2-40B4-BE49-F238E27FC236}">
                <a16:creationId xmlns:a16="http://schemas.microsoft.com/office/drawing/2014/main" id="{C59F93A3-405A-40ED-9FF6-2BA85C5B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388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6" name="text-619">
            <a:extLst xmlns:a="http://schemas.openxmlformats.org/drawingml/2006/main">
              <a:ext uri="{FF2B5EF4-FFF2-40B4-BE49-F238E27FC236}">
                <a16:creationId xmlns:a16="http://schemas.microsoft.com/office/drawing/2014/main" id="{E488DE9C-A4AD-4367-8197-409E452D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818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Stock pools</a:t>
            </a:r>
          </a:p>
        </p:txBody>
      </p:sp>
      <p:sp>
        <p:nvSpPr>
          <p:cNvPr id="27" name="rect-620">
            <a:extLst xmlns:a="http://schemas.openxmlformats.org/drawingml/2006/main">
              <a:ext uri="{FF2B5EF4-FFF2-40B4-BE49-F238E27FC236}">
                <a16:creationId xmlns:a16="http://schemas.microsoft.com/office/drawing/2014/main" id="{EAB1B8D8-9F5A-4DFB-A86E-74643151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56628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621">
            <a:extLst xmlns:a="http://schemas.openxmlformats.org/drawingml/2006/main">
              <a:ext uri="{FF2B5EF4-FFF2-40B4-BE49-F238E27FC236}">
                <a16:creationId xmlns:a16="http://schemas.microsoft.com/office/drawing/2014/main" id="{CCED3677-F377-4ABA-97C1-9CBCA873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1866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Shared ledger + buffers</a:t>
            </a:r>
          </a:p>
        </p:txBody>
      </p:sp>
      <p:sp>
        <p:nvSpPr>
          <p:cNvPr id="29" name="text-622">
            <a:extLst xmlns:a="http://schemas.openxmlformats.org/drawingml/2006/main">
              <a:ext uri="{FF2B5EF4-FFF2-40B4-BE49-F238E27FC236}">
                <a16:creationId xmlns:a16="http://schemas.microsoft.com/office/drawing/2014/main" id="{29F81CA4-1B92-4D37-B64D-90D9233B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866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Fixed channel allocation  ·  Amazon authoritative</a:t>
            </a:r>
          </a:p>
        </p:txBody>
      </p:sp>
      <p:sp>
        <p:nvSpPr>
          <p:cNvPr id="30" name="line-623">
            <a:extLst xmlns:a="http://schemas.openxmlformats.org/drawingml/2006/main">
              <a:ext uri="{FF2B5EF4-FFF2-40B4-BE49-F238E27FC236}">
                <a16:creationId xmlns:a16="http://schemas.microsoft.com/office/drawing/2014/main" id="{1FD1108C-D34A-4ACA-90CE-E7599133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685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1" name="text-624">
            <a:extLst xmlns:a="http://schemas.openxmlformats.org/drawingml/2006/main">
              <a:ext uri="{FF2B5EF4-FFF2-40B4-BE49-F238E27FC236}">
                <a16:creationId xmlns:a16="http://schemas.microsoft.com/office/drawing/2014/main" id="{A90B311D-3A33-4EE3-A7A6-250C984B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1155"/>
            <a:ext cx="2286000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Launch dependency</a:t>
            </a:r>
          </a:p>
        </p:txBody>
      </p:sp>
      <p:sp>
        <p:nvSpPr>
          <p:cNvPr id="32" name="rect-625">
            <a:extLst xmlns:a="http://schemas.openxmlformats.org/drawingml/2006/main">
              <a:ext uri="{FF2B5EF4-FFF2-40B4-BE49-F238E27FC236}">
                <a16:creationId xmlns:a16="http://schemas.microsoft.com/office/drawing/2014/main" id="{AB4BBB52-FE6A-4F81-BC6A-F8D327CF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5469255"/>
            <a:ext cx="66675" cy="674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626">
            <a:extLst xmlns:a="http://schemas.openxmlformats.org/drawingml/2006/main">
              <a:ext uri="{FF2B5EF4-FFF2-40B4-BE49-F238E27FC236}">
                <a16:creationId xmlns:a16="http://schemas.microsoft.com/office/drawing/2014/main" id="{6E8F5C4C-DE20-48FB-B796-CEDFF477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21630"/>
            <a:ext cx="36195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Amazon does not block D2C</a:t>
            </a:r>
          </a:p>
        </p:txBody>
      </p:sp>
      <p:sp>
        <p:nvSpPr>
          <p:cNvPr id="34" name="text-627">
            <a:extLst xmlns:a="http://schemas.openxmlformats.org/drawingml/2006/main">
              <a:ext uri="{FF2B5EF4-FFF2-40B4-BE49-F238E27FC236}">
                <a16:creationId xmlns:a16="http://schemas.microsoft.com/office/drawing/2014/main" id="{D1E8741B-3708-424A-BC06-3D7F1E4F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21630"/>
            <a:ext cx="4238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Launch together  ·  Amazon first</a:t>
            </a:r>
          </a:p>
        </p:txBody>
      </p:sp>
    </p:spTree>
    <p:extLst>
      <p:ext uri="{BB962C8B-B14F-4D97-AF65-F5344CB8AC3E}">
        <p14:creationId xmlns:p14="http://schemas.microsoft.com/office/powerpoint/2010/main" val="7668322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6f192c1164031"/>
          <a:stretch xmlns:a="http://schemas.openxmlformats.org/drawingml/2006/main"/>
        </p:blipFill>
        <p:spPr>
          <a:xfrm xmlns:a="http://schemas.openxmlformats.org/drawingml/2006/main">
            <a:off x="11049000" y="235598"/>
            <a:ext cx="457200" cy="443204"/>
          </a:xfrm>
          <a:prstGeom xmlns:a="http://schemas.openxmlformats.org/drawingml/2006/main" prst="rect">
            <a:avLst/>
          </a:prstGeom>
        </p:spPr>
      </p:pic>
      <p:sp>
        <p:nvSpPr>
          <p:cNvPr id="2" name="text-628">
            <a:extLst xmlns:a="http://schemas.openxmlformats.org/drawingml/2006/main">
              <a:ext uri="{FF2B5EF4-FFF2-40B4-BE49-F238E27FC236}">
                <a16:creationId xmlns:a16="http://schemas.microsoft.com/office/drawing/2014/main" id="{FF18B08B-CECE-49EB-A2BD-3841693C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RECORD</a:t>
            </a:r>
          </a:p>
        </p:txBody>
      </p:sp>
      <p:sp>
        <p:nvSpPr>
          <p:cNvPr id="3" name="text-629">
            <a:extLst xmlns:a="http://schemas.openxmlformats.org/drawingml/2006/main">
              <a:ext uri="{FF2B5EF4-FFF2-40B4-BE49-F238E27FC236}">
                <a16:creationId xmlns:a16="http://schemas.microsoft.com/office/drawing/2014/main" id="{64FDC924-2EFE-419E-B8A2-7C78D792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Data, release &amp; scope</a:t>
            </a:r>
          </a:p>
        </p:txBody>
      </p:sp>
      <p:sp>
        <p:nvSpPr>
          <p:cNvPr id="4" name="rect-630">
            <a:extLst xmlns:a="http://schemas.openxmlformats.org/drawingml/2006/main">
              <a:ext uri="{FF2B5EF4-FFF2-40B4-BE49-F238E27FC236}">
                <a16:creationId xmlns:a16="http://schemas.microsoft.com/office/drawing/2014/main" id="{292FD245-DB88-4C9F-9747-E61FEEBA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304925"/>
            <a:ext cx="1085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631">
            <a:extLst xmlns:a="http://schemas.openxmlformats.org/drawingml/2006/main">
              <a:ext uri="{FF2B5EF4-FFF2-40B4-BE49-F238E27FC236}">
                <a16:creationId xmlns:a16="http://schemas.microsoft.com/office/drawing/2014/main" id="{DFE3FF0E-FAE8-4B65-8713-6A7E9A87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</a:t>
            </a:r>
          </a:p>
        </p:txBody>
      </p:sp>
      <p:sp>
        <p:nvSpPr>
          <p:cNvPr id="6" name="text-632">
            <a:extLst xmlns:a="http://schemas.openxmlformats.org/drawingml/2006/main">
              <a:ext uri="{FF2B5EF4-FFF2-40B4-BE49-F238E27FC236}">
                <a16:creationId xmlns:a16="http://schemas.microsoft.com/office/drawing/2014/main" id="{9C156EE1-7F78-46FD-BF90-5C842708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57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1D6B45"/>
                </a:solidFill>
                <a:latin typeface="Bahnschrift"/>
                <a:ea typeface="Bahnschrift"/>
                <a:cs typeface="Bahnschrift"/>
              </a:rPr>
              <a:t>CHOSEN</a:t>
            </a:r>
          </a:p>
        </p:txBody>
      </p:sp>
      <p:sp>
        <p:nvSpPr>
          <p:cNvPr id="7" name="text-633">
            <a:extLst xmlns:a="http://schemas.openxmlformats.org/drawingml/2006/main">
              <a:ext uri="{FF2B5EF4-FFF2-40B4-BE49-F238E27FC236}">
                <a16:creationId xmlns:a16="http://schemas.microsoft.com/office/drawing/2014/main" id="{A53576DB-CA5A-4052-8BE0-4372987D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573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ALTERNATIVES NOT SELECTED</a:t>
            </a:r>
          </a:p>
        </p:txBody>
      </p:sp>
      <p:sp>
        <p:nvSpPr>
          <p:cNvPr id="8" name="line-634">
            <a:extLst xmlns:a="http://schemas.openxmlformats.org/drawingml/2006/main">
              <a:ext uri="{FF2B5EF4-FFF2-40B4-BE49-F238E27FC236}">
                <a16:creationId xmlns:a16="http://schemas.microsoft.com/office/drawing/2014/main" id="{78A25795-2ECE-45F8-B22B-B92C9320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9" name="text-635">
            <a:extLst xmlns:a="http://schemas.openxmlformats.org/drawingml/2006/main">
              <a:ext uri="{FF2B5EF4-FFF2-40B4-BE49-F238E27FC236}">
                <a16:creationId xmlns:a16="http://schemas.microsoft.com/office/drawing/2014/main" id="{90E492DD-079F-4461-9D06-80E2D1A6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DECISION APPENDIX</a:t>
            </a:r>
          </a:p>
        </p:txBody>
      </p:sp>
      <p:sp>
        <p:nvSpPr>
          <p:cNvPr id="10" name="text-636">
            <a:extLst xmlns:a="http://schemas.openxmlformats.org/drawingml/2006/main">
              <a:ext uri="{FF2B5EF4-FFF2-40B4-BE49-F238E27FC236}">
                <a16:creationId xmlns:a16="http://schemas.microsoft.com/office/drawing/2014/main" id="{8A125607-64A7-4D7E-B811-7DFE12E4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6C6964"/>
                </a:solidFill>
                <a:latin typeface="Bahnschrift"/>
                <a:ea typeface="Bahnschrift"/>
                <a:cs typeface="Bahnschrift"/>
              </a:rPr>
              <a:t>23</a:t>
            </a:r>
          </a:p>
        </p:txBody>
      </p:sp>
      <p:sp>
        <p:nvSpPr>
          <p:cNvPr id="11" name="text-637">
            <a:extLst xmlns:a="http://schemas.openxmlformats.org/drawingml/2006/main">
              <a:ext uri="{FF2B5EF4-FFF2-40B4-BE49-F238E27FC236}">
                <a16:creationId xmlns:a16="http://schemas.microsoft.com/office/drawing/2014/main" id="{A60A8A41-A457-4D72-BF4D-577D4A1A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Analytics</a:t>
            </a:r>
          </a:p>
        </p:txBody>
      </p:sp>
      <p:sp>
        <p:nvSpPr>
          <p:cNvPr id="12" name="rect-638">
            <a:extLst xmlns:a="http://schemas.openxmlformats.org/drawingml/2006/main">
              <a:ext uri="{FF2B5EF4-FFF2-40B4-BE49-F238E27FC236}">
                <a16:creationId xmlns:a16="http://schemas.microsoft.com/office/drawing/2014/main" id="{2AB25E4B-AC3C-4DEA-98D1-6ABEA3FE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1857375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639">
            <a:extLst xmlns:a="http://schemas.openxmlformats.org/drawingml/2006/main">
              <a:ext uri="{FF2B5EF4-FFF2-40B4-BE49-F238E27FC236}">
                <a16:creationId xmlns:a16="http://schemas.microsoft.com/office/drawing/2014/main" id="{EC650126-D7F6-49C6-8A4F-2940315D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First-party event spine</a:t>
            </a:r>
          </a:p>
        </p:txBody>
      </p:sp>
      <p:sp>
        <p:nvSpPr>
          <p:cNvPr id="14" name="text-640">
            <a:extLst xmlns:a="http://schemas.openxmlformats.org/drawingml/2006/main">
              <a:ext uri="{FF2B5EF4-FFF2-40B4-BE49-F238E27FC236}">
                <a16:creationId xmlns:a16="http://schemas.microsoft.com/office/drawing/2014/main" id="{301A5B7F-F15F-4456-BB05-BD23F877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Analytics tools only  ·  Warehouse day one</a:t>
            </a:r>
          </a:p>
        </p:txBody>
      </p:sp>
      <p:sp>
        <p:nvSpPr>
          <p:cNvPr id="15" name="line-641">
            <a:extLst xmlns:a="http://schemas.openxmlformats.org/drawingml/2006/main">
              <a:ext uri="{FF2B5EF4-FFF2-40B4-BE49-F238E27FC236}">
                <a16:creationId xmlns:a16="http://schemas.microsoft.com/office/drawing/2014/main" id="{64BF4471-FD53-49DC-B1FF-DF3DEC6A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6" name="text-642">
            <a:extLst xmlns:a="http://schemas.openxmlformats.org/drawingml/2006/main">
              <a:ext uri="{FF2B5EF4-FFF2-40B4-BE49-F238E27FC236}">
                <a16:creationId xmlns:a16="http://schemas.microsoft.com/office/drawing/2014/main" id="{8AE623FC-2316-4CFD-8708-FA25A62A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Marketing</a:t>
            </a:r>
          </a:p>
        </p:txBody>
      </p:sp>
      <p:sp>
        <p:nvSpPr>
          <p:cNvPr id="17" name="rect-643">
            <a:extLst xmlns:a="http://schemas.openxmlformats.org/drawingml/2006/main">
              <a:ext uri="{FF2B5EF4-FFF2-40B4-BE49-F238E27FC236}">
                <a16:creationId xmlns:a16="http://schemas.microsoft.com/office/drawing/2014/main" id="{E2203F23-1B0D-4296-AC5B-B66267F3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26098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644">
            <a:extLst xmlns:a="http://schemas.openxmlformats.org/drawingml/2006/main">
              <a:ext uri="{FF2B5EF4-FFF2-40B4-BE49-F238E27FC236}">
                <a16:creationId xmlns:a16="http://schemas.microsoft.com/office/drawing/2014/main" id="{95BA8D51-0867-4E4C-AB62-CF94C341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Email + WhatsApp opt-in</a:t>
            </a:r>
          </a:p>
        </p:txBody>
      </p:sp>
      <p:sp>
        <p:nvSpPr>
          <p:cNvPr id="19" name="text-645">
            <a:extLst xmlns:a="http://schemas.openxmlformats.org/drawingml/2006/main">
              <a:ext uri="{FF2B5EF4-FFF2-40B4-BE49-F238E27FC236}">
                <a16:creationId xmlns:a16="http://schemas.microsoft.com/office/drawing/2014/main" id="{AE49357D-46BB-49ED-8513-716DBAB1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62225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WhatsApp only  ·  Transactional only</a:t>
            </a:r>
          </a:p>
        </p:txBody>
      </p:sp>
      <p:sp>
        <p:nvSpPr>
          <p:cNvPr id="20" name="line-646">
            <a:extLst xmlns:a="http://schemas.openxmlformats.org/drawingml/2006/main">
              <a:ext uri="{FF2B5EF4-FFF2-40B4-BE49-F238E27FC236}">
                <a16:creationId xmlns:a16="http://schemas.microsoft.com/office/drawing/2014/main" id="{17635706-D951-4A9A-A5EB-F9B692E8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1" name="text-647">
            <a:extLst xmlns:a="http://schemas.openxmlformats.org/drawingml/2006/main">
              <a:ext uri="{FF2B5EF4-FFF2-40B4-BE49-F238E27FC236}">
                <a16:creationId xmlns:a16="http://schemas.microsoft.com/office/drawing/2014/main" id="{EC983876-8124-41A2-88F5-58EEBA9B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Experiments</a:t>
            </a:r>
          </a:p>
        </p:txBody>
      </p:sp>
      <p:sp>
        <p:nvSpPr>
          <p:cNvPr id="22" name="rect-648">
            <a:extLst xmlns:a="http://schemas.openxmlformats.org/drawingml/2006/main">
              <a:ext uri="{FF2B5EF4-FFF2-40B4-BE49-F238E27FC236}">
                <a16:creationId xmlns:a16="http://schemas.microsoft.com/office/drawing/2014/main" id="{0B970A6B-0190-4D30-92F9-8C791CCE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362325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649">
            <a:extLst xmlns:a="http://schemas.openxmlformats.org/drawingml/2006/main">
              <a:ext uri="{FF2B5EF4-FFF2-40B4-BE49-F238E27FC236}">
                <a16:creationId xmlns:a16="http://schemas.microsoft.com/office/drawing/2014/main" id="{58609226-D852-474E-94B8-79D5F09C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14700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Feature flags + measured tests</a:t>
            </a:r>
          </a:p>
        </p:txBody>
      </p:sp>
      <p:sp>
        <p:nvSpPr>
          <p:cNvPr id="24" name="text-650">
            <a:extLst xmlns:a="http://schemas.openxmlformats.org/drawingml/2006/main">
              <a:ext uri="{FF2B5EF4-FFF2-40B4-BE49-F238E27FC236}">
                <a16:creationId xmlns:a16="http://schemas.microsoft.com/office/drawing/2014/main" id="{EA25AA79-7D43-459C-8606-BED930DC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Manual campaigns  ·  Automated optimization</a:t>
            </a:r>
          </a:p>
        </p:txBody>
      </p:sp>
      <p:sp>
        <p:nvSpPr>
          <p:cNvPr id="25" name="line-651">
            <a:extLst xmlns:a="http://schemas.openxmlformats.org/drawingml/2006/main">
              <a:ext uri="{FF2B5EF4-FFF2-40B4-BE49-F238E27FC236}">
                <a16:creationId xmlns:a16="http://schemas.microsoft.com/office/drawing/2014/main" id="{50517CDA-6C3C-49BF-9221-ADB420AC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6" name="text-652">
            <a:extLst xmlns:a="http://schemas.openxmlformats.org/drawingml/2006/main">
              <a:ext uri="{FF2B5EF4-FFF2-40B4-BE49-F238E27FC236}">
                <a16:creationId xmlns:a16="http://schemas.microsoft.com/office/drawing/2014/main" id="{8ABCCF8B-B32C-439A-BFEE-326DDCC5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Release shape</a:t>
            </a:r>
          </a:p>
        </p:txBody>
      </p:sp>
      <p:sp>
        <p:nvSpPr>
          <p:cNvPr id="27" name="rect-653">
            <a:extLst xmlns:a="http://schemas.openxmlformats.org/drawingml/2006/main">
              <a:ext uri="{FF2B5EF4-FFF2-40B4-BE49-F238E27FC236}">
                <a16:creationId xmlns:a16="http://schemas.microsoft.com/office/drawing/2014/main" id="{83E6AE20-2CD1-4BA8-A0EC-F0D02253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1148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654">
            <a:extLst xmlns:a="http://schemas.openxmlformats.org/drawingml/2006/main">
              <a:ext uri="{FF2B5EF4-FFF2-40B4-BE49-F238E27FC236}">
                <a16:creationId xmlns:a16="http://schemas.microsoft.com/office/drawing/2014/main" id="{C9B484F5-7E4E-43C3-9008-094BC263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67175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One complete v1; two gates</a:t>
            </a:r>
          </a:p>
        </p:txBody>
      </p:sp>
      <p:sp>
        <p:nvSpPr>
          <p:cNvPr id="29" name="text-655">
            <a:extLst xmlns:a="http://schemas.openxmlformats.org/drawingml/2006/main">
              <a:ext uri="{FF2B5EF4-FFF2-40B4-BE49-F238E27FC236}">
                <a16:creationId xmlns:a16="http://schemas.microsoft.com/office/drawing/2014/main" id="{219D2DD7-B2F4-44D6-8F1C-2A114375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Phased v1  ·  Lean MVP</a:t>
            </a:r>
          </a:p>
        </p:txBody>
      </p:sp>
      <p:sp>
        <p:nvSpPr>
          <p:cNvPr id="30" name="line-656">
            <a:extLst xmlns:a="http://schemas.openxmlformats.org/drawingml/2006/main">
              <a:ext uri="{FF2B5EF4-FFF2-40B4-BE49-F238E27FC236}">
                <a16:creationId xmlns:a16="http://schemas.microsoft.com/office/drawing/2014/main" id="{D74389F0-63F7-4BC7-8762-7663A5A2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1" name="text-657">
            <a:extLst xmlns:a="http://schemas.openxmlformats.org/drawingml/2006/main">
              <a:ext uri="{FF2B5EF4-FFF2-40B4-BE49-F238E27FC236}">
                <a16:creationId xmlns:a16="http://schemas.microsoft.com/office/drawing/2014/main" id="{DBBC8C07-F6FA-4C19-BD03-5CE6A462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Deferred scope</a:t>
            </a:r>
          </a:p>
        </p:txBody>
      </p:sp>
      <p:sp>
        <p:nvSpPr>
          <p:cNvPr id="32" name="rect-658">
            <a:extLst xmlns:a="http://schemas.openxmlformats.org/drawingml/2006/main">
              <a:ext uri="{FF2B5EF4-FFF2-40B4-BE49-F238E27FC236}">
                <a16:creationId xmlns:a16="http://schemas.microsoft.com/office/drawing/2014/main" id="{35531612-9AA9-40F9-847E-815A835B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867275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659">
            <a:extLst xmlns:a="http://schemas.openxmlformats.org/drawingml/2006/main">
              <a:ext uri="{FF2B5EF4-FFF2-40B4-BE49-F238E27FC236}">
                <a16:creationId xmlns:a16="http://schemas.microsoft.com/office/drawing/2014/main" id="{52004680-0E41-4283-94EB-9F8D7659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9650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Defer all named extensions</a:t>
            </a:r>
          </a:p>
        </p:txBody>
      </p:sp>
      <p:sp>
        <p:nvSpPr>
          <p:cNvPr id="34" name="text-660">
            <a:extLst xmlns:a="http://schemas.openxmlformats.org/drawingml/2006/main">
              <a:ext uri="{FF2B5EF4-FFF2-40B4-BE49-F238E27FC236}">
                <a16:creationId xmlns:a16="http://schemas.microsoft.com/office/drawing/2014/main" id="{BECE259D-7027-4AB9-AF68-ACB92E48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Add loyalty  ·  Add subscriptions</a:t>
            </a:r>
          </a:p>
        </p:txBody>
      </p:sp>
      <p:sp>
        <p:nvSpPr>
          <p:cNvPr id="35" name="line-661">
            <a:extLst xmlns:a="http://schemas.openxmlformats.org/drawingml/2006/main">
              <a:ext uri="{FF2B5EF4-FFF2-40B4-BE49-F238E27FC236}">
                <a16:creationId xmlns:a16="http://schemas.microsoft.com/office/drawing/2014/main" id="{73E713E6-2BC0-4819-BF22-AE7D685E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6" name="text-662">
            <a:extLst xmlns:a="http://schemas.openxmlformats.org/drawingml/2006/main">
              <a:ext uri="{FF2B5EF4-FFF2-40B4-BE49-F238E27FC236}">
                <a16:creationId xmlns:a16="http://schemas.microsoft.com/office/drawing/2014/main" id="{14CEE268-ACB9-4DAE-9BFB-ED6BF000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41414"/>
                </a:solidFill>
                <a:latin typeface="Bahnschrift"/>
                <a:ea typeface="Bahnschrift"/>
                <a:cs typeface="Bahnschrift"/>
              </a:rPr>
              <a:t>North star</a:t>
            </a:r>
          </a:p>
        </p:txBody>
      </p:sp>
      <p:sp>
        <p:nvSpPr>
          <p:cNvPr id="37" name="rect-663">
            <a:extLst xmlns:a="http://schemas.openxmlformats.org/drawingml/2006/main">
              <a:ext uri="{FF2B5EF4-FFF2-40B4-BE49-F238E27FC236}">
                <a16:creationId xmlns:a16="http://schemas.microsoft.com/office/drawing/2014/main" id="{B9388D09-1DDC-42FE-BDC0-0899778B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56197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664">
            <a:extLst xmlns:a="http://schemas.openxmlformats.org/drawingml/2006/main">
              <a:ext uri="{FF2B5EF4-FFF2-40B4-BE49-F238E27FC236}">
                <a16:creationId xmlns:a16="http://schemas.microsoft.com/office/drawing/2014/main" id="{81C9D923-1155-4836-9124-2DD78292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72125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✓ Delivered contribution</a:t>
            </a:r>
          </a:p>
        </p:txBody>
      </p:sp>
      <p:sp>
        <p:nvSpPr>
          <p:cNvPr id="39" name="text-665">
            <a:extLst xmlns:a="http://schemas.openxmlformats.org/drawingml/2006/main">
              <a:ext uri="{FF2B5EF4-FFF2-40B4-BE49-F238E27FC236}">
                <a16:creationId xmlns:a16="http://schemas.microsoft.com/office/drawing/2014/main" id="{3F560E62-561A-4EB2-9418-2A2C155E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72125"/>
            <a:ext cx="4238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69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964"/>
                </a:solidFill>
                <a:latin typeface="Arial"/>
                <a:ea typeface="Arial"/>
                <a:cs typeface="Arial"/>
              </a:rPr>
              <a:t>Conversion + AOV  ·  Gross revenue</a:t>
            </a:r>
          </a:p>
        </p:txBody>
      </p:sp>
    </p:spTree>
    <p:extLst>
      <p:ext uri="{BB962C8B-B14F-4D97-AF65-F5344CB8AC3E}">
        <p14:creationId xmlns:p14="http://schemas.microsoft.com/office/powerpoint/2010/main" val="2010673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2026-08-04T00:09:23.8530000Z</dcterms:created>
  <dcterms:modified xsi:type="dcterms:W3CDTF">2026-08-04T00:09:23.8530000Z</dcterms:modified>
</coreProperties>
</file>
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5_BA6019A.xml" ContentType="application/vnd.ms-powerpoint.comments+xml"/>
  <Override PartName="/ppt/notesSlides/notesSlide7.xml" ContentType="application/vnd.openxmlformats-officedocument.presentationml.notesSlide+xml"/>
  <Override PartName="/ppt/comments/modernComment_106_FDECCD2.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A_651DC85C.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0C_2F41EC59.xml" ContentType="application/vnd.ms-powerpoint.comments+xml"/>
  <Override PartName="/ppt/notesSlides/notesSlide14.xml" ContentType="application/vnd.openxmlformats-officedocument.presentationml.notesSlide+xml"/>
  <Override PartName="/ppt/comments/modernComment_10D_267E52DC.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F_4668E8CE.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13_6EAD5E0D.xml" ContentType="application/vnd.ms-powerpoint.comments+xml"/>
  <Override PartName="/ppt/notesSlides/notesSlide21.xml" ContentType="application/vnd.openxmlformats-officedocument.presentationml.notesSlide+xml"/>
  <Override PartName="/ppt/comments/modernComment_114_2E673F29.xml" ContentType="application/vnd.ms-powerpoint.comments+xml"/>
  <Override PartName="/ppt/notesSlides/notesSlide22.xml" ContentType="application/vnd.openxmlformats-officedocument.presentationml.notesSlide+xml"/>
  <Override PartName="/ppt/comments/modernComment_115_36B252EC.xml" ContentType="application/vnd.ms-powerpoint.comments+xml"/>
  <Override PartName="/ppt/notesSlides/notesSlide23.xml" ContentType="application/vnd.openxmlformats-officedocument.presentationml.notesSlide+xml"/>
  <Override PartName="/ppt/comments/modernComment_116_BED1426.xml" ContentType="application/vnd.ms-powerpoint.comments+xml"/>
  <Override PartName="/ppt/notesSlides/notesSlide24.xml" ContentType="application/vnd.openxmlformats-officedocument.presentationml.notesSlide+xml"/>
  <Override PartName="/ppt/comments/modernComment_117_26822537.xml" ContentType="application/vnd.ms-powerpoint.comments+xml"/>
  <Override PartName="/ppt/notesSlides/notesSlide25.xml" ContentType="application/vnd.openxmlformats-officedocument.presentationml.notesSlide+xml"/>
  <Override PartName="/ppt/comments/modernComment_118_3C96A023.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1A_1AFBC7FB.xml" ContentType="application/vnd.ms-powerpoint.comments+xml"/>
  <Override PartName="/ppt/notesSlides/notesSlide28.xml" ContentType="application/vnd.openxmlformats-officedocument.presentationml.notesSlide+xml"/>
  <Override PartName="/ppt/comments/modernComment_11B_68B81152.xml" ContentType="application/vnd.ms-powerpoint.comments+xml"/>
  <Override PartName="/ppt/notesSlides/notesSlide29.xml" ContentType="application/vnd.openxmlformats-officedocument.presentationml.notesSlide+xml"/>
  <Override PartName="/ppt/comments/modernComment_11C_75666B0D.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modernComment_120_7FE963B3.xml" ContentType="application/vnd.ms-powerpoint.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modernComment_124_16C5E5BC.xml" ContentType="application/vnd.ms-powerpoint.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omments/modernComment_126_5C4CAE1E.xml" ContentType="application/vnd.ms-powerpoint.comment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omments/modernComment_128_48978879.xml" ContentType="application/vnd.ms-powerpoint.comments+xml"/>
  <Override PartName="/ppt/notesSlides/notesSlide42.xml" ContentType="application/vnd.openxmlformats-officedocument.presentationml.notesSlide+xml"/>
  <Override PartName="/ppt/comments/modernComment_129_FA4B7DE.xml" ContentType="application/vnd.ms-powerpoint.comments+xml"/>
  <Override PartName="/ppt/notesSlides/notesSlide43.xml" ContentType="application/vnd.openxmlformats-officedocument.presentationml.notesSlide+xml"/>
  <Override PartName="/ppt/comments/modernComment_12A_488FB61E.xml" ContentType="application/vnd.ms-powerpoint.comments+xml"/>
  <Override PartName="/ppt/notesSlides/notesSlide44.xml" ContentType="application/vnd.openxmlformats-officedocument.presentationml.notesSlide+xml"/>
  <Override PartName="/ppt/comments/modernComment_12B_F04A790.xml" ContentType="application/vnd.ms-powerpoint.comments+xml"/>
  <Override PartName="/ppt/notesSlides/notesSlide45.xml" ContentType="application/vnd.openxmlformats-officedocument.presentationml.notesSlide+xml"/>
  <Override PartName="/ppt/comments/modernComment_12C_4FE49B10.xml" ContentType="application/vnd.ms-powerpoint.comment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omments/modernComment_12E_20E6D78B.xml" ContentType="application/vnd.ms-powerpoint.comments+xml"/>
  <Override PartName="/ppt/notesSlides/notesSlide48.xml" ContentType="application/vnd.openxmlformats-officedocument.presentationml.notesSlide+xml"/>
  <Override PartName="/ppt/comments/modernComment_12F_41947B90.xml" ContentType="application/vnd.ms-powerpoint.comments+xml"/>
  <Override PartName="/ppt/notesSlides/notesSlide49.xml" ContentType="application/vnd.openxmlformats-officedocument.presentationml.notesSlide+xml"/>
  <Override PartName="/ppt/comments/modernComment_130_3A64C9B5.xml" ContentType="application/vnd.ms-powerpoint.comments+xml"/>
  <Override PartName="/ppt/notesSlides/notesSlide50.xml" ContentType="application/vnd.openxmlformats-officedocument.presentationml.notesSlide+xml"/>
  <Override PartName="/ppt/comments/modernComment_131_11B604D4.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74CB319-FD07-D416-DBE5-95BE97AB9467}" name="Nayan Solanki" initials="NS" userId="S::nsolanki@gyanmirai.in::f4d2889d-f9d1-465a-838b-660aa73b16d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4F4AE1-BB9C-47FB-AA08-F58E34897C90}" v="16" dt="2026-08-05T04:44:10.1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166" autoAdjust="0"/>
  </p:normalViewPr>
  <p:slideViewPr>
    <p:cSldViewPr snapToGrid="0">
      <p:cViewPr varScale="1">
        <p:scale>
          <a:sx n="139" d="100"/>
          <a:sy n="139" d="100"/>
        </p:scale>
        <p:origin x="20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d3fabf40-b4aa-47e6-99b3-5235d317ecca::" providerId="AD" clId="Web-{A7306C6B-08E6-0348-2445-1DCBD00CD108}"/>
    <pc:docChg chg="modSld">
      <pc:chgData name="Guest User" userId="S::urn:spo:tenantanon#d3fabf40-b4aa-47e6-99b3-5235d317ecca::" providerId="AD" clId="Web-{A7306C6B-08E6-0348-2445-1DCBD00CD108}" dt="2026-08-05T04:05:19.972" v="1"/>
      <pc:docMkLst>
        <pc:docMk/>
      </pc:docMkLst>
      <pc:sldChg chg="modNotes">
        <pc:chgData name="Guest User" userId="S::urn:spo:tenantanon#d3fabf40-b4aa-47e6-99b3-5235d317ecca::" providerId="AD" clId="Web-{A7306C6B-08E6-0348-2445-1DCBD00CD108}" dt="2026-08-05T04:05:19.972" v="1"/>
        <pc:sldMkLst>
          <pc:docMk/>
          <pc:sldMk cId="1335986466" sldId="256"/>
        </pc:sldMkLst>
      </pc:sldChg>
    </pc:docChg>
  </pc:docChgLst>
  <pc:docChgLst>
    <pc:chgData name="Nayan Solanki" userId="f4d2889d-f9d1-465a-838b-660aa73b16d8" providerId="ADAL" clId="{A0A216D5-E359-4EED-B3EE-361C4B217F0E}"/>
    <pc:docChg chg="undo custSel modSld">
      <pc:chgData name="Nayan Solanki" userId="f4d2889d-f9d1-465a-838b-660aa73b16d8" providerId="ADAL" clId="{A0A216D5-E359-4EED-B3EE-361C4B217F0E}" dt="2026-08-05T04:25:00.413" v="2" actId="1076"/>
      <pc:docMkLst>
        <pc:docMk/>
      </pc:docMkLst>
      <pc:sldChg chg="modSp mod">
        <pc:chgData name="Nayan Solanki" userId="f4d2889d-f9d1-465a-838b-660aa73b16d8" providerId="ADAL" clId="{A0A216D5-E359-4EED-B3EE-361C4B217F0E}" dt="2026-08-05T04:15:38.270" v="0" actId="20577"/>
        <pc:sldMkLst>
          <pc:docMk/>
          <pc:sldMk cId="442999612" sldId="263"/>
        </pc:sldMkLst>
        <pc:spChg chg="mod">
          <ac:chgData name="Nayan Solanki" userId="f4d2889d-f9d1-465a-838b-660aa73b16d8" providerId="ADAL" clId="{A0A216D5-E359-4EED-B3EE-361C4B217F0E}" dt="2026-08-05T04:15:38.270" v="0" actId="20577"/>
          <ac:spMkLst>
            <pc:docMk/>
            <pc:sldMk cId="442999612" sldId="263"/>
            <ac:spMk id="11" creationId="{06B7E676-5905-46B1-96DB-4BDE387FBE64}"/>
          </ac:spMkLst>
        </pc:spChg>
      </pc:sldChg>
      <pc:sldChg chg="modSp mod">
        <pc:chgData name="Nayan Solanki" userId="f4d2889d-f9d1-465a-838b-660aa73b16d8" providerId="ADAL" clId="{A0A216D5-E359-4EED-B3EE-361C4B217F0E}" dt="2026-08-05T04:25:00.413" v="2" actId="1076"/>
        <pc:sldMkLst>
          <pc:docMk/>
          <pc:sldMk cId="1696450652" sldId="266"/>
        </pc:sldMkLst>
        <pc:spChg chg="mod">
          <ac:chgData name="Nayan Solanki" userId="f4d2889d-f9d1-465a-838b-660aa73b16d8" providerId="ADAL" clId="{A0A216D5-E359-4EED-B3EE-361C4B217F0E}" dt="2026-08-05T04:25:00.413" v="2" actId="1076"/>
          <ac:spMkLst>
            <pc:docMk/>
            <pc:sldMk cId="1696450652" sldId="266"/>
            <ac:spMk id="8" creationId="{6482DF71-A9CE-4579-8A6A-2BE2FD66ED4E}"/>
          </ac:spMkLst>
        </pc:spChg>
      </pc:sldChg>
    </pc:docChg>
  </pc:docChgLst>
</pc:chgInfo>
</file>

<file path=ppt/comments/modernComment_10A_651DC85C.xml><?xml version="1.0" encoding="utf-8"?>
<p188:cmLst xmlns:a="http://schemas.openxmlformats.org/drawingml/2006/main" xmlns:r="http://schemas.openxmlformats.org/officeDocument/2006/relationships" xmlns:p188="http://schemas.microsoft.com/office/powerpoint/2018/8/main">
  <p188:cm id="{6C50B9F3-3A9A-48EB-BB22-E331B9E2D378}" authorId="{F74CB319-FD07-D416-DBE5-95BE97AB9467}" created="2026-08-05T04:24:56.141">
    <pc:sldMkLst xmlns:pc="http://schemas.microsoft.com/office/powerpoint/2013/main/command">
      <pc:docMk/>
      <pc:sldMk cId="1696450652" sldId="266"/>
    </pc:sldMkLst>
    <p188:txBody>
      <a:bodyPr/>
      <a:lstStyle/>
      <a:p>
        <a:r>
          <a:rPr lang="en-US"/>
          <a:t>Lets keep it simple. 
Can we email discount code after delivery. No need to change based on return 
While we setting up the price we would consider it </a:t>
        </a:r>
      </a:p>
    </p188:txBody>
  </p188:cm>
</p188:cmLst>
</file>

<file path=ppt/comments/modernComment_10C_2F41EC59.xml><?xml version="1.0" encoding="utf-8"?>
<p188:cmLst xmlns:a="http://schemas.openxmlformats.org/drawingml/2006/main" xmlns:r="http://schemas.openxmlformats.org/officeDocument/2006/relationships" xmlns:p188="http://schemas.microsoft.com/office/powerpoint/2018/8/main">
  <p188:cm id="{83EC58CB-8B01-4F52-855A-08F447507246}" authorId="{F74CB319-FD07-D416-DBE5-95BE97AB9467}" created="2026-08-05T04:26:45.681">
    <pc:sldMkLst xmlns:pc="http://schemas.microsoft.com/office/powerpoint/2013/main/command">
      <pc:docMk/>
      <pc:sldMk cId="792849497" sldId="268"/>
    </pc:sldMkLst>
    <p188:txBody>
      <a:bodyPr/>
      <a:lstStyle/>
      <a:p>
        <a:r>
          <a:rPr lang="en-US"/>
          <a:t>Guest checkout is fine. But can we do with OTP? 
and optional email </a:t>
        </a:r>
      </a:p>
    </p188:txBody>
  </p188:cm>
</p188:cmLst>
</file>

<file path=ppt/comments/modernComment_10D_267E52DC.xml><?xml version="1.0" encoding="utf-8"?>
<p188:cmLst xmlns:a="http://schemas.openxmlformats.org/drawingml/2006/main" xmlns:r="http://schemas.openxmlformats.org/officeDocument/2006/relationships" xmlns:p188="http://schemas.microsoft.com/office/powerpoint/2018/8/main">
  <p188:cm id="{DF49447F-2B4C-4DBE-B036-A5724D30305A}" authorId="{F74CB319-FD07-D416-DBE5-95BE97AB9467}" created="2026-08-05T04:28:23.395">
    <pc:sldMkLst xmlns:pc="http://schemas.microsoft.com/office/powerpoint/2013/main/command">
      <pc:docMk/>
      <pc:sldMk cId="645812956" sldId="269"/>
    </pc:sldMkLst>
    <p188:txBody>
      <a:bodyPr/>
      <a:lstStyle/>
      <a:p>
        <a:r>
          <a:rPr lang="en-US"/>
          <a:t>We can create account based on mobile number. </a:t>
        </a:r>
      </a:p>
    </p188:txBody>
  </p188:cm>
</p188:cmLst>
</file>

<file path=ppt/comments/modernComment_10F_4668E8CE.xml><?xml version="1.0" encoding="utf-8"?>
<p188:cmLst xmlns:a="http://schemas.openxmlformats.org/drawingml/2006/main" xmlns:r="http://schemas.openxmlformats.org/officeDocument/2006/relationships" xmlns:p188="http://schemas.microsoft.com/office/powerpoint/2018/8/main">
  <p188:cm id="{26EBE7A1-94F7-4B61-A0CA-9695070CF5D7}" authorId="{F74CB319-FD07-D416-DBE5-95BE97AB9467}" created="2026-08-05T04:31:24.802">
    <pc:sldMkLst xmlns:pc="http://schemas.microsoft.com/office/powerpoint/2013/main/command">
      <pc:docMk/>
      <pc:sldMk cId="1181280462" sldId="271"/>
    </pc:sldMkLst>
    <p188:txBody>
      <a:bodyPr/>
      <a:lstStyle/>
      <a:p>
        <a:r>
          <a:rPr lang="en-US"/>
          <a:t>We should have COD but we will charge basic amount to cover shipping which is fixed cost 150rs
Need to make sure we don’t waste money on transportation 
There would be also additional charge on COD as shipper would charge us </a:t>
        </a:r>
      </a:p>
    </p188:txBody>
  </p188:cm>
</p188:cmLst>
</file>

<file path=ppt/comments/modernComment_11A_1AFBC7FB.xml><?xml version="1.0" encoding="utf-8"?>
<p188:cmLst xmlns:a="http://schemas.openxmlformats.org/drawingml/2006/main" xmlns:r="http://schemas.openxmlformats.org/officeDocument/2006/relationships" xmlns:p188="http://schemas.microsoft.com/office/powerpoint/2018/8/main">
  <p188:cm id="{961A85A6-2C51-458F-9EDD-949B079D2CCC}" authorId="{F74CB319-FD07-D416-DBE5-95BE97AB9467}" created="2026-08-06T04:15:57.271">
    <pc:sldMkLst xmlns:pc="http://schemas.microsoft.com/office/powerpoint/2013/main/command">
      <pc:docMk/>
      <pc:sldMk cId="452708347" sldId="282"/>
    </pc:sldMkLst>
    <p188:txBody>
      <a:bodyPr/>
      <a:lstStyle/>
      <a:p>
        <a:r>
          <a:rPr lang="en-US"/>
          <a:t>We can do 7 days return pol;cy for unopen items. We have to reissue shipping as well.
If there is an issue with open item, it will be issue based eligibility only. Should we do replacement in this case? </a:t>
        </a:r>
      </a:p>
    </p188:txBody>
  </p188:cm>
</p188:cmLst>
</file>

<file path=ppt/comments/modernComment_11B_68B81152.xml><?xml version="1.0" encoding="utf-8"?>
<p188:cmLst xmlns:a="http://schemas.openxmlformats.org/drawingml/2006/main" xmlns:r="http://schemas.openxmlformats.org/officeDocument/2006/relationships" xmlns:p188="http://schemas.microsoft.com/office/powerpoint/2018/8/main">
  <p188:cm id="{E65686CB-4E90-4F27-B71A-091F2E6F840E}" authorId="{F74CB319-FD07-D416-DBE5-95BE97AB9467}" created="2026-08-06T04:17:47.968">
    <pc:sldMkLst xmlns:pc="http://schemas.microsoft.com/office/powerpoint/2013/main/command">
      <pc:docMk/>
      <pc:sldMk cId="1756893522" sldId="283"/>
    </pc:sldMkLst>
    <p188:txBody>
      <a:bodyPr/>
      <a:lstStyle/>
      <a:p>
        <a:r>
          <a:rPr lang="en-US"/>
          <a:t>Before shipment initiation, we can do automatic (option B). 
It is shipped, they have to return unopened item. 
</a:t>
        </a:r>
      </a:p>
    </p188:txBody>
  </p188:cm>
</p188:cmLst>
</file>

<file path=ppt/comments/modernComment_11C_75666B0D.xml><?xml version="1.0" encoding="utf-8"?>
<p188:cmLst xmlns:a="http://schemas.openxmlformats.org/drawingml/2006/main" xmlns:r="http://schemas.openxmlformats.org/officeDocument/2006/relationships" xmlns:p188="http://schemas.microsoft.com/office/powerpoint/2018/8/main">
  <p188:cm id="{3BBE5CBD-474A-47D0-AD90-BAD4FBCD45CA}" authorId="{F74CB319-FD07-D416-DBE5-95BE97AB9467}" created="2026-08-06T04:19:15.067">
    <pc:sldMkLst xmlns:pc="http://schemas.microsoft.com/office/powerpoint/2013/main/command">
      <pc:docMk/>
      <pc:sldMk cId="1969646349" sldId="284"/>
    </pc:sldMkLst>
    <p188:txBody>
      <a:bodyPr/>
      <a:lstStyle/>
      <a:p>
        <a:r>
          <a:rPr lang="en-US"/>
          <a:t>Can you explain question? </a:t>
        </a:r>
      </a:p>
    </p188:txBody>
  </p188:cm>
</p188:cmLst>
</file>

<file path=ppt/comments/modernComment_12A_488FB61E.xml><?xml version="1.0" encoding="utf-8"?>
<p188:cmLst xmlns:a="http://schemas.openxmlformats.org/drawingml/2006/main" xmlns:r="http://schemas.openxmlformats.org/officeDocument/2006/relationships" xmlns:p188="http://schemas.microsoft.com/office/powerpoint/2018/8/main">
  <p188:cm id="{6F3FFB0D-4DFA-45A9-8707-417E49373DF6}" authorId="{F74CB319-FD07-D416-DBE5-95BE97AB9467}" created="2026-08-06T04:28:08.779">
    <ac:deMkLst xmlns:ac="http://schemas.microsoft.com/office/drawing/2013/main/command">
      <pc:docMk xmlns:pc="http://schemas.microsoft.com/office/powerpoint/2013/main/command"/>
      <pc:sldMk xmlns:pc="http://schemas.microsoft.com/office/powerpoint/2013/main/command" cId="1217377822" sldId="298"/>
      <ac:spMk id="7" creationId="{9FB9182A-089F-43FA-AFA6-D7575C4B65DF}"/>
    </ac:deMkLst>
    <p188:txBody>
      <a:bodyPr/>
      <a:lstStyle/>
      <a:p>
        <a:r>
          <a:rPr lang="en-US"/>
          <a:t>We will rely on Amazon inventory. Based on volume we will initiate the bulk shipment to Amazon WH </a:t>
        </a:r>
      </a:p>
    </p188:txBody>
  </p188:cm>
</p188:cmLst>
</file>

<file path=ppt/comments/modernComment_12B_F04A790.xml><?xml version="1.0" encoding="utf-8"?>
<p188:cmLst xmlns:a="http://schemas.openxmlformats.org/drawingml/2006/main" xmlns:r="http://schemas.openxmlformats.org/officeDocument/2006/relationships" xmlns:p188="http://schemas.microsoft.com/office/powerpoint/2018/8/main">
  <p188:cm id="{001685A0-F7BB-4EED-9F51-549F871F5626}" authorId="{F74CB319-FD07-D416-DBE5-95BE97AB9467}" created="2026-08-06T04:28:40.910">
    <pc:sldMkLst xmlns:pc="http://schemas.microsoft.com/office/powerpoint/2013/main/command">
      <pc:docMk/>
      <pc:sldMk cId="251963280" sldId="299"/>
    </pc:sldMkLst>
    <p188:txBody>
      <a:bodyPr/>
      <a:lstStyle/>
      <a:p>
        <a:r>
          <a:rPr lang="en-US"/>
          <a:t>We need to Lauch together (B</a:t>
        </a:r>
      </a:p>
    </p188:txBody>
  </p188:cm>
</p188:cmLst>
</file>

<file path=ppt/comments/modernComment_12C_4FE49B10.xml><?xml version="1.0" encoding="utf-8"?>
<p188:cmLst xmlns:a="http://schemas.openxmlformats.org/drawingml/2006/main" xmlns:r="http://schemas.openxmlformats.org/officeDocument/2006/relationships" xmlns:p188="http://schemas.microsoft.com/office/powerpoint/2018/8/main">
  <p188:cm id="{08DEC262-1483-4A7E-887D-7F1A4AB617D5}" authorId="{F74CB319-FD07-D416-DBE5-95BE97AB9467}" created="2026-08-06T04:29:23.748">
    <pc:sldMkLst xmlns:pc="http://schemas.microsoft.com/office/powerpoint/2013/main/command">
      <pc:docMk/>
      <pc:sldMk cId="1340381968" sldId="300"/>
    </pc:sldMkLst>
    <p188:txBody>
      <a:bodyPr/>
      <a:lstStyle/>
      <a:p>
        <a:r>
          <a:rPr lang="en-US"/>
          <a:t>Need to explain this one </a:t>
        </a:r>
      </a:p>
    </p188:txBody>
  </p188:cm>
</p188:cmLst>
</file>

<file path=ppt/comments/modernComment_12E_20E6D78B.xml><?xml version="1.0" encoding="utf-8"?>
<p188:cmLst xmlns:a="http://schemas.openxmlformats.org/drawingml/2006/main" xmlns:r="http://schemas.openxmlformats.org/officeDocument/2006/relationships" xmlns:p188="http://schemas.microsoft.com/office/powerpoint/2018/8/main">
  <p188:cm id="{BDD45A18-F891-469C-AF83-E9C9F5A2035A}" authorId="{F74CB319-FD07-D416-DBE5-95BE97AB9467}" created="2026-08-06T04:30:48.618">
    <pc:sldMkLst xmlns:pc="http://schemas.microsoft.com/office/powerpoint/2013/main/command">
      <pc:docMk/>
      <pc:sldMk cId="551999371" sldId="302"/>
    </pc:sldMkLst>
    <p188:txBody>
      <a:bodyPr/>
      <a:lstStyle/>
      <a:p>
        <a:r>
          <a:rPr lang="en-US"/>
          <a:t>Needs explanation 
</a:t>
        </a:r>
      </a:p>
    </p188:txBody>
  </p188:cm>
</p188:cmLst>
</file>

<file path=ppt/comments/modernComment_12F_41947B90.xml><?xml version="1.0" encoding="utf-8"?>
<p188:cmLst xmlns:a="http://schemas.openxmlformats.org/drawingml/2006/main" xmlns:r="http://schemas.openxmlformats.org/officeDocument/2006/relationships" xmlns:p188="http://schemas.microsoft.com/office/powerpoint/2018/8/main">
  <p188:cm id="{1DB3B248-D630-4873-A139-AD6ADA8C460E}" authorId="{F74CB319-FD07-D416-DBE5-95BE97AB9467}" created="2026-08-06T04:31:26.325">
    <pc:sldMkLst xmlns:pc="http://schemas.microsoft.com/office/powerpoint/2013/main/command">
      <pc:docMk/>
      <pc:sldMk cId="1100250000" sldId="303"/>
    </pc:sldMkLst>
    <p188:txBody>
      <a:bodyPr/>
      <a:lstStyle/>
      <a:p>
        <a:r>
          <a:rPr lang="en-US"/>
          <a:t>Need to understand this </a:t>
        </a:r>
      </a:p>
    </p188:txBody>
  </p188:cm>
</p188:cmLst>
</file>

<file path=ppt/comments/modernComment_105_BA6019A.xml><?xml version="1.0" encoding="utf-8"?>
<p188:cmLst xmlns:a="http://schemas.openxmlformats.org/drawingml/2006/main" xmlns:r="http://schemas.openxmlformats.org/officeDocument/2006/relationships" xmlns:p188="http://schemas.microsoft.com/office/powerpoint/2018/8/main">
  <p188:cm id="{D983F13D-F3E4-49E1-8DC0-CE97E57C49D9}" authorId="{F74CB319-FD07-D416-DBE5-95BE97AB9467}" created="2026-08-05T04:10:49.546">
    <pc:sldMkLst xmlns:pc="http://schemas.microsoft.com/office/powerpoint/2013/main/command">
      <pc:docMk/>
      <pc:sldMk cId="195428762" sldId="261"/>
    </pc:sldMkLst>
    <p188:txBody>
      <a:bodyPr/>
      <a:lstStyle/>
      <a:p>
        <a:r>
          <a:rPr lang="en-US"/>
          <a:t>We need to think on this if we should go with 3 or all 8 products 
</a:t>
        </a:r>
      </a:p>
    </p188:txBody>
  </p188:cm>
</p188:cmLst>
</file>

<file path=ppt/comments/modernComment_106_FDECCD2.xml><?xml version="1.0" encoding="utf-8"?>
<p188:cmLst xmlns:a="http://schemas.openxmlformats.org/drawingml/2006/main" xmlns:r="http://schemas.openxmlformats.org/officeDocument/2006/relationships" xmlns:p188="http://schemas.microsoft.com/office/powerpoint/2018/8/main">
  <p188:cm id="{C32CE76C-EAAF-4D9A-B4C1-4B12D51D45D3}" authorId="{F74CB319-FD07-D416-DBE5-95BE97AB9467}" created="2026-08-05T04:14:22.409">
    <pc:sldMkLst xmlns:pc="http://schemas.microsoft.com/office/powerpoint/2013/main/command">
      <pc:docMk/>
      <pc:sldMk cId="266259666" sldId="262"/>
    </pc:sldMkLst>
    <p188:txBody>
      <a:bodyPr/>
      <a:lstStyle/>
      <a:p>
        <a:r>
          <a:rPr lang="en-US"/>
          <a:t>We will add card for 10% discount for next order </a:t>
        </a:r>
      </a:p>
    </p188:txBody>
  </p188:cm>
</p188:cmLst>
</file>

<file path=ppt/comments/modernComment_113_6EAD5E0D.xml><?xml version="1.0" encoding="utf-8"?>
<p188:cmLst xmlns:a="http://schemas.openxmlformats.org/drawingml/2006/main" xmlns:r="http://schemas.openxmlformats.org/officeDocument/2006/relationships" xmlns:p188="http://schemas.microsoft.com/office/powerpoint/2018/8/main">
  <p188:cm id="{2EFBA5B3-D538-40F4-AF4A-3E317F910E7F}" authorId="{F74CB319-FD07-D416-DBE5-95BE97AB9467}" created="2026-08-05T04:35:04.231">
    <pc:sldMkLst xmlns:pc="http://schemas.microsoft.com/office/powerpoint/2013/main/command">
      <pc:docMk/>
      <pc:sldMk cId="1856855565" sldId="275"/>
    </pc:sldMkLst>
    <p188:txBody>
      <a:bodyPr/>
      <a:lstStyle/>
      <a:p>
        <a:r>
          <a:rPr lang="en-US"/>
          <a:t>As soon as we have mfg lot #, we can share test report of product 
I don’t know what else you need </a:t>
        </a:r>
      </a:p>
    </p188:txBody>
  </p188:cm>
</p188:cmLst>
</file>

<file path=ppt/comments/modernComment_114_2E673F29.xml><?xml version="1.0" encoding="utf-8"?>
<p188:cmLst xmlns:a="http://schemas.openxmlformats.org/drawingml/2006/main" xmlns:r="http://schemas.openxmlformats.org/officeDocument/2006/relationships" xmlns:p188="http://schemas.microsoft.com/office/powerpoint/2018/8/main">
  <p188:cm id="{891CC0B9-E32F-422B-A0EE-B489286FDEA1}" authorId="{F74CB319-FD07-D416-DBE5-95BE97AB9467}" created="2026-08-05T04:39:16.253">
    <pc:sldMkLst xmlns:pc="http://schemas.microsoft.com/office/powerpoint/2013/main/command">
      <pc:docMk/>
      <pc:sldMk cId="778518313" sldId="276"/>
    </pc:sldMkLst>
    <p188:txBody>
      <a:bodyPr/>
      <a:lstStyle/>
      <a:p>
        <a:r>
          <a:rPr lang="en-US"/>
          <a:t>The QR would land to the product page. The customer has to add lot # to see the test report </a:t>
        </a:r>
      </a:p>
    </p188:txBody>
  </p188:cm>
</p188:cmLst>
</file>

<file path=ppt/comments/modernComment_115_36B252EC.xml><?xml version="1.0" encoding="utf-8"?>
<p188:cmLst xmlns:a="http://schemas.openxmlformats.org/drawingml/2006/main" xmlns:r="http://schemas.openxmlformats.org/officeDocument/2006/relationships" xmlns:p188="http://schemas.microsoft.com/office/powerpoint/2018/8/main">
  <p188:cm id="{AEC34A17-D095-4862-B04A-14727F444F22}" authorId="{F74CB319-FD07-D416-DBE5-95BE97AB9467}" created="2026-08-05T04:40:08.520">
    <pc:sldMkLst xmlns:pc="http://schemas.microsoft.com/office/powerpoint/2013/main/command">
      <pc:docMk/>
      <pc:sldMk cId="917656300" sldId="277"/>
    </pc:sldMkLst>
    <p188:txBody>
      <a:bodyPr/>
      <a:lstStyle/>
      <a:p>
        <a:r>
          <a:rPr lang="en-US"/>
          <a:t>We can make appropriate report before and share with you 
We will decide the format of report as we go </a:t>
        </a:r>
      </a:p>
    </p188:txBody>
  </p188:cm>
</p188:cmLst>
</file>

<file path=ppt/comments/modernComment_116_BED1426.xml><?xml version="1.0" encoding="utf-8"?>
<p188:cmLst xmlns:a="http://schemas.openxmlformats.org/drawingml/2006/main" xmlns:r="http://schemas.openxmlformats.org/officeDocument/2006/relationships" xmlns:p188="http://schemas.microsoft.com/office/powerpoint/2018/8/main">
  <p188:cm id="{F1B5CDA8-4D45-4040-832E-B4F7D418B997}" authorId="{F74CB319-FD07-D416-DBE5-95BE97AB9467}" created="2026-08-05T04:40:52.148">
    <pc:sldMkLst xmlns:pc="http://schemas.microsoft.com/office/powerpoint/2013/main/command">
      <pc:docMk/>
      <pc:sldMk cId="200086566" sldId="278"/>
    </pc:sldMkLst>
    <p188:txBody>
      <a:bodyPr/>
      <a:lstStyle/>
      <a:p>
        <a:r>
          <a:rPr lang="en-US"/>
          <a:t>I don’t know what we need? </a:t>
        </a:r>
      </a:p>
    </p188:txBody>
  </p188:cm>
</p188:cmLst>
</file>

<file path=ppt/comments/modernComment_117_26822537.xml><?xml version="1.0" encoding="utf-8"?>
<p188:cmLst xmlns:a="http://schemas.openxmlformats.org/drawingml/2006/main" xmlns:r="http://schemas.openxmlformats.org/officeDocument/2006/relationships" xmlns:p188="http://schemas.microsoft.com/office/powerpoint/2018/8/main">
  <p188:cm id="{8B8F7177-A8AA-405C-A827-110E6867BB61}" authorId="{F74CB319-FD07-D416-DBE5-95BE97AB9467}" created="2026-08-05T04:44:10.168">
    <pc:sldMkLst xmlns:pc="http://schemas.microsoft.com/office/powerpoint/2013/main/command">
      <pc:docMk/>
      <pc:sldMk cId="646063415" sldId="279"/>
    </pc:sldMkLst>
    <p188:txBody>
      <a:bodyPr/>
      <a:lstStyle/>
      <a:p>
        <a:r>
          <a:rPr lang="en-US"/>
          <a:t>If there is an issue with product we can return at any point 
For safety, we don’t have anything for now </a:t>
        </a:r>
      </a:p>
    </p188:txBody>
  </p188:cm>
</p188:cmLst>
</file>

<file path=ppt/comments/modernComment_118_3C96A023.xml><?xml version="1.0" encoding="utf-8"?>
<p188:cmLst xmlns:a="http://schemas.openxmlformats.org/drawingml/2006/main" xmlns:r="http://schemas.openxmlformats.org/officeDocument/2006/relationships" xmlns:p188="http://schemas.microsoft.com/office/powerpoint/2018/8/main">
  <p188:cm id="{74B2815C-B829-4547-868D-89B70CFC5DF7}" authorId="{F74CB319-FD07-D416-DBE5-95BE97AB9467}" created="2026-08-06T04:13:45.719">
    <pc:sldMkLst xmlns:pc="http://schemas.microsoft.com/office/powerpoint/2013/main/command">
      <pc:docMk/>
      <pc:sldMk cId="1016504355" sldId="280"/>
    </pc:sldMkLst>
    <p188:txBody>
      <a:bodyPr/>
      <a:lstStyle/>
      <a:p>
        <a:r>
          <a:rPr lang="en-US"/>
          <a:t>A is fine. Would we have case ID for each case?
We should also do phone in the beginning. If that gets too much after we grow, we can remove it. </a:t>
        </a:r>
      </a:p>
    </p188:txBody>
  </p188:cm>
</p188:cmLst>
</file>

<file path=ppt/comments/modernComment_120_7FE963B3.xml><?xml version="1.0" encoding="utf-8"?>
<p188:cmLst xmlns:a="http://schemas.openxmlformats.org/drawingml/2006/main" xmlns:r="http://schemas.openxmlformats.org/officeDocument/2006/relationships" xmlns:p188="http://schemas.microsoft.com/office/powerpoint/2018/8/main">
  <p188:cm id="{58D32151-B4B4-4FFA-A90C-65625BF7BEC7}" authorId="{F74CB319-FD07-D416-DBE5-95BE97AB9467}" created="2026-08-06T04:24:16.748">
    <pc:sldMkLst xmlns:pc="http://schemas.microsoft.com/office/powerpoint/2013/main/command">
      <pc:docMk/>
      <pc:sldMk cId="2146001843" sldId="288"/>
    </pc:sldMkLst>
    <p188:txBody>
      <a:bodyPr/>
      <a:lstStyle/>
      <a:p>
        <a:r>
          <a:rPr lang="en-US"/>
          <a:t>This is fine for now. 
We will adjust/modify as we grow </a:t>
        </a:r>
      </a:p>
    </p188:txBody>
  </p188:cm>
</p188:cmLst>
</file>

<file path=ppt/comments/modernComment_124_16C5E5BC.xml><?xml version="1.0" encoding="utf-8"?>
<p188:cmLst xmlns:a="http://schemas.openxmlformats.org/drawingml/2006/main" xmlns:r="http://schemas.openxmlformats.org/officeDocument/2006/relationships" xmlns:p188="http://schemas.microsoft.com/office/powerpoint/2018/8/main">
  <p188:cm id="{7A59D99D-E551-4020-B361-5A001FED154C}" authorId="{F74CB319-FD07-D416-DBE5-95BE97AB9467}" created="2026-08-06T04:25:30.742">
    <pc:sldMkLst xmlns:pc="http://schemas.microsoft.com/office/powerpoint/2013/main/command">
      <pc:docMk/>
      <pc:sldMk cId="382068156" sldId="292"/>
    </pc:sldMkLst>
    <p188:txBody>
      <a:bodyPr/>
      <a:lstStyle/>
      <a:p>
        <a:r>
          <a:rPr lang="en-US"/>
          <a:t>Hardcore 
Vayuvega and Shipneer </a:t>
        </a:r>
      </a:p>
    </p188:txBody>
  </p188:cm>
</p188:cmLst>
</file>

<file path=ppt/comments/modernComment_126_5C4CAE1E.xml><?xml version="1.0" encoding="utf-8"?>
<p188:cmLst xmlns:a="http://schemas.openxmlformats.org/drawingml/2006/main" xmlns:r="http://schemas.openxmlformats.org/officeDocument/2006/relationships" xmlns:p188="http://schemas.microsoft.com/office/powerpoint/2018/8/main">
  <p188:cm id="{5E9BFC8A-F28D-4538-A571-403A0BA8FAEE}" authorId="{F74CB319-FD07-D416-DBE5-95BE97AB9467}" created="2026-08-06T04:26:22.513">
    <pc:sldMkLst xmlns:pc="http://schemas.microsoft.com/office/powerpoint/2013/main/command">
      <pc:docMk/>
      <pc:sldMk cId="1548529182" sldId="294"/>
    </pc:sldMkLst>
    <p188:txBody>
      <a:bodyPr/>
      <a:lstStyle/>
      <a:p>
        <a:r>
          <a:rPr lang="en-US"/>
          <a:t>We may add or remove after 1-2 months </a:t>
        </a:r>
      </a:p>
    </p188:txBody>
  </p188:cm>
</p188:cmLst>
</file>

<file path=ppt/comments/modernComment_128_48978879.xml><?xml version="1.0" encoding="utf-8"?>
<p188:cmLst xmlns:a="http://schemas.openxmlformats.org/drawingml/2006/main" xmlns:r="http://schemas.openxmlformats.org/officeDocument/2006/relationships" xmlns:p188="http://schemas.microsoft.com/office/powerpoint/2018/8/main">
  <p188:cm id="{E28771ED-530E-45B2-B3F6-857AC311E747}" authorId="{F74CB319-FD07-D416-DBE5-95BE97AB9467}" created="2026-08-06T04:27:13.048">
    <pc:sldMkLst xmlns:pc="http://schemas.microsoft.com/office/powerpoint/2013/main/command">
      <pc:docMk/>
      <pc:sldMk cId="1217890425" sldId="296"/>
    </pc:sldMkLst>
    <p188:txBody>
      <a:bodyPr/>
      <a:lstStyle/>
      <a:p>
        <a:r>
          <a:rPr lang="en-US"/>
          <a:t>This will be managed by Amazon and Agency. </a:t>
        </a:r>
      </a:p>
    </p188:txBody>
  </p188:cm>
</p188:cmLst>
</file>

<file path=ppt/comments/modernComment_129_FA4B7DE.xml><?xml version="1.0" encoding="utf-8"?>
<p188:cmLst xmlns:a="http://schemas.openxmlformats.org/drawingml/2006/main" xmlns:r="http://schemas.openxmlformats.org/officeDocument/2006/relationships" xmlns:p188="http://schemas.microsoft.com/office/powerpoint/2018/8/main">
  <p188:cm id="{D516F357-0266-4F0A-B5C8-EC873ADBDE19}" authorId="{F74CB319-FD07-D416-DBE5-95BE97AB9467}" created="2026-08-06T04:27:26.570">
    <pc:sldMkLst xmlns:pc="http://schemas.microsoft.com/office/powerpoint/2013/main/command">
      <pc:docMk/>
      <pc:sldMk cId="262453214" sldId="297"/>
    </pc:sldMkLst>
    <p188:txBody>
      <a:bodyPr/>
      <a:lstStyle/>
      <a:p>
        <a:r>
          <a:rPr lang="en-US"/>
          <a:t>This is FBA only </a:t>
        </a:r>
      </a:p>
    </p188:txBody>
  </p188:cm>
</p188:cmLst>
</file>

<file path=ppt/comments/modernComment_130_3A64C9B5.xml><?xml version="1.0" encoding="utf-8"?>
<p188:cmLst xmlns:a="http://schemas.openxmlformats.org/drawingml/2006/main" xmlns:r="http://schemas.openxmlformats.org/officeDocument/2006/relationships" xmlns:p188="http://schemas.microsoft.com/office/powerpoint/2018/8/main">
  <p188:cm id="{DF1F9DC1-6DA9-47DD-834C-51B65F652412}" authorId="{F74CB319-FD07-D416-DBE5-95BE97AB9467}" created="2026-08-06T04:31:46.689">
    <pc:sldMkLst xmlns:pc="http://schemas.microsoft.com/office/powerpoint/2013/main/command">
      <pc:docMk/>
      <pc:sldMk cId="979683765" sldId="304"/>
    </pc:sldMkLst>
    <p188:txBody>
      <a:bodyPr/>
      <a:lstStyle/>
      <a:p>
        <a:r>
          <a:rPr lang="en-US"/>
          <a:t>This needs explanation as well </a:t>
        </a:r>
      </a:p>
    </p188:txBody>
  </p188:cm>
</p188:cmLst>
</file>

<file path=ppt/comments/modernComment_131_11B604D4.xml><?xml version="1.0" encoding="utf-8"?>
<p188:cmLst xmlns:a="http://schemas.openxmlformats.org/drawingml/2006/main" xmlns:r="http://schemas.openxmlformats.org/officeDocument/2006/relationships" xmlns:p188="http://schemas.microsoft.com/office/powerpoint/2018/8/main">
  <p188:cm id="{5199D577-A935-4739-A31A-404B65225311}" authorId="{F74CB319-FD07-D416-DBE5-95BE97AB9467}" created="2026-08-06T04:32:22.023">
    <pc:sldMkLst xmlns:pc="http://schemas.microsoft.com/office/powerpoint/2013/main/command">
      <pc:docMk/>
      <pc:sldMk cId="297141460" sldId="305"/>
    </pc:sldMkLst>
    <p188:txBody>
      <a:bodyPr/>
      <a:lstStyle/>
      <a:p>
        <a:r>
          <a:rPr lang="en-US"/>
          <a:t>This needs explanation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deck as a structured leadership questionnaire. Each following slide asks for one decision and shows the current PRD recommendation as Option A.</a:t>
            </a:r>
          </a:p>
          <a:p>
            <a:endParaRPr/>
          </a:p>
          <a:p>
            <a:r>
              <a:t>[Sources]</a:t>
            </a:r>
          </a:p>
          <a:p>
            <a:r>
              <a:t>- Body Cafe Co Functional Requirements PRD v1.0, internal workspace, 2026-08-03.</a:t>
            </a:r>
          </a:p>
          <a:p>
            <a:r>
              <a:t>- Body Cafe Co Website Context Brain, internal workspace, 2026-08-03.</a:t>
            </a:r>
          </a:p>
          <a:p>
            <a:r>
              <a:t>- Approved Body Cafe Co functional decision workshop in this Codex task, 2026-08-03.</a:t>
            </a:r>
          </a:p>
          <a:p>
            <a:r>
              <a:t>- Body Cafe Co supplied logo assets, internal workspace.</a:t>
            </a:r>
          </a:p>
          <a:p>
            <a:r>
              <a:t>- Body Cafe Co Colours.xlsx, internal workspace.</a:t>
            </a:r>
            <a:r>
              <a:rPr lang="en-US"/>
              <a:t>  </a:t>
            </a:r>
            <a:endParaRP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 of 49. Approve the current PRD direction or select one alternative. System impact: Sets acquisition targeting, homepage messaging and reporting segments.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 of 49. Approve the current PRD direction or select one alternative. System impact: Controls the conversion journey and the success criteria for public commerce.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 of 49. Approve the current PRD direction or select one alternative. System impact: Guides content governance without defining the later visual design system.</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 of 49. Approve the current PRD direction or select one alternative. System impact: Determines content models, templates and localization readiness.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5 of 49. Approve the current PRD direction or select one alternative. System impact: Defines product publication controls and catalogue configuration.</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6 of 49. Approve the current PRD direction or select one alternative. System impact: Sets checkout, pricing and lifecycle requirements.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7 of 49. Approve the current PRD direction or select one alternative. System impact: Defines allowed offer logic and prohibited dark patterns.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8 of 49. Approve the current PRD direction or select one alternative. System impact: Controls offer eligibility, explainability and data requirements.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9 of 49. Approve the current PRD direction or select one alternative. System impact: Sets post-purchase messaging and customer-account scope.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10 of 49. Approve the current PRD direction or select one alternative. System impact: Controls fraud exposure, reversals and credit-ledger timing.</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11 of 49. Approve the current PRD direction or select one alternative. System impact: Defines review authenticity, moderation and order linkage.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12 of 49. Approve the current PRD direction or select one alternative. System impact: Directly affects conversion friction and identity architecture.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13 of 49. Approve the current PRD direction or select one alternative. System impact: Defines post-purchase data access and account migration.</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14 of 49. Approve the current PRD direction or select one alternative. System impact: Sets identity-provider, fallback and recovery requirements.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15 of 49. Approve the current PRD direction or select one alternative. System impact: Determines payment states while avoiding launch risk.</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16 of 49. Approve the current PRD direction or select one alternative. System impact: Controls concurrency, oversell prevention and payment recovery.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17 of 49. Approve the current PRD direction or select one alternative. System impact: Sets invoice fields without increasing normal B2C checkout friction.</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18 of 49. Approve the current PRD direction or select one alternative. System impact: Separates unrestricted browsing from purchaser eligibility.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19 of 49. Approve the current PRD direction or select one alternative. System impact: Defines the non-negotiable product and batch publication gate.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20 of 49. Approve the current PRD direction or select one alternative. System impact: Defines public batch proof and per-unit authenticity controls.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21 of 49. Approve the current PRD direction or select one alternative. System impact: Controls transparency, redaction and document versioning.</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22 of 49. Approve the current PRD direction or select one alternative. System impact: Determines security ownership, export controls and audit history.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23 of 49. Approve the current PRD direction or select one alternative. System impact: Defines escalation priority, notifications and recall readiness.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24 of 49. Approve the current PRD direction or select one alternative. System impact: Controls SLA ownership, order context and escalation history.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25 of 49. Approve the current PRD direction or select one alternative. System impact: Defines evidence review, abuse controls and operational workload.</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26 of 49. Approve the current PRD direction or select one alternative. System impact: Sets default eligibility and configurable evidence windows.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27 of 49. Approve the current PRD direction or select one alternative. System impact: Controls fulfilment coordination and refund consistency.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Decision 28 of 49. Approve the current PRD direction or select one alternative. System impact: Defines reusable approved content outside individual product pages.</a:t>
            </a:r>
          </a:p>
          <a:p>
            <a:endParaRPr dirty="0"/>
          </a:p>
          <a:p>
            <a:r>
              <a:rPr dirty="0"/>
              <a:t>[Sources]</a:t>
            </a:r>
          </a:p>
          <a:p>
            <a:r>
              <a:rPr dirty="0"/>
              <a:t>- Body Cafe Co Functional Requirements PRD v1.0, internal workspace, 2026-08-03.</a:t>
            </a:r>
          </a:p>
          <a:p>
            <a:r>
              <a:rPr dirty="0"/>
              <a:t>- Approved Body Cafe Co functional decision workshop in this Codex task, 2026-08-03.</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29 of 49. Approve the current PRD direction or select one alternative. System impact: Defines which operational domains remain under company control.</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30 of 49. Approve the current PRD direction or select one alternative. System impact: Determines oversell prevention, reconciliation and auditability.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31 of 49. Approve the current PRD direction or select one alternative. System impact: Sets authorization scope while keeping the first release maintainable.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32 of 49. Approve the current PRD direction or select one alternative. System impact: Defines governance for high-risk operational mutations.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33 of 49. Approve the current PRD direction or select one alternative. System impact: Controls separation of duties and operational availability.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34 of 49. Approve the current PRD direction or select one alternative. System impact: Sets enterprise identity, MFA and offboarding controls.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35 of 49. Approve the current PRD direction or select one alternative. System impact: Defines integration scope and the evidence needed for procurement decisions.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36 of 49. Approve the current PRD direction or select one alternative. System impact: Separates the integration contract from the final vendor choice.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37 of 49. Approve the current PRD direction or select one alternative. System impact: Determines whether courier performance comparisons are valid.</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38 of 49. Approve the current PRD direction or select one alternative. System impact: Sets initial operations while preserving future location support.</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39 of 49. Approve the current PRD direction or select one alternative. System impact: Defines the marketplace commitment and D2C boundary.</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40 of 49. Approve the current PRD direction or select one alternative. System impact: Sets the SP-API boundary and avoids duplicating Seller Central.</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41 of 49. Approve the current PRD direction or select one alternative. System impact: Defines order-state, inventory-location and reconciliation models.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42 of 49. Approve the current PRD direction or select one alternative. System impact: Defines shared availability, channel buffers and FBA stock state.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43 of 49. Approve the current PRD direction or select one alternative. System impact: Determines activation sequencing for the complete v1 programme.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44 of 49. Approve the current PRD direction or select one alternative. System impact: Defines event ownership, consent propagation and reproducible reporting.</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45 of 49. Approve the current PRD direction or select one alternative. System impact: Sets channel-specific consent and outbound communication requirements.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46 of 49. Approve the current PRD direction or select one alternative. System impact: Defines assignment, exposure logging and operational guardrails.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47 of 49. Approve the current PRD direction or select one alternative. System impact: Separates activation sequencing from the committed functional scope.</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48 of 49. Approve the current PRD direction or select one alternative. System impact: Protects the launch scope from subscriptions, loyalty and adjacent products.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49 of 49. Approve the current PRD direction or select one alternative. System impact: Determines executive reporting and optimization priorities.</a:t>
            </a:r>
          </a:p>
          <a:p>
            <a:endParaRPr/>
          </a:p>
          <a:p>
            <a:r>
              <a:t>[Sources]</a:t>
            </a:r>
          </a:p>
          <a:p>
            <a:r>
              <a:t>- Body Cafe Co Functional Requirements PRD v1.0, internal workspace, 2026-08-03.</a:t>
            </a:r>
          </a:p>
          <a:p>
            <a:r>
              <a:t>- Approved Body Cafe Co functional decision workshop in this Codex task,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BA6019A.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FDECCD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651DC85C.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C_2F41EC59.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0D_267E52DC.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F_4668E8CE.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13_6EAD5E0D.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14_2E673F29.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5_36B252EC.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16_BED1426.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microsoft.com/office/2018/10/relationships/comments" Target="../comments/modernComment_117_26822537.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18_3C96A023.xm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1A_1AFBC7FB.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1B_68B81152.xm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1C_75666B0D.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20_7FE963B3.xm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microsoft.com/office/2018/10/relationships/comments" Target="../comments/modernComment_124_16C5E5BC.xm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microsoft.com/office/2018/10/relationships/comments" Target="../comments/modernComment_126_5C4CAE1E.xm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128_48978879.xml"/><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microsoft.com/office/2018/10/relationships/comments" Target="../comments/modernComment_129_FA4B7DE.xml"/><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microsoft.com/office/2018/10/relationships/comments" Target="../comments/modernComment_12A_488FB61E.xml"/><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microsoft.com/office/2018/10/relationships/comments" Target="../comments/modernComment_12B_F04A790.xm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microsoft.com/office/2018/10/relationships/comments" Target="../comments/modernComment_12C_4FE49B10.xml"/><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microsoft.com/office/2018/10/relationships/comments" Target="../comments/modernComment_12E_20E6D78B.xml"/><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microsoft.com/office/2018/10/relationships/comments" Target="../comments/modernComment_12F_41947B90.xml"/><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microsoft.com/office/2018/10/relationships/comments" Target="../comments/modernComment_130_3A64C9B5.xml"/><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microsoft.com/office/2018/10/relationships/comments" Target="../comments/modernComment_131_11B604D4.xml"/><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647700" y="485444"/>
            <a:ext cx="704850" cy="686463"/>
          </a:xfrm>
          <a:prstGeom prst="rect">
            <a:avLst/>
          </a:prstGeom>
        </p:spPr>
      </p:pic>
      <p:sp>
        <p:nvSpPr>
          <p:cNvPr id="2" name="text-1">
            <a:extLst>
              <a:ext uri="{FF2B5EF4-FFF2-40B4-BE49-F238E27FC236}">
                <a16:creationId xmlns:a16="http://schemas.microsoft.com/office/drawing/2014/main" id="{CAB2437B-A96E-46AC-8A5B-47D28755F8E3}"/>
              </a:ext>
            </a:extLst>
          </p:cNvPr>
          <p:cNvSpPr>
            <a:spLocks noGrp="1"/>
          </p:cNvSpPr>
          <p:nvPr/>
        </p:nvSpPr>
        <p:spPr>
          <a:xfrm>
            <a:off x="647700" y="1571625"/>
            <a:ext cx="6286500" cy="285750"/>
          </a:xfrm>
          <a:prstGeom prst="rect">
            <a:avLst/>
          </a:prstGeom>
          <a:noFill/>
          <a:ln w="0">
            <a:noFill/>
            <a:prstDash val="solid"/>
          </a:ln>
        </p:spPr>
        <p:txBody>
          <a:bodyPr wrap="square" lIns="0" tIns="0" rIns="0" bIns="0" anchor="t">
            <a:noAutofit/>
          </a:bodyPr>
          <a:lstStyle/>
          <a:p>
            <a:pPr algn="l">
              <a:defRPr sz="1200" b="1">
                <a:solidFill>
                  <a:srgbClr val="B9B4AA"/>
                </a:solidFill>
                <a:latin typeface="Bahnschrift"/>
                <a:ea typeface="Bahnschrift"/>
                <a:cs typeface="Bahnschrift"/>
              </a:defRPr>
            </a:pPr>
            <a:r>
              <a:rPr sz="1200" b="1">
                <a:solidFill>
                  <a:srgbClr val="B9B4AA"/>
                </a:solidFill>
                <a:latin typeface="Bahnschrift"/>
                <a:ea typeface="Bahnschrift"/>
                <a:cs typeface="Bahnschrift"/>
              </a:rPr>
              <a:t>FUNCTIONAL REQUIREMENTS VALIDATION</a:t>
            </a:r>
          </a:p>
        </p:txBody>
      </p:sp>
      <p:sp>
        <p:nvSpPr>
          <p:cNvPr id="3" name="text-2">
            <a:extLst>
              <a:ext uri="{FF2B5EF4-FFF2-40B4-BE49-F238E27FC236}">
                <a16:creationId xmlns:a16="http://schemas.microsoft.com/office/drawing/2014/main" id="{85E46A4E-F9D9-453E-ACD7-6DD5300E8F92}"/>
              </a:ext>
            </a:extLst>
          </p:cNvPr>
          <p:cNvSpPr>
            <a:spLocks noGrp="1"/>
          </p:cNvSpPr>
          <p:nvPr/>
        </p:nvSpPr>
        <p:spPr>
          <a:xfrm>
            <a:off x="647700" y="2038350"/>
            <a:ext cx="6572250" cy="1333500"/>
          </a:xfrm>
          <a:prstGeom prst="rect">
            <a:avLst/>
          </a:prstGeom>
          <a:noFill/>
          <a:ln w="0">
            <a:noFill/>
            <a:prstDash val="solid"/>
          </a:ln>
        </p:spPr>
        <p:txBody>
          <a:bodyPr wrap="square" lIns="0" tIns="0" rIns="0" bIns="0" anchor="t">
            <a:noAutofit/>
          </a:bodyPr>
          <a:lstStyle/>
          <a:p>
            <a:pPr algn="l">
              <a:defRPr sz="4350" b="1">
                <a:solidFill>
                  <a:srgbClr val="FFFFFF"/>
                </a:solidFill>
                <a:latin typeface="Bahnschrift"/>
                <a:ea typeface="Bahnschrift"/>
                <a:cs typeface="Bahnschrift"/>
              </a:defRPr>
            </a:pPr>
            <a:r>
              <a:rPr sz="4350" b="1">
                <a:solidFill>
                  <a:srgbClr val="FFFFFF"/>
                </a:solidFill>
                <a:latin typeface="Bahnschrift"/>
                <a:ea typeface="Bahnschrift"/>
                <a:cs typeface="Bahnschrift"/>
              </a:rPr>
              <a:t>Technical Decision</a:t>
            </a:r>
          </a:p>
          <a:p>
            <a:pPr algn="l">
              <a:defRPr sz="4350" b="1">
                <a:solidFill>
                  <a:srgbClr val="FFFFFF"/>
                </a:solidFill>
                <a:latin typeface="Bahnschrift"/>
                <a:ea typeface="Bahnschrift"/>
                <a:cs typeface="Bahnschrift"/>
              </a:defRPr>
            </a:pPr>
            <a:r>
              <a:rPr sz="4350" b="1">
                <a:solidFill>
                  <a:srgbClr val="FFFFFF"/>
                </a:solidFill>
                <a:latin typeface="Bahnschrift"/>
                <a:ea typeface="Bahnschrift"/>
                <a:cs typeface="Bahnschrift"/>
              </a:rPr>
              <a:t>Questionnaire</a:t>
            </a:r>
          </a:p>
        </p:txBody>
      </p:sp>
      <p:sp>
        <p:nvSpPr>
          <p:cNvPr id="4" name="text-3">
            <a:extLst>
              <a:ext uri="{FF2B5EF4-FFF2-40B4-BE49-F238E27FC236}">
                <a16:creationId xmlns:a16="http://schemas.microsoft.com/office/drawing/2014/main" id="{91AFFBDE-7DCC-4C7E-98D5-0EF3B0A34407}"/>
              </a:ext>
            </a:extLst>
          </p:cNvPr>
          <p:cNvSpPr>
            <a:spLocks noGrp="1"/>
          </p:cNvSpPr>
          <p:nvPr/>
        </p:nvSpPr>
        <p:spPr>
          <a:xfrm>
            <a:off x="647700" y="3714750"/>
            <a:ext cx="6858000" cy="666750"/>
          </a:xfrm>
          <a:prstGeom prst="rect">
            <a:avLst/>
          </a:prstGeom>
          <a:noFill/>
          <a:ln w="0">
            <a:noFill/>
            <a:prstDash val="solid"/>
          </a:ln>
        </p:spPr>
        <p:txBody>
          <a:bodyPr wrap="square" lIns="0" tIns="0" rIns="0" bIns="0" anchor="t">
            <a:noAutofit/>
          </a:bodyPr>
          <a:lstStyle/>
          <a:p>
            <a:pPr algn="l">
              <a:defRPr sz="1725" b="0">
                <a:solidFill>
                  <a:srgbClr val="D8D1C5"/>
                </a:solidFill>
                <a:latin typeface="Arial"/>
                <a:ea typeface="Arial"/>
                <a:cs typeface="Arial"/>
              </a:defRPr>
            </a:pPr>
            <a:r>
              <a:rPr sz="1725" b="0">
                <a:solidFill>
                  <a:srgbClr val="D8D1C5"/>
                </a:solidFill>
                <a:latin typeface="Arial"/>
                <a:ea typeface="Arial"/>
                <a:cs typeface="Arial"/>
              </a:rPr>
              <a:t>49 questions. Three options each. One current PRD direction to approve or change.</a:t>
            </a:r>
          </a:p>
        </p:txBody>
      </p:sp>
      <p:sp>
        <p:nvSpPr>
          <p:cNvPr id="5" name="rect-4">
            <a:extLst>
              <a:ext uri="{FF2B5EF4-FFF2-40B4-BE49-F238E27FC236}">
                <a16:creationId xmlns:a16="http://schemas.microsoft.com/office/drawing/2014/main" id="{9456E1E6-A269-450C-B4A2-BB3E6AD7EDF4}"/>
              </a:ext>
            </a:extLst>
          </p:cNvPr>
          <p:cNvSpPr>
            <a:spLocks noGrp="1"/>
          </p:cNvSpPr>
          <p:nvPr/>
        </p:nvSpPr>
        <p:spPr>
          <a:xfrm>
            <a:off x="9096375" y="1524000"/>
            <a:ext cx="552450" cy="3714750"/>
          </a:xfrm>
          <a:prstGeom prst="rect">
            <a:avLst/>
          </a:prstGeom>
          <a:solidFill>
            <a:srgbClr val="FFBF00"/>
          </a:solidFill>
          <a:ln w="0">
            <a:noFill/>
            <a:prstDash val="solid"/>
          </a:ln>
        </p:spPr>
        <p:txBody>
          <a:bodyPr/>
          <a:lstStyle/>
          <a:p>
            <a:endParaRPr lang="en-US"/>
          </a:p>
        </p:txBody>
      </p:sp>
      <p:sp>
        <p:nvSpPr>
          <p:cNvPr id="6" name="rect-5">
            <a:extLst>
              <a:ext uri="{FF2B5EF4-FFF2-40B4-BE49-F238E27FC236}">
                <a16:creationId xmlns:a16="http://schemas.microsoft.com/office/drawing/2014/main" id="{4C69962E-AFF8-49A9-A2B2-7C9F81048747}"/>
              </a:ext>
            </a:extLst>
          </p:cNvPr>
          <p:cNvSpPr>
            <a:spLocks noGrp="1"/>
          </p:cNvSpPr>
          <p:nvPr/>
        </p:nvSpPr>
        <p:spPr>
          <a:xfrm>
            <a:off x="9696450" y="2238375"/>
            <a:ext cx="552450" cy="3000375"/>
          </a:xfrm>
          <a:prstGeom prst="rect">
            <a:avLst/>
          </a:prstGeom>
          <a:solidFill>
            <a:srgbClr val="6B0F1A"/>
          </a:solidFill>
          <a:ln w="0">
            <a:noFill/>
            <a:prstDash val="solid"/>
          </a:ln>
        </p:spPr>
        <p:txBody>
          <a:bodyPr/>
          <a:lstStyle/>
          <a:p>
            <a:endParaRPr lang="en-US"/>
          </a:p>
        </p:txBody>
      </p:sp>
      <p:sp>
        <p:nvSpPr>
          <p:cNvPr id="7" name="rect-6">
            <a:extLst>
              <a:ext uri="{FF2B5EF4-FFF2-40B4-BE49-F238E27FC236}">
                <a16:creationId xmlns:a16="http://schemas.microsoft.com/office/drawing/2014/main" id="{F1621F2E-7137-4D72-BA10-CB82E58A92D9}"/>
              </a:ext>
            </a:extLst>
          </p:cNvPr>
          <p:cNvSpPr>
            <a:spLocks noGrp="1"/>
          </p:cNvSpPr>
          <p:nvPr/>
        </p:nvSpPr>
        <p:spPr>
          <a:xfrm>
            <a:off x="10296525" y="2952750"/>
            <a:ext cx="552450" cy="2286000"/>
          </a:xfrm>
          <a:prstGeom prst="rect">
            <a:avLst/>
          </a:prstGeom>
          <a:solidFill>
            <a:srgbClr val="D1C4E9"/>
          </a:solidFill>
          <a:ln w="0">
            <a:noFill/>
            <a:prstDash val="solid"/>
          </a:ln>
        </p:spPr>
        <p:txBody>
          <a:bodyPr/>
          <a:lstStyle/>
          <a:p>
            <a:endParaRPr lang="en-US"/>
          </a:p>
        </p:txBody>
      </p:sp>
      <p:sp>
        <p:nvSpPr>
          <p:cNvPr id="8" name="rect-7">
            <a:extLst>
              <a:ext uri="{FF2B5EF4-FFF2-40B4-BE49-F238E27FC236}">
                <a16:creationId xmlns:a16="http://schemas.microsoft.com/office/drawing/2014/main" id="{3F62635B-45D2-434B-80B1-18858646ECDD}"/>
              </a:ext>
            </a:extLst>
          </p:cNvPr>
          <p:cNvSpPr>
            <a:spLocks noGrp="1"/>
          </p:cNvSpPr>
          <p:nvPr/>
        </p:nvSpPr>
        <p:spPr>
          <a:xfrm>
            <a:off x="10896600" y="3667125"/>
            <a:ext cx="552450" cy="1571625"/>
          </a:xfrm>
          <a:prstGeom prst="rect">
            <a:avLst/>
          </a:prstGeom>
          <a:solidFill>
            <a:srgbClr val="9A9F90"/>
          </a:solidFill>
          <a:ln w="0">
            <a:noFill/>
            <a:prstDash val="solid"/>
          </a:ln>
        </p:spPr>
        <p:txBody>
          <a:bodyPr/>
          <a:lstStyle/>
          <a:p>
            <a:endParaRPr lang="en-US"/>
          </a:p>
        </p:txBody>
      </p:sp>
      <p:sp>
        <p:nvSpPr>
          <p:cNvPr id="9" name="text-8">
            <a:extLst>
              <a:ext uri="{FF2B5EF4-FFF2-40B4-BE49-F238E27FC236}">
                <a16:creationId xmlns:a16="http://schemas.microsoft.com/office/drawing/2014/main" id="{9C3C0040-AB49-40AA-BCBB-C845739977BB}"/>
              </a:ext>
            </a:extLst>
          </p:cNvPr>
          <p:cNvSpPr>
            <a:spLocks noGrp="1"/>
          </p:cNvSpPr>
          <p:nvPr/>
        </p:nvSpPr>
        <p:spPr>
          <a:xfrm>
            <a:off x="647700" y="5905500"/>
            <a:ext cx="3429000" cy="228600"/>
          </a:xfrm>
          <a:prstGeom prst="rect">
            <a:avLst/>
          </a:prstGeom>
          <a:noFill/>
          <a:ln w="0">
            <a:noFill/>
            <a:prstDash val="solid"/>
          </a:ln>
        </p:spPr>
        <p:txBody>
          <a:bodyPr wrap="square" lIns="0" tIns="0" rIns="0" bIns="0" anchor="t">
            <a:noAutofit/>
          </a:bodyPr>
          <a:lstStyle/>
          <a:p>
            <a:pPr algn="l">
              <a:defRPr sz="1125" b="1">
                <a:solidFill>
                  <a:srgbClr val="FFFFFF"/>
                </a:solidFill>
                <a:latin typeface="Bahnschrift"/>
                <a:ea typeface="Bahnschrift"/>
                <a:cs typeface="Bahnschrift"/>
              </a:defRPr>
            </a:pPr>
            <a:r>
              <a:rPr sz="1125" b="1">
                <a:solidFill>
                  <a:srgbClr val="FFFFFF"/>
                </a:solidFill>
                <a:latin typeface="Bahnschrift"/>
                <a:ea typeface="Bahnschrift"/>
                <a:cs typeface="Bahnschrift"/>
              </a:rPr>
              <a:t>LEADERSHIP REVIEW COPY</a:t>
            </a:r>
          </a:p>
        </p:txBody>
      </p:sp>
    </p:spTree>
    <p:extLst>
      <p:ext uri="{BB962C8B-B14F-4D97-AF65-F5344CB8AC3E}">
        <p14:creationId xmlns:p14="http://schemas.microsoft.com/office/powerpoint/2010/main" val="1335986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9">
            <a:extLst>
              <a:ext uri="{FF2B5EF4-FFF2-40B4-BE49-F238E27FC236}">
                <a16:creationId xmlns:a16="http://schemas.microsoft.com/office/drawing/2014/main" id="{EB93CE3E-1EE0-4153-AAE0-DFA247596093}"/>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10">
            <a:extLst>
              <a:ext uri="{FF2B5EF4-FFF2-40B4-BE49-F238E27FC236}">
                <a16:creationId xmlns:a16="http://schemas.microsoft.com/office/drawing/2014/main" id="{31D479EB-A802-49A3-8BAB-3EA16835A2AD}"/>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AUDIENCE &amp; POSITIONING</a:t>
            </a:r>
          </a:p>
        </p:txBody>
      </p:sp>
      <p:sp>
        <p:nvSpPr>
          <p:cNvPr id="4" name="text-11">
            <a:extLst>
              <a:ext uri="{FF2B5EF4-FFF2-40B4-BE49-F238E27FC236}">
                <a16:creationId xmlns:a16="http://schemas.microsoft.com/office/drawing/2014/main" id="{BCAD96F3-54B1-4D5F-9FE4-7D5A98C86561}"/>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Q01</a:t>
            </a:r>
          </a:p>
        </p:txBody>
      </p:sp>
      <p:sp>
        <p:nvSpPr>
          <p:cNvPr id="5" name="text-12">
            <a:extLst>
              <a:ext uri="{FF2B5EF4-FFF2-40B4-BE49-F238E27FC236}">
                <a16:creationId xmlns:a16="http://schemas.microsoft.com/office/drawing/2014/main" id="{57124B6F-7404-4EC9-97EA-98B081328E80}"/>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customer segment should v1 prioritize?</a:t>
            </a:r>
          </a:p>
        </p:txBody>
      </p:sp>
      <p:sp>
        <p:nvSpPr>
          <p:cNvPr id="6" name="text-13">
            <a:extLst>
              <a:ext uri="{FF2B5EF4-FFF2-40B4-BE49-F238E27FC236}">
                <a16:creationId xmlns:a16="http://schemas.microsoft.com/office/drawing/2014/main" id="{DB8B7A86-08DB-43E3-8119-63FA1D25E113}"/>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14">
            <a:extLst>
              <a:ext uri="{FF2B5EF4-FFF2-40B4-BE49-F238E27FC236}">
                <a16:creationId xmlns:a16="http://schemas.microsoft.com/office/drawing/2014/main" id="{6AC38549-ED90-494B-919B-48FB3FB79ADA}"/>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acquisition targeting, homepage messaging and reporting segments.</a:t>
            </a:r>
          </a:p>
        </p:txBody>
      </p:sp>
      <p:sp>
        <p:nvSpPr>
          <p:cNvPr id="8" name="rect-15">
            <a:extLst>
              <a:ext uri="{FF2B5EF4-FFF2-40B4-BE49-F238E27FC236}">
                <a16:creationId xmlns:a16="http://schemas.microsoft.com/office/drawing/2014/main" id="{2FFDBEEC-1CC4-4777-BA89-AA3BAEC3A6F4}"/>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6">
            <a:extLst>
              <a:ext uri="{FF2B5EF4-FFF2-40B4-BE49-F238E27FC236}">
                <a16:creationId xmlns:a16="http://schemas.microsoft.com/office/drawing/2014/main" id="{9127223F-EC7B-4B69-A1C0-DBB09348F86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7">
            <a:extLst>
              <a:ext uri="{FF2B5EF4-FFF2-40B4-BE49-F238E27FC236}">
                <a16:creationId xmlns:a16="http://schemas.microsoft.com/office/drawing/2014/main" id="{4C2D5F87-BB22-40C8-AA0F-20B5049F3F33}"/>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8">
            <a:extLst>
              <a:ext uri="{FF2B5EF4-FFF2-40B4-BE49-F238E27FC236}">
                <a16:creationId xmlns:a16="http://schemas.microsoft.com/office/drawing/2014/main" id="{6AD72FF9-D788-4428-BDD4-8A1604D2DA43}"/>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Skeptical Indian shoppers aged 18-35</a:t>
            </a:r>
          </a:p>
        </p:txBody>
      </p:sp>
      <p:sp>
        <p:nvSpPr>
          <p:cNvPr id="12" name="text-19">
            <a:extLst>
              <a:ext uri="{FF2B5EF4-FFF2-40B4-BE49-F238E27FC236}">
                <a16:creationId xmlns:a16="http://schemas.microsoft.com/office/drawing/2014/main" id="{F9F52505-C144-4F94-9E83-2F9317716489}"/>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20">
            <a:extLst>
              <a:ext uri="{FF2B5EF4-FFF2-40B4-BE49-F238E27FC236}">
                <a16:creationId xmlns:a16="http://schemas.microsoft.com/office/drawing/2014/main" id="{369BC23F-503E-43E2-8B22-5BF84B6A6067}"/>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21">
            <a:extLst>
              <a:ext uri="{FF2B5EF4-FFF2-40B4-BE49-F238E27FC236}">
                <a16:creationId xmlns:a16="http://schemas.microsoft.com/office/drawing/2014/main" id="{F9AD35F7-1089-41D5-BAF1-BC788659E6C1}"/>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22">
            <a:extLst>
              <a:ext uri="{FF2B5EF4-FFF2-40B4-BE49-F238E27FC236}">
                <a16:creationId xmlns:a16="http://schemas.microsoft.com/office/drawing/2014/main" id="{F853FF60-5749-4679-861D-9C1DEB0C67AB}"/>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23">
            <a:extLst>
              <a:ext uri="{FF2B5EF4-FFF2-40B4-BE49-F238E27FC236}">
                <a16:creationId xmlns:a16="http://schemas.microsoft.com/office/drawing/2014/main" id="{0DD1F918-CF1C-45DD-8721-EE88FA36A7E9}"/>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24">
            <a:extLst>
              <a:ext uri="{FF2B5EF4-FFF2-40B4-BE49-F238E27FC236}">
                <a16:creationId xmlns:a16="http://schemas.microsoft.com/office/drawing/2014/main" id="{CD2969AF-3281-4B37-A35D-70FA351C8894}"/>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Fitness-focused buyers</a:t>
            </a:r>
          </a:p>
        </p:txBody>
      </p:sp>
      <p:sp>
        <p:nvSpPr>
          <p:cNvPr id="18" name="text-25">
            <a:extLst>
              <a:ext uri="{FF2B5EF4-FFF2-40B4-BE49-F238E27FC236}">
                <a16:creationId xmlns:a16="http://schemas.microsoft.com/office/drawing/2014/main" id="{E61FA52B-C877-410F-BC9E-8E8BDACAA00F}"/>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26">
            <a:extLst>
              <a:ext uri="{FF2B5EF4-FFF2-40B4-BE49-F238E27FC236}">
                <a16:creationId xmlns:a16="http://schemas.microsoft.com/office/drawing/2014/main" id="{0B940A7E-277F-4140-BB0C-6606B697D45C}"/>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27">
            <a:extLst>
              <a:ext uri="{FF2B5EF4-FFF2-40B4-BE49-F238E27FC236}">
                <a16:creationId xmlns:a16="http://schemas.microsoft.com/office/drawing/2014/main" id="{DC3DD22D-70A3-4CE9-950E-05FA9D94A6B6}"/>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28">
            <a:extLst>
              <a:ext uri="{FF2B5EF4-FFF2-40B4-BE49-F238E27FC236}">
                <a16:creationId xmlns:a16="http://schemas.microsoft.com/office/drawing/2014/main" id="{F46C5B3E-BE92-495B-85DE-39065371278A}"/>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29">
            <a:extLst>
              <a:ext uri="{FF2B5EF4-FFF2-40B4-BE49-F238E27FC236}">
                <a16:creationId xmlns:a16="http://schemas.microsoft.com/office/drawing/2014/main" id="{D0316065-791D-4D5D-8C02-14B1DDEFA522}"/>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Women-first wellness buyers</a:t>
            </a:r>
          </a:p>
        </p:txBody>
      </p:sp>
      <p:sp>
        <p:nvSpPr>
          <p:cNvPr id="23" name="text-30">
            <a:extLst>
              <a:ext uri="{FF2B5EF4-FFF2-40B4-BE49-F238E27FC236}">
                <a16:creationId xmlns:a16="http://schemas.microsoft.com/office/drawing/2014/main" id="{29AAAA92-7F4D-48D8-8B04-9AEDC3556A43}"/>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31">
            <a:extLst>
              <a:ext uri="{FF2B5EF4-FFF2-40B4-BE49-F238E27FC236}">
                <a16:creationId xmlns:a16="http://schemas.microsoft.com/office/drawing/2014/main" id="{42295371-E318-450F-B10A-B03BC6CE6A8A}"/>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32">
            <a:extLst>
              <a:ext uri="{FF2B5EF4-FFF2-40B4-BE49-F238E27FC236}">
                <a16:creationId xmlns:a16="http://schemas.microsoft.com/office/drawing/2014/main" id="{F74C4B1E-65F9-4B5D-8789-58D2DDAD1BDA}"/>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33">
            <a:extLst>
              <a:ext uri="{FF2B5EF4-FFF2-40B4-BE49-F238E27FC236}">
                <a16:creationId xmlns:a16="http://schemas.microsoft.com/office/drawing/2014/main" id="{F53EFF65-98B0-4AF2-9FB8-01E368183AF7}"/>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34">
            <a:extLst>
              <a:ext uri="{FF2B5EF4-FFF2-40B4-BE49-F238E27FC236}">
                <a16:creationId xmlns:a16="http://schemas.microsoft.com/office/drawing/2014/main" id="{A0659794-60C6-43AF-AB87-E22A048EA416}"/>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35">
            <a:extLst>
              <a:ext uri="{FF2B5EF4-FFF2-40B4-BE49-F238E27FC236}">
                <a16:creationId xmlns:a16="http://schemas.microsoft.com/office/drawing/2014/main" id="{FB5058F6-0652-4FE7-915A-242D18E4C3D2}"/>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36">
            <a:extLst>
              <a:ext uri="{FF2B5EF4-FFF2-40B4-BE49-F238E27FC236}">
                <a16:creationId xmlns:a16="http://schemas.microsoft.com/office/drawing/2014/main" id="{C518EC14-C495-47A1-932C-37C2DC5F5D2E}"/>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AUDIENCE &amp; POSITIONING</a:t>
            </a:r>
          </a:p>
        </p:txBody>
      </p:sp>
      <p:sp>
        <p:nvSpPr>
          <p:cNvPr id="30" name="text-37">
            <a:extLst>
              <a:ext uri="{FF2B5EF4-FFF2-40B4-BE49-F238E27FC236}">
                <a16:creationId xmlns:a16="http://schemas.microsoft.com/office/drawing/2014/main" id="{E15FD10A-7750-4076-AEB1-BCBC719CA82B}"/>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Q01 / 49</a:t>
            </a:r>
          </a:p>
        </p:txBody>
      </p:sp>
    </p:spTree>
    <p:extLst>
      <p:ext uri="{BB962C8B-B14F-4D97-AF65-F5344CB8AC3E}">
        <p14:creationId xmlns:p14="http://schemas.microsoft.com/office/powerpoint/2010/main" val="1719636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38">
            <a:extLst>
              <a:ext uri="{FF2B5EF4-FFF2-40B4-BE49-F238E27FC236}">
                <a16:creationId xmlns:a16="http://schemas.microsoft.com/office/drawing/2014/main" id="{F02C956E-095C-4CC5-B8BF-31516AD9762B}"/>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39">
            <a:extLst>
              <a:ext uri="{FF2B5EF4-FFF2-40B4-BE49-F238E27FC236}">
                <a16:creationId xmlns:a16="http://schemas.microsoft.com/office/drawing/2014/main" id="{3493EC90-B6C0-4B91-AFA9-9DE8E19CB585}"/>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AUDIENCE &amp; POSITIONING</a:t>
            </a:r>
          </a:p>
        </p:txBody>
      </p:sp>
      <p:sp>
        <p:nvSpPr>
          <p:cNvPr id="4" name="text-40">
            <a:extLst>
              <a:ext uri="{FF2B5EF4-FFF2-40B4-BE49-F238E27FC236}">
                <a16:creationId xmlns:a16="http://schemas.microsoft.com/office/drawing/2014/main" id="{B3A5D658-E39D-4B25-AC60-15AF467E37E5}"/>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Q02</a:t>
            </a:r>
          </a:p>
        </p:txBody>
      </p:sp>
      <p:sp>
        <p:nvSpPr>
          <p:cNvPr id="5" name="text-41">
            <a:extLst>
              <a:ext uri="{FF2B5EF4-FFF2-40B4-BE49-F238E27FC236}">
                <a16:creationId xmlns:a16="http://schemas.microsoft.com/office/drawing/2014/main" id="{322D73B6-9AB0-45B3-B1AC-04C0FCF70EE0}"/>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is the primary customer outcome?</a:t>
            </a:r>
          </a:p>
        </p:txBody>
      </p:sp>
      <p:sp>
        <p:nvSpPr>
          <p:cNvPr id="6" name="text-42">
            <a:extLst>
              <a:ext uri="{FF2B5EF4-FFF2-40B4-BE49-F238E27FC236}">
                <a16:creationId xmlns:a16="http://schemas.microsoft.com/office/drawing/2014/main" id="{4AC76689-3515-4856-A01D-C6CE69588FA9}"/>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43">
            <a:extLst>
              <a:ext uri="{FF2B5EF4-FFF2-40B4-BE49-F238E27FC236}">
                <a16:creationId xmlns:a16="http://schemas.microsoft.com/office/drawing/2014/main" id="{FE6DBF14-708B-4CCD-A449-624B341F9D57}"/>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the conversion journey and the success criteria for public commerce.</a:t>
            </a:r>
          </a:p>
        </p:txBody>
      </p:sp>
      <p:sp>
        <p:nvSpPr>
          <p:cNvPr id="8" name="rect-44">
            <a:extLst>
              <a:ext uri="{FF2B5EF4-FFF2-40B4-BE49-F238E27FC236}">
                <a16:creationId xmlns:a16="http://schemas.microsoft.com/office/drawing/2014/main" id="{14DDE965-3FC0-47CC-B217-4975FB2C64CA}"/>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45">
            <a:extLst>
              <a:ext uri="{FF2B5EF4-FFF2-40B4-BE49-F238E27FC236}">
                <a16:creationId xmlns:a16="http://schemas.microsoft.com/office/drawing/2014/main" id="{52EB19E0-D9D7-4903-9717-67CA6C6B66BE}"/>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46">
            <a:extLst>
              <a:ext uri="{FF2B5EF4-FFF2-40B4-BE49-F238E27FC236}">
                <a16:creationId xmlns:a16="http://schemas.microsoft.com/office/drawing/2014/main" id="{CE03D5D0-CC7C-4520-B1DD-B86C788015FE}"/>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47">
            <a:extLst>
              <a:ext uri="{FF2B5EF4-FFF2-40B4-BE49-F238E27FC236}">
                <a16:creationId xmlns:a16="http://schemas.microsoft.com/office/drawing/2014/main" id="{34C1B61C-0183-4318-BA5C-1C45208D0AA2}"/>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Enable a confident first purchase</a:t>
            </a:r>
          </a:p>
        </p:txBody>
      </p:sp>
      <p:sp>
        <p:nvSpPr>
          <p:cNvPr id="12" name="text-48">
            <a:extLst>
              <a:ext uri="{FF2B5EF4-FFF2-40B4-BE49-F238E27FC236}">
                <a16:creationId xmlns:a16="http://schemas.microsoft.com/office/drawing/2014/main" id="{AED3F692-13E9-484D-B95D-96272BF560A8}"/>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49">
            <a:extLst>
              <a:ext uri="{FF2B5EF4-FFF2-40B4-BE49-F238E27FC236}">
                <a16:creationId xmlns:a16="http://schemas.microsoft.com/office/drawing/2014/main" id="{90736EF6-27A5-4540-A46A-4F56E346A480}"/>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50">
            <a:extLst>
              <a:ext uri="{FF2B5EF4-FFF2-40B4-BE49-F238E27FC236}">
                <a16:creationId xmlns:a16="http://schemas.microsoft.com/office/drawing/2014/main" id="{DB02279F-39B8-4DBB-A27E-1B8566840066}"/>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51">
            <a:extLst>
              <a:ext uri="{FF2B5EF4-FFF2-40B4-BE49-F238E27FC236}">
                <a16:creationId xmlns:a16="http://schemas.microsoft.com/office/drawing/2014/main" id="{6E1A6153-8D0C-449B-889F-039CE190ADAB}"/>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52">
            <a:extLst>
              <a:ext uri="{FF2B5EF4-FFF2-40B4-BE49-F238E27FC236}">
                <a16:creationId xmlns:a16="http://schemas.microsoft.com/office/drawing/2014/main" id="{BCB19EB1-ECC2-49BB-9326-FF761D1EFCD6}"/>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53">
            <a:extLst>
              <a:ext uri="{FF2B5EF4-FFF2-40B4-BE49-F238E27FC236}">
                <a16:creationId xmlns:a16="http://schemas.microsoft.com/office/drawing/2014/main" id="{F6026C04-5DE7-4367-9CC1-12619B0ADE9E}"/>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Encourage proof exploration before purchase</a:t>
            </a:r>
          </a:p>
        </p:txBody>
      </p:sp>
      <p:sp>
        <p:nvSpPr>
          <p:cNvPr id="18" name="text-54">
            <a:extLst>
              <a:ext uri="{FF2B5EF4-FFF2-40B4-BE49-F238E27FC236}">
                <a16:creationId xmlns:a16="http://schemas.microsoft.com/office/drawing/2014/main" id="{20D24827-BC6F-499C-AC8A-5E35A027C1AF}"/>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55">
            <a:extLst>
              <a:ext uri="{FF2B5EF4-FFF2-40B4-BE49-F238E27FC236}">
                <a16:creationId xmlns:a16="http://schemas.microsoft.com/office/drawing/2014/main" id="{77C09FC0-A97F-4374-848F-B0E0202C18E9}"/>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56">
            <a:extLst>
              <a:ext uri="{FF2B5EF4-FFF2-40B4-BE49-F238E27FC236}">
                <a16:creationId xmlns:a16="http://schemas.microsoft.com/office/drawing/2014/main" id="{FD537256-7F82-4C47-AA4D-37D3C0599CA7}"/>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57">
            <a:extLst>
              <a:ext uri="{FF2B5EF4-FFF2-40B4-BE49-F238E27FC236}">
                <a16:creationId xmlns:a16="http://schemas.microsoft.com/office/drawing/2014/main" id="{AF76E560-4C74-4F57-A569-E38D21025E47}"/>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58">
            <a:extLst>
              <a:ext uri="{FF2B5EF4-FFF2-40B4-BE49-F238E27FC236}">
                <a16:creationId xmlns:a16="http://schemas.microsoft.com/office/drawing/2014/main" id="{33669B22-B481-41DD-8B1C-165B0C833682}"/>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Build a prospect list before selling</a:t>
            </a:r>
          </a:p>
        </p:txBody>
      </p:sp>
      <p:sp>
        <p:nvSpPr>
          <p:cNvPr id="23" name="text-59">
            <a:extLst>
              <a:ext uri="{FF2B5EF4-FFF2-40B4-BE49-F238E27FC236}">
                <a16:creationId xmlns:a16="http://schemas.microsoft.com/office/drawing/2014/main" id="{13F8A24B-9FAA-474D-84AF-FC5438E81AD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60">
            <a:extLst>
              <a:ext uri="{FF2B5EF4-FFF2-40B4-BE49-F238E27FC236}">
                <a16:creationId xmlns:a16="http://schemas.microsoft.com/office/drawing/2014/main" id="{8BD3F9B6-40F7-4DCE-8A47-B18BC29F6F51}"/>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61">
            <a:extLst>
              <a:ext uri="{FF2B5EF4-FFF2-40B4-BE49-F238E27FC236}">
                <a16:creationId xmlns:a16="http://schemas.microsoft.com/office/drawing/2014/main" id="{9903748B-524E-4213-854E-5B4B064368CD}"/>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62">
            <a:extLst>
              <a:ext uri="{FF2B5EF4-FFF2-40B4-BE49-F238E27FC236}">
                <a16:creationId xmlns:a16="http://schemas.microsoft.com/office/drawing/2014/main" id="{82E80F15-E3A6-44B5-9416-473D6D84842B}"/>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63">
            <a:extLst>
              <a:ext uri="{FF2B5EF4-FFF2-40B4-BE49-F238E27FC236}">
                <a16:creationId xmlns:a16="http://schemas.microsoft.com/office/drawing/2014/main" id="{99005383-34FC-47A7-BE7A-4FC610E367ED}"/>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64">
            <a:extLst>
              <a:ext uri="{FF2B5EF4-FFF2-40B4-BE49-F238E27FC236}">
                <a16:creationId xmlns:a16="http://schemas.microsoft.com/office/drawing/2014/main" id="{C1BA106A-1CE3-4496-8291-189B72792393}"/>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65">
            <a:extLst>
              <a:ext uri="{FF2B5EF4-FFF2-40B4-BE49-F238E27FC236}">
                <a16:creationId xmlns:a16="http://schemas.microsoft.com/office/drawing/2014/main" id="{99963056-0CA4-4E07-866E-2BA403DB7CC9}"/>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AUDIENCE &amp; POSITIONING</a:t>
            </a:r>
          </a:p>
        </p:txBody>
      </p:sp>
      <p:sp>
        <p:nvSpPr>
          <p:cNvPr id="30" name="text-66">
            <a:extLst>
              <a:ext uri="{FF2B5EF4-FFF2-40B4-BE49-F238E27FC236}">
                <a16:creationId xmlns:a16="http://schemas.microsoft.com/office/drawing/2014/main" id="{C2BC3234-B531-4EB2-873B-6CA5EE48F43A}"/>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Q02 / 49</a:t>
            </a:r>
          </a:p>
        </p:txBody>
      </p:sp>
    </p:spTree>
    <p:extLst>
      <p:ext uri="{BB962C8B-B14F-4D97-AF65-F5344CB8AC3E}">
        <p14:creationId xmlns:p14="http://schemas.microsoft.com/office/powerpoint/2010/main" val="751172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67">
            <a:extLst>
              <a:ext uri="{FF2B5EF4-FFF2-40B4-BE49-F238E27FC236}">
                <a16:creationId xmlns:a16="http://schemas.microsoft.com/office/drawing/2014/main" id="{14FC2046-4DDE-4D24-BB7C-CDEEFDDA8994}"/>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68">
            <a:extLst>
              <a:ext uri="{FF2B5EF4-FFF2-40B4-BE49-F238E27FC236}">
                <a16:creationId xmlns:a16="http://schemas.microsoft.com/office/drawing/2014/main" id="{BB05815A-1E49-4C96-9B7E-A02FA8967FAC}"/>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AUDIENCE &amp; POSITIONING</a:t>
            </a:r>
          </a:p>
        </p:txBody>
      </p:sp>
      <p:sp>
        <p:nvSpPr>
          <p:cNvPr id="4" name="text-69">
            <a:extLst>
              <a:ext uri="{FF2B5EF4-FFF2-40B4-BE49-F238E27FC236}">
                <a16:creationId xmlns:a16="http://schemas.microsoft.com/office/drawing/2014/main" id="{5644BBF2-07B7-4FFE-B6DB-EDD3D170C790}"/>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Q03</a:t>
            </a:r>
          </a:p>
        </p:txBody>
      </p:sp>
      <p:sp>
        <p:nvSpPr>
          <p:cNvPr id="5" name="text-70">
            <a:extLst>
              <a:ext uri="{FF2B5EF4-FFF2-40B4-BE49-F238E27FC236}">
                <a16:creationId xmlns:a16="http://schemas.microsoft.com/office/drawing/2014/main" id="{16C0AA33-F7EF-433D-99AA-875754ACA334}"/>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experience tone should the product use?</a:t>
            </a:r>
          </a:p>
        </p:txBody>
      </p:sp>
      <p:sp>
        <p:nvSpPr>
          <p:cNvPr id="6" name="text-71">
            <a:extLst>
              <a:ext uri="{FF2B5EF4-FFF2-40B4-BE49-F238E27FC236}">
                <a16:creationId xmlns:a16="http://schemas.microsoft.com/office/drawing/2014/main" id="{402AEFD8-CF10-4C6A-B503-91CFFC171A6F}"/>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72">
            <a:extLst>
              <a:ext uri="{FF2B5EF4-FFF2-40B4-BE49-F238E27FC236}">
                <a16:creationId xmlns:a16="http://schemas.microsoft.com/office/drawing/2014/main" id="{12290DE0-81AE-443C-A0B0-C211A10B692E}"/>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Guides content governance without defining the later visual design system.</a:t>
            </a:r>
          </a:p>
        </p:txBody>
      </p:sp>
      <p:sp>
        <p:nvSpPr>
          <p:cNvPr id="8" name="rect-73">
            <a:extLst>
              <a:ext uri="{FF2B5EF4-FFF2-40B4-BE49-F238E27FC236}">
                <a16:creationId xmlns:a16="http://schemas.microsoft.com/office/drawing/2014/main" id="{C17C1F45-AE4A-4E45-9E11-D74CED63C30A}"/>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74">
            <a:extLst>
              <a:ext uri="{FF2B5EF4-FFF2-40B4-BE49-F238E27FC236}">
                <a16:creationId xmlns:a16="http://schemas.microsoft.com/office/drawing/2014/main" id="{8EC9E0BA-F29F-4446-AEF4-0D95BCADB84A}"/>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75">
            <a:extLst>
              <a:ext uri="{FF2B5EF4-FFF2-40B4-BE49-F238E27FC236}">
                <a16:creationId xmlns:a16="http://schemas.microsoft.com/office/drawing/2014/main" id="{3214DEF8-07D1-4BA6-A293-61A042851D1B}"/>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76">
            <a:extLst>
              <a:ext uri="{FF2B5EF4-FFF2-40B4-BE49-F238E27FC236}">
                <a16:creationId xmlns:a16="http://schemas.microsoft.com/office/drawing/2014/main" id="{0562430D-D0E2-4398-8160-96972602FF06}"/>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Playful and evidence-led</a:t>
            </a:r>
          </a:p>
        </p:txBody>
      </p:sp>
      <p:sp>
        <p:nvSpPr>
          <p:cNvPr id="12" name="text-77">
            <a:extLst>
              <a:ext uri="{FF2B5EF4-FFF2-40B4-BE49-F238E27FC236}">
                <a16:creationId xmlns:a16="http://schemas.microsoft.com/office/drawing/2014/main" id="{8BB59429-71C0-4D75-9D31-7096C62F9345}"/>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78">
            <a:extLst>
              <a:ext uri="{FF2B5EF4-FFF2-40B4-BE49-F238E27FC236}">
                <a16:creationId xmlns:a16="http://schemas.microsoft.com/office/drawing/2014/main" id="{0BB7AC24-2E11-4B2D-8FD1-4F77D8F808AE}"/>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79">
            <a:extLst>
              <a:ext uri="{FF2B5EF4-FFF2-40B4-BE49-F238E27FC236}">
                <a16:creationId xmlns:a16="http://schemas.microsoft.com/office/drawing/2014/main" id="{C1BA1AC5-9A96-4D44-8499-21F71219EBB4}"/>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80">
            <a:extLst>
              <a:ext uri="{FF2B5EF4-FFF2-40B4-BE49-F238E27FC236}">
                <a16:creationId xmlns:a16="http://schemas.microsoft.com/office/drawing/2014/main" id="{55DD1C7A-2780-4829-89CE-EEF69ACC1CC5}"/>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81">
            <a:extLst>
              <a:ext uri="{FF2B5EF4-FFF2-40B4-BE49-F238E27FC236}">
                <a16:creationId xmlns:a16="http://schemas.microsoft.com/office/drawing/2014/main" id="{604D19F8-5631-435F-B119-0D66D701738A}"/>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82">
            <a:extLst>
              <a:ext uri="{FF2B5EF4-FFF2-40B4-BE49-F238E27FC236}">
                <a16:creationId xmlns:a16="http://schemas.microsoft.com/office/drawing/2014/main" id="{2D52625E-FD0F-4D1A-806A-ED3D8D798C9E}"/>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Premium and scientific</a:t>
            </a:r>
          </a:p>
        </p:txBody>
      </p:sp>
      <p:sp>
        <p:nvSpPr>
          <p:cNvPr id="18" name="text-83">
            <a:extLst>
              <a:ext uri="{FF2B5EF4-FFF2-40B4-BE49-F238E27FC236}">
                <a16:creationId xmlns:a16="http://schemas.microsoft.com/office/drawing/2014/main" id="{3372ADC0-A02F-4568-80EB-0B602C5AC697}"/>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84">
            <a:extLst>
              <a:ext uri="{FF2B5EF4-FFF2-40B4-BE49-F238E27FC236}">
                <a16:creationId xmlns:a16="http://schemas.microsoft.com/office/drawing/2014/main" id="{90AA42AC-1857-4CD8-A5C4-28BCDE013F32}"/>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85">
            <a:extLst>
              <a:ext uri="{FF2B5EF4-FFF2-40B4-BE49-F238E27FC236}">
                <a16:creationId xmlns:a16="http://schemas.microsoft.com/office/drawing/2014/main" id="{A7D365B8-7600-4C2D-9423-1D2A5EFF356F}"/>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86">
            <a:extLst>
              <a:ext uri="{FF2B5EF4-FFF2-40B4-BE49-F238E27FC236}">
                <a16:creationId xmlns:a16="http://schemas.microsoft.com/office/drawing/2014/main" id="{A978E016-8275-45C5-B23D-524BB003466C}"/>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87">
            <a:extLst>
              <a:ext uri="{FF2B5EF4-FFF2-40B4-BE49-F238E27FC236}">
                <a16:creationId xmlns:a16="http://schemas.microsoft.com/office/drawing/2014/main" id="{A5114060-6BBA-4DEB-88AB-DEA9FD3AA87D}"/>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Bold and performance-led</a:t>
            </a:r>
          </a:p>
        </p:txBody>
      </p:sp>
      <p:sp>
        <p:nvSpPr>
          <p:cNvPr id="23" name="text-88">
            <a:extLst>
              <a:ext uri="{FF2B5EF4-FFF2-40B4-BE49-F238E27FC236}">
                <a16:creationId xmlns:a16="http://schemas.microsoft.com/office/drawing/2014/main" id="{C934FF38-0AD8-46F8-ACD2-E5BF1F101EEE}"/>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89">
            <a:extLst>
              <a:ext uri="{FF2B5EF4-FFF2-40B4-BE49-F238E27FC236}">
                <a16:creationId xmlns:a16="http://schemas.microsoft.com/office/drawing/2014/main" id="{E60E6664-362D-4241-9C83-26AC6E1A144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90">
            <a:extLst>
              <a:ext uri="{FF2B5EF4-FFF2-40B4-BE49-F238E27FC236}">
                <a16:creationId xmlns:a16="http://schemas.microsoft.com/office/drawing/2014/main" id="{A421144D-3F94-4E97-961F-E9F68BC1FBB6}"/>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91">
            <a:extLst>
              <a:ext uri="{FF2B5EF4-FFF2-40B4-BE49-F238E27FC236}">
                <a16:creationId xmlns:a16="http://schemas.microsoft.com/office/drawing/2014/main" id="{7410835B-E4FE-46CF-86B2-43DB8FE45F2B}"/>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92">
            <a:extLst>
              <a:ext uri="{FF2B5EF4-FFF2-40B4-BE49-F238E27FC236}">
                <a16:creationId xmlns:a16="http://schemas.microsoft.com/office/drawing/2014/main" id="{3F7D9E2F-6DE1-4553-A2DA-462B79D64E26}"/>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93">
            <a:extLst>
              <a:ext uri="{FF2B5EF4-FFF2-40B4-BE49-F238E27FC236}">
                <a16:creationId xmlns:a16="http://schemas.microsoft.com/office/drawing/2014/main" id="{DE246D85-E0BF-4863-B9AF-2F51EC23E652}"/>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94">
            <a:extLst>
              <a:ext uri="{FF2B5EF4-FFF2-40B4-BE49-F238E27FC236}">
                <a16:creationId xmlns:a16="http://schemas.microsoft.com/office/drawing/2014/main" id="{C3D03C00-1A49-4C1E-A902-9F202F598C1C}"/>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AUDIENCE &amp; POSITIONING</a:t>
            </a:r>
          </a:p>
        </p:txBody>
      </p:sp>
      <p:sp>
        <p:nvSpPr>
          <p:cNvPr id="30" name="text-95">
            <a:extLst>
              <a:ext uri="{FF2B5EF4-FFF2-40B4-BE49-F238E27FC236}">
                <a16:creationId xmlns:a16="http://schemas.microsoft.com/office/drawing/2014/main" id="{2ACBF668-1A1C-4A8A-86B4-085A5B9E81B8}"/>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Q03 / 49</a:t>
            </a:r>
          </a:p>
        </p:txBody>
      </p:sp>
    </p:spTree>
    <p:extLst>
      <p:ext uri="{BB962C8B-B14F-4D97-AF65-F5344CB8AC3E}">
        <p14:creationId xmlns:p14="http://schemas.microsoft.com/office/powerpoint/2010/main" val="730584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96">
            <a:extLst>
              <a:ext uri="{FF2B5EF4-FFF2-40B4-BE49-F238E27FC236}">
                <a16:creationId xmlns:a16="http://schemas.microsoft.com/office/drawing/2014/main" id="{4715E4BC-8FEA-49ED-8770-4B25287BDC98}"/>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97">
            <a:extLst>
              <a:ext uri="{FF2B5EF4-FFF2-40B4-BE49-F238E27FC236}">
                <a16:creationId xmlns:a16="http://schemas.microsoft.com/office/drawing/2014/main" id="{4B6602F1-DA61-4F8E-B903-26C70B7B3336}"/>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AUDIENCE &amp; POSITIONING</a:t>
            </a:r>
          </a:p>
        </p:txBody>
      </p:sp>
      <p:sp>
        <p:nvSpPr>
          <p:cNvPr id="4" name="text-98">
            <a:extLst>
              <a:ext uri="{FF2B5EF4-FFF2-40B4-BE49-F238E27FC236}">
                <a16:creationId xmlns:a16="http://schemas.microsoft.com/office/drawing/2014/main" id="{C7E05E84-A54D-4975-87C1-497152EC089C}"/>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Q04</a:t>
            </a:r>
          </a:p>
        </p:txBody>
      </p:sp>
      <p:sp>
        <p:nvSpPr>
          <p:cNvPr id="5" name="text-99">
            <a:extLst>
              <a:ext uri="{FF2B5EF4-FFF2-40B4-BE49-F238E27FC236}">
                <a16:creationId xmlns:a16="http://schemas.microsoft.com/office/drawing/2014/main" id="{21BB6163-06DA-4075-8969-DDC20C0E754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is the v1 language strategy?</a:t>
            </a:r>
          </a:p>
        </p:txBody>
      </p:sp>
      <p:sp>
        <p:nvSpPr>
          <p:cNvPr id="6" name="text-100">
            <a:extLst>
              <a:ext uri="{FF2B5EF4-FFF2-40B4-BE49-F238E27FC236}">
                <a16:creationId xmlns:a16="http://schemas.microsoft.com/office/drawing/2014/main" id="{B29CD970-BEF3-40BA-8BC0-985CF20D3042}"/>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101">
            <a:extLst>
              <a:ext uri="{FF2B5EF4-FFF2-40B4-BE49-F238E27FC236}">
                <a16:creationId xmlns:a16="http://schemas.microsoft.com/office/drawing/2014/main" id="{16D3B738-7146-4F80-9B50-79B0F9F07A29}"/>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Determines content models, templates and localization readiness.</a:t>
            </a:r>
          </a:p>
        </p:txBody>
      </p:sp>
      <p:sp>
        <p:nvSpPr>
          <p:cNvPr id="8" name="rect-102">
            <a:extLst>
              <a:ext uri="{FF2B5EF4-FFF2-40B4-BE49-F238E27FC236}">
                <a16:creationId xmlns:a16="http://schemas.microsoft.com/office/drawing/2014/main" id="{19159101-A819-4EF9-AA5D-76206AA5AD85}"/>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03">
            <a:extLst>
              <a:ext uri="{FF2B5EF4-FFF2-40B4-BE49-F238E27FC236}">
                <a16:creationId xmlns:a16="http://schemas.microsoft.com/office/drawing/2014/main" id="{C1E2DD72-080E-4789-8352-24C7B3988F9E}"/>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04">
            <a:extLst>
              <a:ext uri="{FF2B5EF4-FFF2-40B4-BE49-F238E27FC236}">
                <a16:creationId xmlns:a16="http://schemas.microsoft.com/office/drawing/2014/main" id="{EEEA3734-B7B8-4B47-91CA-8A559AB8C70E}"/>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05">
            <a:extLst>
              <a:ext uri="{FF2B5EF4-FFF2-40B4-BE49-F238E27FC236}">
                <a16:creationId xmlns:a16="http://schemas.microsoft.com/office/drawing/2014/main" id="{7703A58C-0502-4FEE-B2CB-049525E000EF}"/>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English first with multilingual foundations</a:t>
            </a:r>
          </a:p>
        </p:txBody>
      </p:sp>
      <p:sp>
        <p:nvSpPr>
          <p:cNvPr id="12" name="text-106">
            <a:extLst>
              <a:ext uri="{FF2B5EF4-FFF2-40B4-BE49-F238E27FC236}">
                <a16:creationId xmlns:a16="http://schemas.microsoft.com/office/drawing/2014/main" id="{D78D3492-FD69-4EF6-A1DF-BA73149FA298}"/>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07">
            <a:extLst>
              <a:ext uri="{FF2B5EF4-FFF2-40B4-BE49-F238E27FC236}">
                <a16:creationId xmlns:a16="http://schemas.microsoft.com/office/drawing/2014/main" id="{C4431795-CC0F-48FC-9490-FF6A17AA9504}"/>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08">
            <a:extLst>
              <a:ext uri="{FF2B5EF4-FFF2-40B4-BE49-F238E27FC236}">
                <a16:creationId xmlns:a16="http://schemas.microsoft.com/office/drawing/2014/main" id="{35D98978-9167-40F0-B561-DCE9539477FB}"/>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09">
            <a:extLst>
              <a:ext uri="{FF2B5EF4-FFF2-40B4-BE49-F238E27FC236}">
                <a16:creationId xmlns:a16="http://schemas.microsoft.com/office/drawing/2014/main" id="{7514C192-30B0-4CB9-9036-4DF2F4655598}"/>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110">
            <a:extLst>
              <a:ext uri="{FF2B5EF4-FFF2-40B4-BE49-F238E27FC236}">
                <a16:creationId xmlns:a16="http://schemas.microsoft.com/office/drawing/2014/main" id="{D81FBA24-781C-438C-851B-953BFB061AD6}"/>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11">
            <a:extLst>
              <a:ext uri="{FF2B5EF4-FFF2-40B4-BE49-F238E27FC236}">
                <a16:creationId xmlns:a16="http://schemas.microsoft.com/office/drawing/2014/main" id="{2C6A18A9-479B-4F45-9D3B-AD32B084E525}"/>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Pan-India Hinglish</a:t>
            </a:r>
          </a:p>
        </p:txBody>
      </p:sp>
      <p:sp>
        <p:nvSpPr>
          <p:cNvPr id="18" name="text-112">
            <a:extLst>
              <a:ext uri="{FF2B5EF4-FFF2-40B4-BE49-F238E27FC236}">
                <a16:creationId xmlns:a16="http://schemas.microsoft.com/office/drawing/2014/main" id="{70BA9470-DE4C-4371-83B6-144072808482}"/>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13">
            <a:extLst>
              <a:ext uri="{FF2B5EF4-FFF2-40B4-BE49-F238E27FC236}">
                <a16:creationId xmlns:a16="http://schemas.microsoft.com/office/drawing/2014/main" id="{5CEDE10E-A029-4503-9790-BB522D045A7B}"/>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14">
            <a:extLst>
              <a:ext uri="{FF2B5EF4-FFF2-40B4-BE49-F238E27FC236}">
                <a16:creationId xmlns:a16="http://schemas.microsoft.com/office/drawing/2014/main" id="{88779DFD-5568-458F-8214-DE167674E702}"/>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115">
            <a:extLst>
              <a:ext uri="{FF2B5EF4-FFF2-40B4-BE49-F238E27FC236}">
                <a16:creationId xmlns:a16="http://schemas.microsoft.com/office/drawing/2014/main" id="{08E5E49E-E519-420A-8D3F-1997491B7B68}"/>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16">
            <a:extLst>
              <a:ext uri="{FF2B5EF4-FFF2-40B4-BE49-F238E27FC236}">
                <a16:creationId xmlns:a16="http://schemas.microsoft.com/office/drawing/2014/main" id="{51D3E020-F4C7-48CC-B37F-C3215A49258B}"/>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English and Gujarati at launch</a:t>
            </a:r>
          </a:p>
        </p:txBody>
      </p:sp>
      <p:sp>
        <p:nvSpPr>
          <p:cNvPr id="23" name="text-117">
            <a:extLst>
              <a:ext uri="{FF2B5EF4-FFF2-40B4-BE49-F238E27FC236}">
                <a16:creationId xmlns:a16="http://schemas.microsoft.com/office/drawing/2014/main" id="{DFB8ABA1-01B5-4EE8-8D06-1A48EB089152}"/>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18">
            <a:extLst>
              <a:ext uri="{FF2B5EF4-FFF2-40B4-BE49-F238E27FC236}">
                <a16:creationId xmlns:a16="http://schemas.microsoft.com/office/drawing/2014/main" id="{B5582A28-BED9-4A69-8B05-1441F1D8C2F1}"/>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19">
            <a:extLst>
              <a:ext uri="{FF2B5EF4-FFF2-40B4-BE49-F238E27FC236}">
                <a16:creationId xmlns:a16="http://schemas.microsoft.com/office/drawing/2014/main" id="{BAD13F02-BA23-45E7-93BA-020D17816B9B}"/>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20">
            <a:extLst>
              <a:ext uri="{FF2B5EF4-FFF2-40B4-BE49-F238E27FC236}">
                <a16:creationId xmlns:a16="http://schemas.microsoft.com/office/drawing/2014/main" id="{D6AA5A0D-21BD-4414-B5F9-AB0DD63690B8}"/>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21">
            <a:extLst>
              <a:ext uri="{FF2B5EF4-FFF2-40B4-BE49-F238E27FC236}">
                <a16:creationId xmlns:a16="http://schemas.microsoft.com/office/drawing/2014/main" id="{F57F44D4-8DB2-4844-B32C-84AC06D55CE5}"/>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22">
            <a:extLst>
              <a:ext uri="{FF2B5EF4-FFF2-40B4-BE49-F238E27FC236}">
                <a16:creationId xmlns:a16="http://schemas.microsoft.com/office/drawing/2014/main" id="{9D136517-E30A-4B40-BA5C-80CA244DA35D}"/>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23">
            <a:extLst>
              <a:ext uri="{FF2B5EF4-FFF2-40B4-BE49-F238E27FC236}">
                <a16:creationId xmlns:a16="http://schemas.microsoft.com/office/drawing/2014/main" id="{51896F60-C90A-4BA7-B84B-80C1F6FB6805}"/>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AUDIENCE &amp; POSITIONING</a:t>
            </a:r>
          </a:p>
        </p:txBody>
      </p:sp>
      <p:sp>
        <p:nvSpPr>
          <p:cNvPr id="30" name="text-124">
            <a:extLst>
              <a:ext uri="{FF2B5EF4-FFF2-40B4-BE49-F238E27FC236}">
                <a16:creationId xmlns:a16="http://schemas.microsoft.com/office/drawing/2014/main" id="{50A43D96-5339-4810-98F7-159378AA3EF7}"/>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Q04 / 49</a:t>
            </a:r>
          </a:p>
        </p:txBody>
      </p:sp>
    </p:spTree>
    <p:extLst>
      <p:ext uri="{BB962C8B-B14F-4D97-AF65-F5344CB8AC3E}">
        <p14:creationId xmlns:p14="http://schemas.microsoft.com/office/powerpoint/2010/main" val="1828881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25">
            <a:extLst>
              <a:ext uri="{FF2B5EF4-FFF2-40B4-BE49-F238E27FC236}">
                <a16:creationId xmlns:a16="http://schemas.microsoft.com/office/drawing/2014/main" id="{285CC8AC-CFD6-41A8-81CA-7EE2763C0310}"/>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126">
            <a:extLst>
              <a:ext uri="{FF2B5EF4-FFF2-40B4-BE49-F238E27FC236}">
                <a16:creationId xmlns:a16="http://schemas.microsoft.com/office/drawing/2014/main" id="{F0FF91B1-BFA9-447B-9D08-45FECAF3D2EE}"/>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AUDIENCE &amp; POSITIONING</a:t>
            </a:r>
          </a:p>
        </p:txBody>
      </p:sp>
      <p:sp>
        <p:nvSpPr>
          <p:cNvPr id="4" name="text-127">
            <a:extLst>
              <a:ext uri="{FF2B5EF4-FFF2-40B4-BE49-F238E27FC236}">
                <a16:creationId xmlns:a16="http://schemas.microsoft.com/office/drawing/2014/main" id="{EA7CF199-CE46-4621-99FB-C70D50694AE1}"/>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Q05</a:t>
            </a:r>
          </a:p>
        </p:txBody>
      </p:sp>
      <p:sp>
        <p:nvSpPr>
          <p:cNvPr id="5" name="text-128">
            <a:extLst>
              <a:ext uri="{FF2B5EF4-FFF2-40B4-BE49-F238E27FC236}">
                <a16:creationId xmlns:a16="http://schemas.microsoft.com/office/drawing/2014/main" id="{56AB81FE-2996-49FE-982C-861C5F754DC5}"/>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the launch catalogue be structured?</a:t>
            </a:r>
          </a:p>
        </p:txBody>
      </p:sp>
      <p:sp>
        <p:nvSpPr>
          <p:cNvPr id="6" name="text-129">
            <a:extLst>
              <a:ext uri="{FF2B5EF4-FFF2-40B4-BE49-F238E27FC236}">
                <a16:creationId xmlns:a16="http://schemas.microsoft.com/office/drawing/2014/main" id="{1511CBAE-6795-4992-A21C-39DC392C9715}"/>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130">
            <a:extLst>
              <a:ext uri="{FF2B5EF4-FFF2-40B4-BE49-F238E27FC236}">
                <a16:creationId xmlns:a16="http://schemas.microsoft.com/office/drawing/2014/main" id="{B9DD33A6-25A4-4226-BAA4-7E1A55BCB71B}"/>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product publication controls and catalogue configuration.</a:t>
            </a:r>
          </a:p>
        </p:txBody>
      </p:sp>
      <p:sp>
        <p:nvSpPr>
          <p:cNvPr id="8" name="rect-131">
            <a:extLst>
              <a:ext uri="{FF2B5EF4-FFF2-40B4-BE49-F238E27FC236}">
                <a16:creationId xmlns:a16="http://schemas.microsoft.com/office/drawing/2014/main" id="{C77B04E9-332E-4D18-9A78-016D803E5380}"/>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32">
            <a:extLst>
              <a:ext uri="{FF2B5EF4-FFF2-40B4-BE49-F238E27FC236}">
                <a16:creationId xmlns:a16="http://schemas.microsoft.com/office/drawing/2014/main" id="{4F306DDB-1B5F-480E-9F9A-757556FBDE46}"/>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33">
            <a:extLst>
              <a:ext uri="{FF2B5EF4-FFF2-40B4-BE49-F238E27FC236}">
                <a16:creationId xmlns:a16="http://schemas.microsoft.com/office/drawing/2014/main" id="{01629696-9BEF-4D3A-8774-D27610060278}"/>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34">
            <a:extLst>
              <a:ext uri="{FF2B5EF4-FFF2-40B4-BE49-F238E27FC236}">
                <a16:creationId xmlns:a16="http://schemas.microsoft.com/office/drawing/2014/main" id="{02B7B201-058F-48E2-9813-D65B4CF51ED7}"/>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Configure nine products; publish only approved items</a:t>
            </a:r>
          </a:p>
        </p:txBody>
      </p:sp>
      <p:sp>
        <p:nvSpPr>
          <p:cNvPr id="12" name="text-135">
            <a:extLst>
              <a:ext uri="{FF2B5EF4-FFF2-40B4-BE49-F238E27FC236}">
                <a16:creationId xmlns:a16="http://schemas.microsoft.com/office/drawing/2014/main" id="{62AC9C0A-4004-4A88-9370-C25F62483D44}"/>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36">
            <a:extLst>
              <a:ext uri="{FF2B5EF4-FFF2-40B4-BE49-F238E27FC236}">
                <a16:creationId xmlns:a16="http://schemas.microsoft.com/office/drawing/2014/main" id="{1D079587-F5D6-4F82-BEDC-7600423BFFA9}"/>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37">
            <a:extLst>
              <a:ext uri="{FF2B5EF4-FFF2-40B4-BE49-F238E27FC236}">
                <a16:creationId xmlns:a16="http://schemas.microsoft.com/office/drawing/2014/main" id="{7722DF7E-1955-4688-99DD-BDA3F581617C}"/>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38">
            <a:extLst>
              <a:ext uri="{FF2B5EF4-FFF2-40B4-BE49-F238E27FC236}">
                <a16:creationId xmlns:a16="http://schemas.microsoft.com/office/drawing/2014/main" id="{C5985EAF-A662-45FC-8520-5AF270AFBD3F}"/>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139">
            <a:extLst>
              <a:ext uri="{FF2B5EF4-FFF2-40B4-BE49-F238E27FC236}">
                <a16:creationId xmlns:a16="http://schemas.microsoft.com/office/drawing/2014/main" id="{A2A69317-3C21-4899-9377-A81A6C92ED9B}"/>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40">
            <a:extLst>
              <a:ext uri="{FF2B5EF4-FFF2-40B4-BE49-F238E27FC236}">
                <a16:creationId xmlns:a16="http://schemas.microsoft.com/office/drawing/2014/main" id="{54E52C9E-8EAF-4F80-A847-82B549FDB0D7}"/>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Lock the system to three launch products</a:t>
            </a:r>
          </a:p>
        </p:txBody>
      </p:sp>
      <p:sp>
        <p:nvSpPr>
          <p:cNvPr id="18" name="text-141">
            <a:extLst>
              <a:ext uri="{FF2B5EF4-FFF2-40B4-BE49-F238E27FC236}">
                <a16:creationId xmlns:a16="http://schemas.microsoft.com/office/drawing/2014/main" id="{837389A2-3CD8-41CA-B529-C8E81AADAC49}"/>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42">
            <a:extLst>
              <a:ext uri="{FF2B5EF4-FFF2-40B4-BE49-F238E27FC236}">
                <a16:creationId xmlns:a16="http://schemas.microsoft.com/office/drawing/2014/main" id="{EBB9CC08-6E21-405F-BE7D-198CD324100A}"/>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43">
            <a:extLst>
              <a:ext uri="{FF2B5EF4-FFF2-40B4-BE49-F238E27FC236}">
                <a16:creationId xmlns:a16="http://schemas.microsoft.com/office/drawing/2014/main" id="{7DD215F6-521E-4E76-A21B-201619BD6CDE}"/>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144">
            <a:extLst>
              <a:ext uri="{FF2B5EF4-FFF2-40B4-BE49-F238E27FC236}">
                <a16:creationId xmlns:a16="http://schemas.microsoft.com/office/drawing/2014/main" id="{3C69E7CE-E0B7-423E-A179-5B491CB054C2}"/>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45">
            <a:extLst>
              <a:ext uri="{FF2B5EF4-FFF2-40B4-BE49-F238E27FC236}">
                <a16:creationId xmlns:a16="http://schemas.microsoft.com/office/drawing/2014/main" id="{DA001780-6117-4856-8492-34E70E859D13}"/>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Publish all nine products at launch</a:t>
            </a:r>
          </a:p>
        </p:txBody>
      </p:sp>
      <p:sp>
        <p:nvSpPr>
          <p:cNvPr id="23" name="text-146">
            <a:extLst>
              <a:ext uri="{FF2B5EF4-FFF2-40B4-BE49-F238E27FC236}">
                <a16:creationId xmlns:a16="http://schemas.microsoft.com/office/drawing/2014/main" id="{5951066B-149B-483A-BC13-D90702B5B13B}"/>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47">
            <a:extLst>
              <a:ext uri="{FF2B5EF4-FFF2-40B4-BE49-F238E27FC236}">
                <a16:creationId xmlns:a16="http://schemas.microsoft.com/office/drawing/2014/main" id="{7F64A163-77BC-449A-BE5B-836C41B4DA07}"/>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48">
            <a:extLst>
              <a:ext uri="{FF2B5EF4-FFF2-40B4-BE49-F238E27FC236}">
                <a16:creationId xmlns:a16="http://schemas.microsoft.com/office/drawing/2014/main" id="{26A2EFEE-D3C5-45BF-B8AD-923712131ACE}"/>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49">
            <a:extLst>
              <a:ext uri="{FF2B5EF4-FFF2-40B4-BE49-F238E27FC236}">
                <a16:creationId xmlns:a16="http://schemas.microsoft.com/office/drawing/2014/main" id="{DD5AE997-DA1F-4658-BB3B-91F04E95045A}"/>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50">
            <a:extLst>
              <a:ext uri="{FF2B5EF4-FFF2-40B4-BE49-F238E27FC236}">
                <a16:creationId xmlns:a16="http://schemas.microsoft.com/office/drawing/2014/main" id="{5973F6FA-EFF6-45D0-B6FF-17E38DF5DC19}"/>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51">
            <a:extLst>
              <a:ext uri="{FF2B5EF4-FFF2-40B4-BE49-F238E27FC236}">
                <a16:creationId xmlns:a16="http://schemas.microsoft.com/office/drawing/2014/main" id="{3C50A1CD-DB03-42CB-A832-3AEA1AF6D5AA}"/>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52">
            <a:extLst>
              <a:ext uri="{FF2B5EF4-FFF2-40B4-BE49-F238E27FC236}">
                <a16:creationId xmlns:a16="http://schemas.microsoft.com/office/drawing/2014/main" id="{B1D4B7F3-B8DC-45A2-A5E1-3E35C526E017}"/>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AUDIENCE &amp; POSITIONING</a:t>
            </a:r>
          </a:p>
        </p:txBody>
      </p:sp>
      <p:sp>
        <p:nvSpPr>
          <p:cNvPr id="30" name="text-153">
            <a:extLst>
              <a:ext uri="{FF2B5EF4-FFF2-40B4-BE49-F238E27FC236}">
                <a16:creationId xmlns:a16="http://schemas.microsoft.com/office/drawing/2014/main" id="{D238ABF4-9DF5-44E4-8C63-3297D79EF7C2}"/>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Q05 / 49</a:t>
            </a:r>
          </a:p>
        </p:txBody>
      </p:sp>
    </p:spTree>
    <p:extLst>
      <p:ext uri="{BB962C8B-B14F-4D97-AF65-F5344CB8AC3E}">
        <p14:creationId xmlns:p14="http://schemas.microsoft.com/office/powerpoint/2010/main" val="195428762"/>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54">
            <a:extLst>
              <a:ext uri="{FF2B5EF4-FFF2-40B4-BE49-F238E27FC236}">
                <a16:creationId xmlns:a16="http://schemas.microsoft.com/office/drawing/2014/main" id="{6CDCFFDA-76A7-4665-BD13-452A347A04C1}"/>
              </a:ext>
            </a:extLst>
          </p:cNvPr>
          <p:cNvSpPr>
            <a:spLocks noGrp="1"/>
          </p:cNvSpPr>
          <p:nvPr/>
        </p:nvSpPr>
        <p:spPr>
          <a:xfrm>
            <a:off x="647700" y="438150"/>
            <a:ext cx="104775" cy="247650"/>
          </a:xfrm>
          <a:prstGeom prst="rect">
            <a:avLst/>
          </a:prstGeom>
          <a:solidFill>
            <a:srgbClr val="FFBF00"/>
          </a:solidFill>
          <a:ln w="0">
            <a:noFill/>
            <a:prstDash val="solid"/>
          </a:ln>
        </p:spPr>
        <p:txBody>
          <a:bodyPr/>
          <a:lstStyle/>
          <a:p>
            <a:endParaRPr lang="en-US"/>
          </a:p>
        </p:txBody>
      </p:sp>
      <p:sp>
        <p:nvSpPr>
          <p:cNvPr id="3" name="text-155">
            <a:extLst>
              <a:ext uri="{FF2B5EF4-FFF2-40B4-BE49-F238E27FC236}">
                <a16:creationId xmlns:a16="http://schemas.microsoft.com/office/drawing/2014/main" id="{2B1C3416-B7BD-4C83-9A8E-D68D17662F51}"/>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COMMERCE &amp; GROWTH</a:t>
            </a:r>
          </a:p>
        </p:txBody>
      </p:sp>
      <p:sp>
        <p:nvSpPr>
          <p:cNvPr id="4" name="text-156">
            <a:extLst>
              <a:ext uri="{FF2B5EF4-FFF2-40B4-BE49-F238E27FC236}">
                <a16:creationId xmlns:a16="http://schemas.microsoft.com/office/drawing/2014/main" id="{BA5D2D6E-F0F2-43B2-A72C-676FC11BFF8F}"/>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Q06</a:t>
            </a:r>
          </a:p>
        </p:txBody>
      </p:sp>
      <p:sp>
        <p:nvSpPr>
          <p:cNvPr id="5" name="text-157">
            <a:extLst>
              <a:ext uri="{FF2B5EF4-FFF2-40B4-BE49-F238E27FC236}">
                <a16:creationId xmlns:a16="http://schemas.microsoft.com/office/drawing/2014/main" id="{2F3000AD-AA48-4B28-8D1F-E39DEE6A82E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commercial model should v1 support?</a:t>
            </a:r>
          </a:p>
        </p:txBody>
      </p:sp>
      <p:sp>
        <p:nvSpPr>
          <p:cNvPr id="6" name="text-158">
            <a:extLst>
              <a:ext uri="{FF2B5EF4-FFF2-40B4-BE49-F238E27FC236}">
                <a16:creationId xmlns:a16="http://schemas.microsoft.com/office/drawing/2014/main" id="{C31B363F-79EB-4EFF-B341-2BB5E47BF6E4}"/>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FFBF00"/>
                </a:solidFill>
                <a:latin typeface="Bahnschrift"/>
                <a:ea typeface="Bahnschrift"/>
                <a:cs typeface="Bahnschrift"/>
              </a:defRPr>
            </a:pPr>
            <a:r>
              <a:rPr sz="1050" b="1">
                <a:solidFill>
                  <a:srgbClr val="FFBF00"/>
                </a:solidFill>
                <a:latin typeface="Bahnschrift"/>
                <a:ea typeface="Bahnschrift"/>
                <a:cs typeface="Bahnschrift"/>
              </a:rPr>
              <a:t>SYSTEM IMPACT</a:t>
            </a:r>
          </a:p>
        </p:txBody>
      </p:sp>
      <p:sp>
        <p:nvSpPr>
          <p:cNvPr id="7" name="text-159">
            <a:extLst>
              <a:ext uri="{FF2B5EF4-FFF2-40B4-BE49-F238E27FC236}">
                <a16:creationId xmlns:a16="http://schemas.microsoft.com/office/drawing/2014/main" id="{32374B1F-4C78-4160-9D4C-A42D552EAE56}"/>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checkout, pricing and lifecycle requirements.</a:t>
            </a:r>
          </a:p>
        </p:txBody>
      </p:sp>
      <p:sp>
        <p:nvSpPr>
          <p:cNvPr id="8" name="rect-160">
            <a:extLst>
              <a:ext uri="{FF2B5EF4-FFF2-40B4-BE49-F238E27FC236}">
                <a16:creationId xmlns:a16="http://schemas.microsoft.com/office/drawing/2014/main" id="{5716C16B-43C0-4B01-A158-FF3E72923D8D}"/>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61">
            <a:extLst>
              <a:ext uri="{FF2B5EF4-FFF2-40B4-BE49-F238E27FC236}">
                <a16:creationId xmlns:a16="http://schemas.microsoft.com/office/drawing/2014/main" id="{D287AC00-06F5-4DE9-996B-0F6462CE568A}"/>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62">
            <a:extLst>
              <a:ext uri="{FF2B5EF4-FFF2-40B4-BE49-F238E27FC236}">
                <a16:creationId xmlns:a16="http://schemas.microsoft.com/office/drawing/2014/main" id="{47241D12-DE1C-4019-8AA4-4CCEB7961D27}"/>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63">
            <a:extLst>
              <a:ext uri="{FF2B5EF4-FFF2-40B4-BE49-F238E27FC236}">
                <a16:creationId xmlns:a16="http://schemas.microsoft.com/office/drawing/2014/main" id="{9A85E6E5-8554-4428-B01E-73FD2F1323B9}"/>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One-time purchases plus curated bundles</a:t>
            </a:r>
          </a:p>
        </p:txBody>
      </p:sp>
      <p:sp>
        <p:nvSpPr>
          <p:cNvPr id="12" name="text-164">
            <a:extLst>
              <a:ext uri="{FF2B5EF4-FFF2-40B4-BE49-F238E27FC236}">
                <a16:creationId xmlns:a16="http://schemas.microsoft.com/office/drawing/2014/main" id="{19932F44-896D-4F33-A44F-90149D57B2DA}"/>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65">
            <a:extLst>
              <a:ext uri="{FF2B5EF4-FFF2-40B4-BE49-F238E27FC236}">
                <a16:creationId xmlns:a16="http://schemas.microsoft.com/office/drawing/2014/main" id="{7602C7F4-1A03-4DB2-A663-0458AC976643}"/>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66">
            <a:extLst>
              <a:ext uri="{FF2B5EF4-FFF2-40B4-BE49-F238E27FC236}">
                <a16:creationId xmlns:a16="http://schemas.microsoft.com/office/drawing/2014/main" id="{8B75502F-6FB1-4689-BC39-C834687A3853}"/>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67">
            <a:extLst>
              <a:ext uri="{FF2B5EF4-FFF2-40B4-BE49-F238E27FC236}">
                <a16:creationId xmlns:a16="http://schemas.microsoft.com/office/drawing/2014/main" id="{CBDFD4A7-F89C-4789-9262-1F3131051FC0}"/>
              </a:ext>
            </a:extLst>
          </p:cNvPr>
          <p:cNvSpPr>
            <a:spLocks noGrp="1"/>
          </p:cNvSpPr>
          <p:nvPr/>
        </p:nvSpPr>
        <p:spPr>
          <a:xfrm>
            <a:off x="647700" y="3219450"/>
            <a:ext cx="114300" cy="800100"/>
          </a:xfrm>
          <a:prstGeom prst="rect">
            <a:avLst/>
          </a:prstGeom>
          <a:solidFill>
            <a:srgbClr val="FFBF00"/>
          </a:solidFill>
          <a:ln w="0">
            <a:noFill/>
            <a:prstDash val="solid"/>
          </a:ln>
        </p:spPr>
        <p:txBody>
          <a:bodyPr/>
          <a:lstStyle/>
          <a:p>
            <a:endParaRPr lang="en-US"/>
          </a:p>
        </p:txBody>
      </p:sp>
      <p:sp>
        <p:nvSpPr>
          <p:cNvPr id="16" name="text-168">
            <a:extLst>
              <a:ext uri="{FF2B5EF4-FFF2-40B4-BE49-F238E27FC236}">
                <a16:creationId xmlns:a16="http://schemas.microsoft.com/office/drawing/2014/main" id="{6B6F51A7-D066-41F6-BCD0-C9E341606083}"/>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69">
            <a:extLst>
              <a:ext uri="{FF2B5EF4-FFF2-40B4-BE49-F238E27FC236}">
                <a16:creationId xmlns:a16="http://schemas.microsoft.com/office/drawing/2014/main" id="{025C5F8A-4B65-4486-94ED-0A2498BB304C}"/>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Subscriptions</a:t>
            </a:r>
          </a:p>
        </p:txBody>
      </p:sp>
      <p:sp>
        <p:nvSpPr>
          <p:cNvPr id="18" name="text-170">
            <a:extLst>
              <a:ext uri="{FF2B5EF4-FFF2-40B4-BE49-F238E27FC236}">
                <a16:creationId xmlns:a16="http://schemas.microsoft.com/office/drawing/2014/main" id="{38CB7DB7-99C9-4BCE-A3EE-4B3A94530FC7}"/>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71">
            <a:extLst>
              <a:ext uri="{FF2B5EF4-FFF2-40B4-BE49-F238E27FC236}">
                <a16:creationId xmlns:a16="http://schemas.microsoft.com/office/drawing/2014/main" id="{CAFF3B20-5228-482B-9B37-576588944E82}"/>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72">
            <a:extLst>
              <a:ext uri="{FF2B5EF4-FFF2-40B4-BE49-F238E27FC236}">
                <a16:creationId xmlns:a16="http://schemas.microsoft.com/office/drawing/2014/main" id="{6E6E259F-FBB0-4D1E-B908-8D116C9E81A7}"/>
              </a:ext>
            </a:extLst>
          </p:cNvPr>
          <p:cNvSpPr>
            <a:spLocks noGrp="1"/>
          </p:cNvSpPr>
          <p:nvPr/>
        </p:nvSpPr>
        <p:spPr>
          <a:xfrm>
            <a:off x="647700" y="4171950"/>
            <a:ext cx="114300" cy="800100"/>
          </a:xfrm>
          <a:prstGeom prst="rect">
            <a:avLst/>
          </a:prstGeom>
          <a:solidFill>
            <a:srgbClr val="FFBF00"/>
          </a:solidFill>
          <a:ln w="0">
            <a:noFill/>
            <a:prstDash val="solid"/>
          </a:ln>
        </p:spPr>
        <p:txBody>
          <a:bodyPr/>
          <a:lstStyle/>
          <a:p>
            <a:endParaRPr lang="en-US"/>
          </a:p>
        </p:txBody>
      </p:sp>
      <p:sp>
        <p:nvSpPr>
          <p:cNvPr id="21" name="text-173">
            <a:extLst>
              <a:ext uri="{FF2B5EF4-FFF2-40B4-BE49-F238E27FC236}">
                <a16:creationId xmlns:a16="http://schemas.microsoft.com/office/drawing/2014/main" id="{3DBAD2BF-B46A-4083-BA97-F922A5F4FC50}"/>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74">
            <a:extLst>
              <a:ext uri="{FF2B5EF4-FFF2-40B4-BE49-F238E27FC236}">
                <a16:creationId xmlns:a16="http://schemas.microsoft.com/office/drawing/2014/main" id="{17137AF6-2F09-43CE-8EC4-CFAECC636238}"/>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Preorder and one-time purchase hybrid</a:t>
            </a:r>
          </a:p>
        </p:txBody>
      </p:sp>
      <p:sp>
        <p:nvSpPr>
          <p:cNvPr id="23" name="text-175">
            <a:extLst>
              <a:ext uri="{FF2B5EF4-FFF2-40B4-BE49-F238E27FC236}">
                <a16:creationId xmlns:a16="http://schemas.microsoft.com/office/drawing/2014/main" id="{C04E2EB4-976B-4F3D-9174-19B1C37F4D8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76">
            <a:extLst>
              <a:ext uri="{FF2B5EF4-FFF2-40B4-BE49-F238E27FC236}">
                <a16:creationId xmlns:a16="http://schemas.microsoft.com/office/drawing/2014/main" id="{506962B9-321C-43C2-96EC-F7388FC0880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77">
            <a:extLst>
              <a:ext uri="{FF2B5EF4-FFF2-40B4-BE49-F238E27FC236}">
                <a16:creationId xmlns:a16="http://schemas.microsoft.com/office/drawing/2014/main" id="{17622FD9-A64B-4404-B36C-330A6B2CAB1E}"/>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78">
            <a:extLst>
              <a:ext uri="{FF2B5EF4-FFF2-40B4-BE49-F238E27FC236}">
                <a16:creationId xmlns:a16="http://schemas.microsoft.com/office/drawing/2014/main" id="{16FD0FEE-F6A4-476F-A32A-1C50EBFE8120}"/>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79">
            <a:extLst>
              <a:ext uri="{FF2B5EF4-FFF2-40B4-BE49-F238E27FC236}">
                <a16:creationId xmlns:a16="http://schemas.microsoft.com/office/drawing/2014/main" id="{1037722A-5089-46DA-AC1E-F7C3D6D29189}"/>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80">
            <a:extLst>
              <a:ext uri="{FF2B5EF4-FFF2-40B4-BE49-F238E27FC236}">
                <a16:creationId xmlns:a16="http://schemas.microsoft.com/office/drawing/2014/main" id="{59AB7991-5B2B-4C60-AE4F-703AA0F1900D}"/>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81">
            <a:extLst>
              <a:ext uri="{FF2B5EF4-FFF2-40B4-BE49-F238E27FC236}">
                <a16:creationId xmlns:a16="http://schemas.microsoft.com/office/drawing/2014/main" id="{5CFDB232-6C30-4BAF-8949-BD69A9DAC3AF}"/>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COMMERCE &amp; GROWTH</a:t>
            </a:r>
          </a:p>
        </p:txBody>
      </p:sp>
      <p:sp>
        <p:nvSpPr>
          <p:cNvPr id="30" name="text-182">
            <a:extLst>
              <a:ext uri="{FF2B5EF4-FFF2-40B4-BE49-F238E27FC236}">
                <a16:creationId xmlns:a16="http://schemas.microsoft.com/office/drawing/2014/main" id="{3B5D7B1F-21D9-47D6-826F-F3D13E522929}"/>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Q06 / 49</a:t>
            </a:r>
          </a:p>
        </p:txBody>
      </p:sp>
    </p:spTree>
    <p:extLst>
      <p:ext uri="{BB962C8B-B14F-4D97-AF65-F5344CB8AC3E}">
        <p14:creationId xmlns:p14="http://schemas.microsoft.com/office/powerpoint/2010/main" val="26625966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183">
            <a:extLst>
              <a:ext uri="{FF2B5EF4-FFF2-40B4-BE49-F238E27FC236}">
                <a16:creationId xmlns:a16="http://schemas.microsoft.com/office/drawing/2014/main" id="{78B989B3-F21D-467A-8E35-473E777F059D}"/>
              </a:ext>
            </a:extLst>
          </p:cNvPr>
          <p:cNvSpPr>
            <a:spLocks noGrp="1"/>
          </p:cNvSpPr>
          <p:nvPr/>
        </p:nvSpPr>
        <p:spPr>
          <a:xfrm>
            <a:off x="647700" y="438150"/>
            <a:ext cx="104775" cy="247650"/>
          </a:xfrm>
          <a:prstGeom prst="rect">
            <a:avLst/>
          </a:prstGeom>
          <a:solidFill>
            <a:srgbClr val="FFBF00"/>
          </a:solidFill>
          <a:ln w="0">
            <a:noFill/>
            <a:prstDash val="solid"/>
          </a:ln>
        </p:spPr>
        <p:txBody>
          <a:bodyPr/>
          <a:lstStyle/>
          <a:p>
            <a:endParaRPr lang="en-US"/>
          </a:p>
        </p:txBody>
      </p:sp>
      <p:sp>
        <p:nvSpPr>
          <p:cNvPr id="3" name="text-184">
            <a:extLst>
              <a:ext uri="{FF2B5EF4-FFF2-40B4-BE49-F238E27FC236}">
                <a16:creationId xmlns:a16="http://schemas.microsoft.com/office/drawing/2014/main" id="{5F2E3F15-097D-4726-A178-1E9647A331C6}"/>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COMMERCE &amp; GROWTH</a:t>
            </a:r>
          </a:p>
        </p:txBody>
      </p:sp>
      <p:sp>
        <p:nvSpPr>
          <p:cNvPr id="4" name="text-185">
            <a:extLst>
              <a:ext uri="{FF2B5EF4-FFF2-40B4-BE49-F238E27FC236}">
                <a16:creationId xmlns:a16="http://schemas.microsoft.com/office/drawing/2014/main" id="{C79EBFC8-EA68-4400-BA76-50C814628125}"/>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Q07</a:t>
            </a:r>
          </a:p>
        </p:txBody>
      </p:sp>
      <p:sp>
        <p:nvSpPr>
          <p:cNvPr id="5" name="text-186">
            <a:extLst>
              <a:ext uri="{FF2B5EF4-FFF2-40B4-BE49-F238E27FC236}">
                <a16:creationId xmlns:a16="http://schemas.microsoft.com/office/drawing/2014/main" id="{99F17C0F-B4E7-421C-91D0-40074BC69D17}"/>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persuasion policy should commerce enforce?</a:t>
            </a:r>
          </a:p>
        </p:txBody>
      </p:sp>
      <p:sp>
        <p:nvSpPr>
          <p:cNvPr id="6" name="text-187">
            <a:extLst>
              <a:ext uri="{FF2B5EF4-FFF2-40B4-BE49-F238E27FC236}">
                <a16:creationId xmlns:a16="http://schemas.microsoft.com/office/drawing/2014/main" id="{37504EE3-9256-47F3-882F-FAFA05D59283}"/>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FFBF00"/>
                </a:solidFill>
                <a:latin typeface="Bahnschrift"/>
                <a:ea typeface="Bahnschrift"/>
                <a:cs typeface="Bahnschrift"/>
              </a:defRPr>
            </a:pPr>
            <a:r>
              <a:rPr sz="1050" b="1">
                <a:solidFill>
                  <a:srgbClr val="FFBF00"/>
                </a:solidFill>
                <a:latin typeface="Bahnschrift"/>
                <a:ea typeface="Bahnschrift"/>
                <a:cs typeface="Bahnschrift"/>
              </a:rPr>
              <a:t>SYSTEM IMPACT</a:t>
            </a:r>
          </a:p>
        </p:txBody>
      </p:sp>
      <p:sp>
        <p:nvSpPr>
          <p:cNvPr id="7" name="text-188">
            <a:extLst>
              <a:ext uri="{FF2B5EF4-FFF2-40B4-BE49-F238E27FC236}">
                <a16:creationId xmlns:a16="http://schemas.microsoft.com/office/drawing/2014/main" id="{4873EA8A-AB2D-44BE-A191-76B091C7892A}"/>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allowed offer logic and prohibited dark patterns.</a:t>
            </a:r>
          </a:p>
        </p:txBody>
      </p:sp>
      <p:sp>
        <p:nvSpPr>
          <p:cNvPr id="8" name="rect-189">
            <a:extLst>
              <a:ext uri="{FF2B5EF4-FFF2-40B4-BE49-F238E27FC236}">
                <a16:creationId xmlns:a16="http://schemas.microsoft.com/office/drawing/2014/main" id="{D6C7E9C0-0DDC-46BE-87D2-04580C0B29F2}"/>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90">
            <a:extLst>
              <a:ext uri="{FF2B5EF4-FFF2-40B4-BE49-F238E27FC236}">
                <a16:creationId xmlns:a16="http://schemas.microsoft.com/office/drawing/2014/main" id="{AB1172FC-AF6D-4882-BB94-AC4A232BA2F0}"/>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91">
            <a:extLst>
              <a:ext uri="{FF2B5EF4-FFF2-40B4-BE49-F238E27FC236}">
                <a16:creationId xmlns:a16="http://schemas.microsoft.com/office/drawing/2014/main" id="{A9D16BA5-4D75-4F03-BD8F-651EBE967B02}"/>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92">
            <a:extLst>
              <a:ext uri="{FF2B5EF4-FFF2-40B4-BE49-F238E27FC236}">
                <a16:creationId xmlns:a16="http://schemas.microsoft.com/office/drawing/2014/main" id="{06B7E676-5905-46B1-96DB-4BDE387FBE64}"/>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Ethical, truthful nudges only</a:t>
            </a:r>
            <a:r>
              <a:rPr lang="en-US" sz="1950" b="1">
                <a:solidFill>
                  <a:srgbClr val="141414"/>
                </a:solidFill>
                <a:latin typeface="Arial"/>
                <a:ea typeface="Arial"/>
                <a:cs typeface="Arial"/>
              </a:rPr>
              <a:t> </a:t>
            </a:r>
            <a:endParaRPr sz="1950" b="1">
              <a:solidFill>
                <a:srgbClr val="141414"/>
              </a:solidFill>
              <a:latin typeface="Arial"/>
              <a:ea typeface="Arial"/>
              <a:cs typeface="Arial"/>
            </a:endParaRPr>
          </a:p>
        </p:txBody>
      </p:sp>
      <p:sp>
        <p:nvSpPr>
          <p:cNvPr id="12" name="text-193">
            <a:extLst>
              <a:ext uri="{FF2B5EF4-FFF2-40B4-BE49-F238E27FC236}">
                <a16:creationId xmlns:a16="http://schemas.microsoft.com/office/drawing/2014/main" id="{AA33EBBA-5265-41FC-94F3-2FD79A8A6948}"/>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94">
            <a:extLst>
              <a:ext uri="{FF2B5EF4-FFF2-40B4-BE49-F238E27FC236}">
                <a16:creationId xmlns:a16="http://schemas.microsoft.com/office/drawing/2014/main" id="{06265E0A-9056-4998-B205-2881DBACFFA6}"/>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95">
            <a:extLst>
              <a:ext uri="{FF2B5EF4-FFF2-40B4-BE49-F238E27FC236}">
                <a16:creationId xmlns:a16="http://schemas.microsoft.com/office/drawing/2014/main" id="{8ABD9ED1-7357-4A68-ADFF-4BC34F787D3D}"/>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96">
            <a:extLst>
              <a:ext uri="{FF2B5EF4-FFF2-40B4-BE49-F238E27FC236}">
                <a16:creationId xmlns:a16="http://schemas.microsoft.com/office/drawing/2014/main" id="{7A4350E7-89E1-447C-8CDF-5806932AB880}"/>
              </a:ext>
            </a:extLst>
          </p:cNvPr>
          <p:cNvSpPr>
            <a:spLocks noGrp="1"/>
          </p:cNvSpPr>
          <p:nvPr/>
        </p:nvSpPr>
        <p:spPr>
          <a:xfrm>
            <a:off x="647700" y="3219450"/>
            <a:ext cx="114300" cy="800100"/>
          </a:xfrm>
          <a:prstGeom prst="rect">
            <a:avLst/>
          </a:prstGeom>
          <a:solidFill>
            <a:srgbClr val="FFBF00"/>
          </a:solidFill>
          <a:ln w="0">
            <a:noFill/>
            <a:prstDash val="solid"/>
          </a:ln>
        </p:spPr>
        <p:txBody>
          <a:bodyPr/>
          <a:lstStyle/>
          <a:p>
            <a:endParaRPr lang="en-US"/>
          </a:p>
        </p:txBody>
      </p:sp>
      <p:sp>
        <p:nvSpPr>
          <p:cNvPr id="16" name="text-197">
            <a:extLst>
              <a:ext uri="{FF2B5EF4-FFF2-40B4-BE49-F238E27FC236}">
                <a16:creationId xmlns:a16="http://schemas.microsoft.com/office/drawing/2014/main" id="{4CE8E178-24EF-46C9-8294-0C8FA71A1DF7}"/>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98">
            <a:extLst>
              <a:ext uri="{FF2B5EF4-FFF2-40B4-BE49-F238E27FC236}">
                <a16:creationId xmlns:a16="http://schemas.microsoft.com/office/drawing/2014/main" id="{B174DD6F-9D90-4580-BBD7-05EA65FAE805}"/>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Promotion-led selling</a:t>
            </a:r>
          </a:p>
        </p:txBody>
      </p:sp>
      <p:sp>
        <p:nvSpPr>
          <p:cNvPr id="18" name="text-199">
            <a:extLst>
              <a:ext uri="{FF2B5EF4-FFF2-40B4-BE49-F238E27FC236}">
                <a16:creationId xmlns:a16="http://schemas.microsoft.com/office/drawing/2014/main" id="{5A561F4A-30C9-4757-91D0-B556DAA259BD}"/>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200">
            <a:extLst>
              <a:ext uri="{FF2B5EF4-FFF2-40B4-BE49-F238E27FC236}">
                <a16:creationId xmlns:a16="http://schemas.microsoft.com/office/drawing/2014/main" id="{8618CE9F-7EA9-4A82-BE9A-D483A51330BC}"/>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201">
            <a:extLst>
              <a:ext uri="{FF2B5EF4-FFF2-40B4-BE49-F238E27FC236}">
                <a16:creationId xmlns:a16="http://schemas.microsoft.com/office/drawing/2014/main" id="{14FB83C3-AC82-4B5F-A098-B4F42D13BB4B}"/>
              </a:ext>
            </a:extLst>
          </p:cNvPr>
          <p:cNvSpPr>
            <a:spLocks noGrp="1"/>
          </p:cNvSpPr>
          <p:nvPr/>
        </p:nvSpPr>
        <p:spPr>
          <a:xfrm>
            <a:off x="647700" y="4171950"/>
            <a:ext cx="114300" cy="800100"/>
          </a:xfrm>
          <a:prstGeom prst="rect">
            <a:avLst/>
          </a:prstGeom>
          <a:solidFill>
            <a:srgbClr val="FFBF00"/>
          </a:solidFill>
          <a:ln w="0">
            <a:noFill/>
            <a:prstDash val="solid"/>
          </a:ln>
        </p:spPr>
        <p:txBody>
          <a:bodyPr/>
          <a:lstStyle/>
          <a:p>
            <a:endParaRPr lang="en-US"/>
          </a:p>
        </p:txBody>
      </p:sp>
      <p:sp>
        <p:nvSpPr>
          <p:cNvPr id="21" name="text-202">
            <a:extLst>
              <a:ext uri="{FF2B5EF4-FFF2-40B4-BE49-F238E27FC236}">
                <a16:creationId xmlns:a16="http://schemas.microsoft.com/office/drawing/2014/main" id="{21506365-B698-4068-BA8C-EDF46B13B413}"/>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203">
            <a:extLst>
              <a:ext uri="{FF2B5EF4-FFF2-40B4-BE49-F238E27FC236}">
                <a16:creationId xmlns:a16="http://schemas.microsoft.com/office/drawing/2014/main" id="{5E9B53E7-05E4-4E7F-9A3E-1106E96C7720}"/>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Education-led experience with minimal selling</a:t>
            </a:r>
          </a:p>
        </p:txBody>
      </p:sp>
      <p:sp>
        <p:nvSpPr>
          <p:cNvPr id="23" name="text-204">
            <a:extLst>
              <a:ext uri="{FF2B5EF4-FFF2-40B4-BE49-F238E27FC236}">
                <a16:creationId xmlns:a16="http://schemas.microsoft.com/office/drawing/2014/main" id="{A293415F-7D01-4509-96E3-8F5F9AB2F261}"/>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205">
            <a:extLst>
              <a:ext uri="{FF2B5EF4-FFF2-40B4-BE49-F238E27FC236}">
                <a16:creationId xmlns:a16="http://schemas.microsoft.com/office/drawing/2014/main" id="{AAC36961-67BD-4820-8214-F1429A0EADCE}"/>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206">
            <a:extLst>
              <a:ext uri="{FF2B5EF4-FFF2-40B4-BE49-F238E27FC236}">
                <a16:creationId xmlns:a16="http://schemas.microsoft.com/office/drawing/2014/main" id="{89CAE60D-CFF2-48E0-80FE-6999ED0C6689}"/>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207">
            <a:extLst>
              <a:ext uri="{FF2B5EF4-FFF2-40B4-BE49-F238E27FC236}">
                <a16:creationId xmlns:a16="http://schemas.microsoft.com/office/drawing/2014/main" id="{AFBEF87A-5909-4E58-B0DD-507E3F41B150}"/>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208">
            <a:extLst>
              <a:ext uri="{FF2B5EF4-FFF2-40B4-BE49-F238E27FC236}">
                <a16:creationId xmlns:a16="http://schemas.microsoft.com/office/drawing/2014/main" id="{AF37F1B5-2B99-4B9F-889A-CACC7CC7110B}"/>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209">
            <a:extLst>
              <a:ext uri="{FF2B5EF4-FFF2-40B4-BE49-F238E27FC236}">
                <a16:creationId xmlns:a16="http://schemas.microsoft.com/office/drawing/2014/main" id="{C711BC9D-1A28-4E30-A982-1A2F0B65491E}"/>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210">
            <a:extLst>
              <a:ext uri="{FF2B5EF4-FFF2-40B4-BE49-F238E27FC236}">
                <a16:creationId xmlns:a16="http://schemas.microsoft.com/office/drawing/2014/main" id="{753B56C1-3E57-48AB-A9BE-EECEA426B577}"/>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COMMERCE &amp; GROWTH</a:t>
            </a:r>
          </a:p>
        </p:txBody>
      </p:sp>
      <p:sp>
        <p:nvSpPr>
          <p:cNvPr id="30" name="text-211">
            <a:extLst>
              <a:ext uri="{FF2B5EF4-FFF2-40B4-BE49-F238E27FC236}">
                <a16:creationId xmlns:a16="http://schemas.microsoft.com/office/drawing/2014/main" id="{E5E2E5C6-778B-4864-AFF2-0B5F5EBF2AE2}"/>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Q07 / 49</a:t>
            </a:r>
          </a:p>
        </p:txBody>
      </p:sp>
    </p:spTree>
    <p:extLst>
      <p:ext uri="{BB962C8B-B14F-4D97-AF65-F5344CB8AC3E}">
        <p14:creationId xmlns:p14="http://schemas.microsoft.com/office/powerpoint/2010/main" val="44299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212">
            <a:extLst>
              <a:ext uri="{FF2B5EF4-FFF2-40B4-BE49-F238E27FC236}">
                <a16:creationId xmlns:a16="http://schemas.microsoft.com/office/drawing/2014/main" id="{BDB2EDA2-5973-4496-8BBA-4ABA1731E896}"/>
              </a:ext>
            </a:extLst>
          </p:cNvPr>
          <p:cNvSpPr>
            <a:spLocks noGrp="1"/>
          </p:cNvSpPr>
          <p:nvPr/>
        </p:nvSpPr>
        <p:spPr>
          <a:xfrm>
            <a:off x="647700" y="438150"/>
            <a:ext cx="104775" cy="247650"/>
          </a:xfrm>
          <a:prstGeom prst="rect">
            <a:avLst/>
          </a:prstGeom>
          <a:solidFill>
            <a:srgbClr val="FFBF00"/>
          </a:solidFill>
          <a:ln w="0">
            <a:noFill/>
            <a:prstDash val="solid"/>
          </a:ln>
        </p:spPr>
        <p:txBody>
          <a:bodyPr/>
          <a:lstStyle/>
          <a:p>
            <a:endParaRPr lang="en-US"/>
          </a:p>
        </p:txBody>
      </p:sp>
      <p:sp>
        <p:nvSpPr>
          <p:cNvPr id="3" name="text-213">
            <a:extLst>
              <a:ext uri="{FF2B5EF4-FFF2-40B4-BE49-F238E27FC236}">
                <a16:creationId xmlns:a16="http://schemas.microsoft.com/office/drawing/2014/main" id="{ED1F8664-F48E-4871-BD68-109F660EDE90}"/>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COMMERCE &amp; GROWTH</a:t>
            </a:r>
          </a:p>
        </p:txBody>
      </p:sp>
      <p:sp>
        <p:nvSpPr>
          <p:cNvPr id="4" name="text-214">
            <a:extLst>
              <a:ext uri="{FF2B5EF4-FFF2-40B4-BE49-F238E27FC236}">
                <a16:creationId xmlns:a16="http://schemas.microsoft.com/office/drawing/2014/main" id="{4D5B45B3-9B06-46DB-9741-D3DC9220DA64}"/>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Q08</a:t>
            </a:r>
          </a:p>
        </p:txBody>
      </p:sp>
      <p:sp>
        <p:nvSpPr>
          <p:cNvPr id="5" name="text-215">
            <a:extLst>
              <a:ext uri="{FF2B5EF4-FFF2-40B4-BE49-F238E27FC236}">
                <a16:creationId xmlns:a16="http://schemas.microsoft.com/office/drawing/2014/main" id="{E8FC75F0-70FC-4BA9-A329-560092797ABA}"/>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upselling be implemented?</a:t>
            </a:r>
          </a:p>
        </p:txBody>
      </p:sp>
      <p:sp>
        <p:nvSpPr>
          <p:cNvPr id="6" name="text-216">
            <a:extLst>
              <a:ext uri="{FF2B5EF4-FFF2-40B4-BE49-F238E27FC236}">
                <a16:creationId xmlns:a16="http://schemas.microsoft.com/office/drawing/2014/main" id="{2EA80748-4115-4B0C-9E40-E1ED709C41F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FFBF00"/>
                </a:solidFill>
                <a:latin typeface="Bahnschrift"/>
                <a:ea typeface="Bahnschrift"/>
                <a:cs typeface="Bahnschrift"/>
              </a:defRPr>
            </a:pPr>
            <a:r>
              <a:rPr sz="1050" b="1">
                <a:solidFill>
                  <a:srgbClr val="FFBF00"/>
                </a:solidFill>
                <a:latin typeface="Bahnschrift"/>
                <a:ea typeface="Bahnschrift"/>
                <a:cs typeface="Bahnschrift"/>
              </a:rPr>
              <a:t>SYSTEM IMPACT</a:t>
            </a:r>
          </a:p>
        </p:txBody>
      </p:sp>
      <p:sp>
        <p:nvSpPr>
          <p:cNvPr id="7" name="text-217">
            <a:extLst>
              <a:ext uri="{FF2B5EF4-FFF2-40B4-BE49-F238E27FC236}">
                <a16:creationId xmlns:a16="http://schemas.microsoft.com/office/drawing/2014/main" id="{F237880E-3AC8-4043-86DE-A698450F0AB3}"/>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offer eligibility, explainability and data requirements.</a:t>
            </a:r>
          </a:p>
        </p:txBody>
      </p:sp>
      <p:sp>
        <p:nvSpPr>
          <p:cNvPr id="8" name="rect-218">
            <a:extLst>
              <a:ext uri="{FF2B5EF4-FFF2-40B4-BE49-F238E27FC236}">
                <a16:creationId xmlns:a16="http://schemas.microsoft.com/office/drawing/2014/main" id="{79F468B9-7857-4419-AC95-639C8D3A2680}"/>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219">
            <a:extLst>
              <a:ext uri="{FF2B5EF4-FFF2-40B4-BE49-F238E27FC236}">
                <a16:creationId xmlns:a16="http://schemas.microsoft.com/office/drawing/2014/main" id="{BB66100B-6448-4777-9BCE-3B22E5032122}"/>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220">
            <a:extLst>
              <a:ext uri="{FF2B5EF4-FFF2-40B4-BE49-F238E27FC236}">
                <a16:creationId xmlns:a16="http://schemas.microsoft.com/office/drawing/2014/main" id="{F971BEB8-A67C-479B-99F4-FC619D686538}"/>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221">
            <a:extLst>
              <a:ext uri="{FF2B5EF4-FFF2-40B4-BE49-F238E27FC236}">
                <a16:creationId xmlns:a16="http://schemas.microsoft.com/office/drawing/2014/main" id="{2B19F5BE-7298-433A-A617-9468A3BDB985}"/>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Rules-based complementary offers</a:t>
            </a:r>
          </a:p>
        </p:txBody>
      </p:sp>
      <p:sp>
        <p:nvSpPr>
          <p:cNvPr id="12" name="text-222">
            <a:extLst>
              <a:ext uri="{FF2B5EF4-FFF2-40B4-BE49-F238E27FC236}">
                <a16:creationId xmlns:a16="http://schemas.microsoft.com/office/drawing/2014/main" id="{0EE50FFA-1813-483C-8A9F-127DEABAE1DC}"/>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223">
            <a:extLst>
              <a:ext uri="{FF2B5EF4-FFF2-40B4-BE49-F238E27FC236}">
                <a16:creationId xmlns:a16="http://schemas.microsoft.com/office/drawing/2014/main" id="{6DEFC629-B945-40C1-9CAF-1D6FABA7713F}"/>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224">
            <a:extLst>
              <a:ext uri="{FF2B5EF4-FFF2-40B4-BE49-F238E27FC236}">
                <a16:creationId xmlns:a16="http://schemas.microsoft.com/office/drawing/2014/main" id="{5AD06CA0-4CE4-4D01-A32E-938B842F43B2}"/>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225">
            <a:extLst>
              <a:ext uri="{FF2B5EF4-FFF2-40B4-BE49-F238E27FC236}">
                <a16:creationId xmlns:a16="http://schemas.microsoft.com/office/drawing/2014/main" id="{28E9D94B-56C5-4152-B991-3CA078877C15}"/>
              </a:ext>
            </a:extLst>
          </p:cNvPr>
          <p:cNvSpPr>
            <a:spLocks noGrp="1"/>
          </p:cNvSpPr>
          <p:nvPr/>
        </p:nvSpPr>
        <p:spPr>
          <a:xfrm>
            <a:off x="647700" y="3219450"/>
            <a:ext cx="114300" cy="800100"/>
          </a:xfrm>
          <a:prstGeom prst="rect">
            <a:avLst/>
          </a:prstGeom>
          <a:solidFill>
            <a:srgbClr val="FFBF00"/>
          </a:solidFill>
          <a:ln w="0">
            <a:noFill/>
            <a:prstDash val="solid"/>
          </a:ln>
        </p:spPr>
        <p:txBody>
          <a:bodyPr/>
          <a:lstStyle/>
          <a:p>
            <a:endParaRPr lang="en-US"/>
          </a:p>
        </p:txBody>
      </p:sp>
      <p:sp>
        <p:nvSpPr>
          <p:cNvPr id="16" name="text-226">
            <a:extLst>
              <a:ext uri="{FF2B5EF4-FFF2-40B4-BE49-F238E27FC236}">
                <a16:creationId xmlns:a16="http://schemas.microsoft.com/office/drawing/2014/main" id="{4B2D0D71-05F1-4F9F-A699-D8E196A864A8}"/>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227">
            <a:extLst>
              <a:ext uri="{FF2B5EF4-FFF2-40B4-BE49-F238E27FC236}">
                <a16:creationId xmlns:a16="http://schemas.microsoft.com/office/drawing/2014/main" id="{CBC509FB-5F7F-4090-ACF2-B05BC0F3A912}"/>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Dynamic personalized recommendations</a:t>
            </a:r>
          </a:p>
        </p:txBody>
      </p:sp>
      <p:sp>
        <p:nvSpPr>
          <p:cNvPr id="18" name="text-228">
            <a:extLst>
              <a:ext uri="{FF2B5EF4-FFF2-40B4-BE49-F238E27FC236}">
                <a16:creationId xmlns:a16="http://schemas.microsoft.com/office/drawing/2014/main" id="{D0D1BE6E-9683-4DB3-B244-D3123DB73346}"/>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229">
            <a:extLst>
              <a:ext uri="{FF2B5EF4-FFF2-40B4-BE49-F238E27FC236}">
                <a16:creationId xmlns:a16="http://schemas.microsoft.com/office/drawing/2014/main" id="{AB988091-E365-4F71-9404-3E6E1C0163A3}"/>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230">
            <a:extLst>
              <a:ext uri="{FF2B5EF4-FFF2-40B4-BE49-F238E27FC236}">
                <a16:creationId xmlns:a16="http://schemas.microsoft.com/office/drawing/2014/main" id="{0D443D7A-B8C5-437E-A217-B5794737BDC6}"/>
              </a:ext>
            </a:extLst>
          </p:cNvPr>
          <p:cNvSpPr>
            <a:spLocks noGrp="1"/>
          </p:cNvSpPr>
          <p:nvPr/>
        </p:nvSpPr>
        <p:spPr>
          <a:xfrm>
            <a:off x="647700" y="4171950"/>
            <a:ext cx="114300" cy="800100"/>
          </a:xfrm>
          <a:prstGeom prst="rect">
            <a:avLst/>
          </a:prstGeom>
          <a:solidFill>
            <a:srgbClr val="FFBF00"/>
          </a:solidFill>
          <a:ln w="0">
            <a:noFill/>
            <a:prstDash val="solid"/>
          </a:ln>
        </p:spPr>
        <p:txBody>
          <a:bodyPr/>
          <a:lstStyle/>
          <a:p>
            <a:endParaRPr lang="en-US"/>
          </a:p>
        </p:txBody>
      </p:sp>
      <p:sp>
        <p:nvSpPr>
          <p:cNvPr id="21" name="text-231">
            <a:extLst>
              <a:ext uri="{FF2B5EF4-FFF2-40B4-BE49-F238E27FC236}">
                <a16:creationId xmlns:a16="http://schemas.microsoft.com/office/drawing/2014/main" id="{D8BE9E39-A1FF-4738-8363-3C1E6969063C}"/>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232">
            <a:extLst>
              <a:ext uri="{FF2B5EF4-FFF2-40B4-BE49-F238E27FC236}">
                <a16:creationId xmlns:a16="http://schemas.microsoft.com/office/drawing/2014/main" id="{C0CF936B-E9ED-4F36-9883-A9CAF7340BFC}"/>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Bundles only; no add-on offers</a:t>
            </a:r>
          </a:p>
        </p:txBody>
      </p:sp>
      <p:sp>
        <p:nvSpPr>
          <p:cNvPr id="23" name="text-233">
            <a:extLst>
              <a:ext uri="{FF2B5EF4-FFF2-40B4-BE49-F238E27FC236}">
                <a16:creationId xmlns:a16="http://schemas.microsoft.com/office/drawing/2014/main" id="{E5CD8475-B2C9-4B9C-ABAD-FBD02B807E93}"/>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234">
            <a:extLst>
              <a:ext uri="{FF2B5EF4-FFF2-40B4-BE49-F238E27FC236}">
                <a16:creationId xmlns:a16="http://schemas.microsoft.com/office/drawing/2014/main" id="{F409C5F7-0A6A-4C06-A7FA-7A406536D4AF}"/>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235">
            <a:extLst>
              <a:ext uri="{FF2B5EF4-FFF2-40B4-BE49-F238E27FC236}">
                <a16:creationId xmlns:a16="http://schemas.microsoft.com/office/drawing/2014/main" id="{C503D920-5DF9-4A45-B80E-1892D0E959C6}"/>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236">
            <a:extLst>
              <a:ext uri="{FF2B5EF4-FFF2-40B4-BE49-F238E27FC236}">
                <a16:creationId xmlns:a16="http://schemas.microsoft.com/office/drawing/2014/main" id="{9F8EAC15-BE0E-4684-A46A-9CDBC311A33F}"/>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237">
            <a:extLst>
              <a:ext uri="{FF2B5EF4-FFF2-40B4-BE49-F238E27FC236}">
                <a16:creationId xmlns:a16="http://schemas.microsoft.com/office/drawing/2014/main" id="{45CDBB15-2868-4FD8-BC28-AD5B60F0D4E8}"/>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238">
            <a:extLst>
              <a:ext uri="{FF2B5EF4-FFF2-40B4-BE49-F238E27FC236}">
                <a16:creationId xmlns:a16="http://schemas.microsoft.com/office/drawing/2014/main" id="{1400748F-DD7F-40A2-8463-EF6161B5E91E}"/>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239">
            <a:extLst>
              <a:ext uri="{FF2B5EF4-FFF2-40B4-BE49-F238E27FC236}">
                <a16:creationId xmlns:a16="http://schemas.microsoft.com/office/drawing/2014/main" id="{5F11E052-054C-4D43-B286-C24BAE1A29E6}"/>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COMMERCE &amp; GROWTH</a:t>
            </a:r>
          </a:p>
        </p:txBody>
      </p:sp>
      <p:sp>
        <p:nvSpPr>
          <p:cNvPr id="30" name="text-240">
            <a:extLst>
              <a:ext uri="{FF2B5EF4-FFF2-40B4-BE49-F238E27FC236}">
                <a16:creationId xmlns:a16="http://schemas.microsoft.com/office/drawing/2014/main" id="{0C54DB9D-DE9D-4897-8909-C9A7CADE3C1B}"/>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Q08 / 49</a:t>
            </a:r>
          </a:p>
        </p:txBody>
      </p:sp>
    </p:spTree>
    <p:extLst>
      <p:ext uri="{BB962C8B-B14F-4D97-AF65-F5344CB8AC3E}">
        <p14:creationId xmlns:p14="http://schemas.microsoft.com/office/powerpoint/2010/main" val="1675841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241">
            <a:extLst>
              <a:ext uri="{FF2B5EF4-FFF2-40B4-BE49-F238E27FC236}">
                <a16:creationId xmlns:a16="http://schemas.microsoft.com/office/drawing/2014/main" id="{ABC4F953-E8AF-4CF5-AF8D-57132F01FA49}"/>
              </a:ext>
            </a:extLst>
          </p:cNvPr>
          <p:cNvSpPr>
            <a:spLocks noGrp="1"/>
          </p:cNvSpPr>
          <p:nvPr/>
        </p:nvSpPr>
        <p:spPr>
          <a:xfrm>
            <a:off x="647700" y="438150"/>
            <a:ext cx="104775" cy="247650"/>
          </a:xfrm>
          <a:prstGeom prst="rect">
            <a:avLst/>
          </a:prstGeom>
          <a:solidFill>
            <a:srgbClr val="FFBF00"/>
          </a:solidFill>
          <a:ln w="0">
            <a:noFill/>
            <a:prstDash val="solid"/>
          </a:ln>
        </p:spPr>
        <p:txBody>
          <a:bodyPr/>
          <a:lstStyle/>
          <a:p>
            <a:endParaRPr lang="en-US"/>
          </a:p>
        </p:txBody>
      </p:sp>
      <p:sp>
        <p:nvSpPr>
          <p:cNvPr id="3" name="text-242">
            <a:extLst>
              <a:ext uri="{FF2B5EF4-FFF2-40B4-BE49-F238E27FC236}">
                <a16:creationId xmlns:a16="http://schemas.microsoft.com/office/drawing/2014/main" id="{40BE4B5A-58DB-4E90-9544-D50174568945}"/>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COMMERCE &amp; GROWTH</a:t>
            </a:r>
          </a:p>
        </p:txBody>
      </p:sp>
      <p:sp>
        <p:nvSpPr>
          <p:cNvPr id="4" name="text-243">
            <a:extLst>
              <a:ext uri="{FF2B5EF4-FFF2-40B4-BE49-F238E27FC236}">
                <a16:creationId xmlns:a16="http://schemas.microsoft.com/office/drawing/2014/main" id="{EEF392E3-BE2D-447C-97E0-130347F058BC}"/>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Q09</a:t>
            </a:r>
          </a:p>
        </p:txBody>
      </p:sp>
      <p:sp>
        <p:nvSpPr>
          <p:cNvPr id="5" name="text-244">
            <a:extLst>
              <a:ext uri="{FF2B5EF4-FFF2-40B4-BE49-F238E27FC236}">
                <a16:creationId xmlns:a16="http://schemas.microsoft.com/office/drawing/2014/main" id="{29341D3D-1F27-4A06-A76E-DC6E39426CFF}"/>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retention capabilities belong in v1?</a:t>
            </a:r>
          </a:p>
        </p:txBody>
      </p:sp>
      <p:sp>
        <p:nvSpPr>
          <p:cNvPr id="6" name="text-245">
            <a:extLst>
              <a:ext uri="{FF2B5EF4-FFF2-40B4-BE49-F238E27FC236}">
                <a16:creationId xmlns:a16="http://schemas.microsoft.com/office/drawing/2014/main" id="{CB157F28-07D0-4221-934C-034B354F0582}"/>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FFBF00"/>
                </a:solidFill>
                <a:latin typeface="Bahnschrift"/>
                <a:ea typeface="Bahnschrift"/>
                <a:cs typeface="Bahnschrift"/>
              </a:defRPr>
            </a:pPr>
            <a:r>
              <a:rPr sz="1050" b="1">
                <a:solidFill>
                  <a:srgbClr val="FFBF00"/>
                </a:solidFill>
                <a:latin typeface="Bahnschrift"/>
                <a:ea typeface="Bahnschrift"/>
                <a:cs typeface="Bahnschrift"/>
              </a:rPr>
              <a:t>SYSTEM IMPACT</a:t>
            </a:r>
          </a:p>
        </p:txBody>
      </p:sp>
      <p:sp>
        <p:nvSpPr>
          <p:cNvPr id="7" name="text-246">
            <a:extLst>
              <a:ext uri="{FF2B5EF4-FFF2-40B4-BE49-F238E27FC236}">
                <a16:creationId xmlns:a16="http://schemas.microsoft.com/office/drawing/2014/main" id="{406EECC5-E5EE-4FCA-99D6-871E7134745C}"/>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post-purchase messaging and customer-account scope.</a:t>
            </a:r>
          </a:p>
        </p:txBody>
      </p:sp>
      <p:sp>
        <p:nvSpPr>
          <p:cNvPr id="8" name="rect-247">
            <a:extLst>
              <a:ext uri="{FF2B5EF4-FFF2-40B4-BE49-F238E27FC236}">
                <a16:creationId xmlns:a16="http://schemas.microsoft.com/office/drawing/2014/main" id="{4668E655-EA67-40DC-8D2E-E58A1E5E23FE}"/>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248">
            <a:extLst>
              <a:ext uri="{FF2B5EF4-FFF2-40B4-BE49-F238E27FC236}">
                <a16:creationId xmlns:a16="http://schemas.microsoft.com/office/drawing/2014/main" id="{0890FC6A-3B4E-4E40-A0AE-84F30FA499C4}"/>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249">
            <a:extLst>
              <a:ext uri="{FF2B5EF4-FFF2-40B4-BE49-F238E27FC236}">
                <a16:creationId xmlns:a16="http://schemas.microsoft.com/office/drawing/2014/main" id="{CD02DBFA-1837-472E-BD8E-7B3DCF6EAACA}"/>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250">
            <a:extLst>
              <a:ext uri="{FF2B5EF4-FFF2-40B4-BE49-F238E27FC236}">
                <a16:creationId xmlns:a16="http://schemas.microsoft.com/office/drawing/2014/main" id="{6B5D5F48-7121-490E-8F67-0B38A75190D4}"/>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Lifecycle essentials plus referrals</a:t>
            </a:r>
          </a:p>
        </p:txBody>
      </p:sp>
      <p:sp>
        <p:nvSpPr>
          <p:cNvPr id="12" name="text-251">
            <a:extLst>
              <a:ext uri="{FF2B5EF4-FFF2-40B4-BE49-F238E27FC236}">
                <a16:creationId xmlns:a16="http://schemas.microsoft.com/office/drawing/2014/main" id="{A953A963-2CF9-4133-8E70-7C667FE944E7}"/>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252">
            <a:extLst>
              <a:ext uri="{FF2B5EF4-FFF2-40B4-BE49-F238E27FC236}">
                <a16:creationId xmlns:a16="http://schemas.microsoft.com/office/drawing/2014/main" id="{155BD714-4C8B-4E0B-84A2-F28B10189F39}"/>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253">
            <a:extLst>
              <a:ext uri="{FF2B5EF4-FFF2-40B4-BE49-F238E27FC236}">
                <a16:creationId xmlns:a16="http://schemas.microsoft.com/office/drawing/2014/main" id="{85D25766-836E-4F95-8F73-F109E81497A0}"/>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254">
            <a:extLst>
              <a:ext uri="{FF2B5EF4-FFF2-40B4-BE49-F238E27FC236}">
                <a16:creationId xmlns:a16="http://schemas.microsoft.com/office/drawing/2014/main" id="{996ACA6D-A080-4F5E-BF4D-FC19F501BA72}"/>
              </a:ext>
            </a:extLst>
          </p:cNvPr>
          <p:cNvSpPr>
            <a:spLocks noGrp="1"/>
          </p:cNvSpPr>
          <p:nvPr/>
        </p:nvSpPr>
        <p:spPr>
          <a:xfrm>
            <a:off x="647700" y="3219450"/>
            <a:ext cx="114300" cy="800100"/>
          </a:xfrm>
          <a:prstGeom prst="rect">
            <a:avLst/>
          </a:prstGeom>
          <a:solidFill>
            <a:srgbClr val="FFBF00"/>
          </a:solidFill>
          <a:ln w="0">
            <a:noFill/>
            <a:prstDash val="solid"/>
          </a:ln>
        </p:spPr>
        <p:txBody>
          <a:bodyPr/>
          <a:lstStyle/>
          <a:p>
            <a:endParaRPr lang="en-US"/>
          </a:p>
        </p:txBody>
      </p:sp>
      <p:sp>
        <p:nvSpPr>
          <p:cNvPr id="16" name="text-255">
            <a:extLst>
              <a:ext uri="{FF2B5EF4-FFF2-40B4-BE49-F238E27FC236}">
                <a16:creationId xmlns:a16="http://schemas.microsoft.com/office/drawing/2014/main" id="{BA7F0726-C843-458C-BEB6-A45FA57528A0}"/>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256">
            <a:extLst>
              <a:ext uri="{FF2B5EF4-FFF2-40B4-BE49-F238E27FC236}">
                <a16:creationId xmlns:a16="http://schemas.microsoft.com/office/drawing/2014/main" id="{028C3827-D235-4843-A7E1-42C475A3514B}"/>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Lifecycle reminders only</a:t>
            </a:r>
          </a:p>
        </p:txBody>
      </p:sp>
      <p:sp>
        <p:nvSpPr>
          <p:cNvPr id="18" name="text-257">
            <a:extLst>
              <a:ext uri="{FF2B5EF4-FFF2-40B4-BE49-F238E27FC236}">
                <a16:creationId xmlns:a16="http://schemas.microsoft.com/office/drawing/2014/main" id="{ED330CF8-1A39-48F8-84DC-0A1025851486}"/>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258">
            <a:extLst>
              <a:ext uri="{FF2B5EF4-FFF2-40B4-BE49-F238E27FC236}">
                <a16:creationId xmlns:a16="http://schemas.microsoft.com/office/drawing/2014/main" id="{77F986A9-BB53-4C3A-A3A7-4B2B5376A4A5}"/>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259">
            <a:extLst>
              <a:ext uri="{FF2B5EF4-FFF2-40B4-BE49-F238E27FC236}">
                <a16:creationId xmlns:a16="http://schemas.microsoft.com/office/drawing/2014/main" id="{87D059BE-8F47-475E-93F3-E8EBB1460CBD}"/>
              </a:ext>
            </a:extLst>
          </p:cNvPr>
          <p:cNvSpPr>
            <a:spLocks noGrp="1"/>
          </p:cNvSpPr>
          <p:nvPr/>
        </p:nvSpPr>
        <p:spPr>
          <a:xfrm>
            <a:off x="647700" y="4171950"/>
            <a:ext cx="114300" cy="800100"/>
          </a:xfrm>
          <a:prstGeom prst="rect">
            <a:avLst/>
          </a:prstGeom>
          <a:solidFill>
            <a:srgbClr val="FFBF00"/>
          </a:solidFill>
          <a:ln w="0">
            <a:noFill/>
            <a:prstDash val="solid"/>
          </a:ln>
        </p:spPr>
        <p:txBody>
          <a:bodyPr/>
          <a:lstStyle/>
          <a:p>
            <a:endParaRPr lang="en-US"/>
          </a:p>
        </p:txBody>
      </p:sp>
      <p:sp>
        <p:nvSpPr>
          <p:cNvPr id="21" name="text-260">
            <a:extLst>
              <a:ext uri="{FF2B5EF4-FFF2-40B4-BE49-F238E27FC236}">
                <a16:creationId xmlns:a16="http://schemas.microsoft.com/office/drawing/2014/main" id="{39C8C43E-525B-4E2C-B1A5-C05054809D34}"/>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261">
            <a:extLst>
              <a:ext uri="{FF2B5EF4-FFF2-40B4-BE49-F238E27FC236}">
                <a16:creationId xmlns:a16="http://schemas.microsoft.com/office/drawing/2014/main" id="{FC312EB0-723C-4DDB-8924-54E17617D400}"/>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Transactional communication only</a:t>
            </a:r>
          </a:p>
        </p:txBody>
      </p:sp>
      <p:sp>
        <p:nvSpPr>
          <p:cNvPr id="23" name="text-262">
            <a:extLst>
              <a:ext uri="{FF2B5EF4-FFF2-40B4-BE49-F238E27FC236}">
                <a16:creationId xmlns:a16="http://schemas.microsoft.com/office/drawing/2014/main" id="{BC0EE06E-21ED-4A96-8C8F-5236CD989E1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263">
            <a:extLst>
              <a:ext uri="{FF2B5EF4-FFF2-40B4-BE49-F238E27FC236}">
                <a16:creationId xmlns:a16="http://schemas.microsoft.com/office/drawing/2014/main" id="{41263C0B-FC36-45DB-8004-9844CAE4C4BF}"/>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264">
            <a:extLst>
              <a:ext uri="{FF2B5EF4-FFF2-40B4-BE49-F238E27FC236}">
                <a16:creationId xmlns:a16="http://schemas.microsoft.com/office/drawing/2014/main" id="{7D6CA0FD-CD63-4EF4-8E2C-7485FD3FA408}"/>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265">
            <a:extLst>
              <a:ext uri="{FF2B5EF4-FFF2-40B4-BE49-F238E27FC236}">
                <a16:creationId xmlns:a16="http://schemas.microsoft.com/office/drawing/2014/main" id="{31B12914-F9A1-4B65-A209-8090AEB3B53D}"/>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266">
            <a:extLst>
              <a:ext uri="{FF2B5EF4-FFF2-40B4-BE49-F238E27FC236}">
                <a16:creationId xmlns:a16="http://schemas.microsoft.com/office/drawing/2014/main" id="{D6AF26BF-E40B-4AFC-B7B1-B0ABFEC792F1}"/>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267">
            <a:extLst>
              <a:ext uri="{FF2B5EF4-FFF2-40B4-BE49-F238E27FC236}">
                <a16:creationId xmlns:a16="http://schemas.microsoft.com/office/drawing/2014/main" id="{21618658-98FC-4E51-8E44-CCCDB200F726}"/>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268">
            <a:extLst>
              <a:ext uri="{FF2B5EF4-FFF2-40B4-BE49-F238E27FC236}">
                <a16:creationId xmlns:a16="http://schemas.microsoft.com/office/drawing/2014/main" id="{25FC2525-16F2-449C-A2F6-7C2516923C82}"/>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COMMERCE &amp; GROWTH</a:t>
            </a:r>
          </a:p>
        </p:txBody>
      </p:sp>
      <p:sp>
        <p:nvSpPr>
          <p:cNvPr id="30" name="text-269">
            <a:extLst>
              <a:ext uri="{FF2B5EF4-FFF2-40B4-BE49-F238E27FC236}">
                <a16:creationId xmlns:a16="http://schemas.microsoft.com/office/drawing/2014/main" id="{F682E60E-DD9F-45AC-95D3-74FB9E32DE48}"/>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Q09 / 49</a:t>
            </a:r>
          </a:p>
        </p:txBody>
      </p:sp>
    </p:spTree>
    <p:extLst>
      <p:ext uri="{BB962C8B-B14F-4D97-AF65-F5344CB8AC3E}">
        <p14:creationId xmlns:p14="http://schemas.microsoft.com/office/powerpoint/2010/main" val="679558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270">
            <a:extLst>
              <a:ext uri="{FF2B5EF4-FFF2-40B4-BE49-F238E27FC236}">
                <a16:creationId xmlns:a16="http://schemas.microsoft.com/office/drawing/2014/main" id="{7EFA5EC3-E0D0-466E-B881-E2EFC86FA3E2}"/>
              </a:ext>
            </a:extLst>
          </p:cNvPr>
          <p:cNvSpPr>
            <a:spLocks noGrp="1"/>
          </p:cNvSpPr>
          <p:nvPr/>
        </p:nvSpPr>
        <p:spPr>
          <a:xfrm>
            <a:off x="647700" y="438150"/>
            <a:ext cx="104775" cy="247650"/>
          </a:xfrm>
          <a:prstGeom prst="rect">
            <a:avLst/>
          </a:prstGeom>
          <a:solidFill>
            <a:srgbClr val="FFBF00"/>
          </a:solidFill>
          <a:ln w="0">
            <a:noFill/>
            <a:prstDash val="solid"/>
          </a:ln>
        </p:spPr>
        <p:txBody>
          <a:bodyPr/>
          <a:lstStyle/>
          <a:p>
            <a:endParaRPr lang="en-US"/>
          </a:p>
        </p:txBody>
      </p:sp>
      <p:sp>
        <p:nvSpPr>
          <p:cNvPr id="3" name="text-271">
            <a:extLst>
              <a:ext uri="{FF2B5EF4-FFF2-40B4-BE49-F238E27FC236}">
                <a16:creationId xmlns:a16="http://schemas.microsoft.com/office/drawing/2014/main" id="{91FB15D4-AFB0-41A9-A884-2554D7925880}"/>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COMMERCE &amp; GROWTH</a:t>
            </a:r>
          </a:p>
        </p:txBody>
      </p:sp>
      <p:sp>
        <p:nvSpPr>
          <p:cNvPr id="4" name="text-272">
            <a:extLst>
              <a:ext uri="{FF2B5EF4-FFF2-40B4-BE49-F238E27FC236}">
                <a16:creationId xmlns:a16="http://schemas.microsoft.com/office/drawing/2014/main" id="{AAC23022-61F5-4F93-964B-0929D7475F0D}"/>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Q10</a:t>
            </a:r>
          </a:p>
        </p:txBody>
      </p:sp>
      <p:sp>
        <p:nvSpPr>
          <p:cNvPr id="5" name="text-273">
            <a:extLst>
              <a:ext uri="{FF2B5EF4-FFF2-40B4-BE49-F238E27FC236}">
                <a16:creationId xmlns:a16="http://schemas.microsoft.com/office/drawing/2014/main" id="{0248AC89-1D08-461A-9EAE-106EC63A50A3}"/>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When should referral rewards become valid?</a:t>
            </a:r>
          </a:p>
        </p:txBody>
      </p:sp>
      <p:sp>
        <p:nvSpPr>
          <p:cNvPr id="6" name="text-274">
            <a:extLst>
              <a:ext uri="{FF2B5EF4-FFF2-40B4-BE49-F238E27FC236}">
                <a16:creationId xmlns:a16="http://schemas.microsoft.com/office/drawing/2014/main" id="{F41FB525-E255-44C3-A720-949412FB4754}"/>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FFBF00"/>
                </a:solidFill>
                <a:latin typeface="Bahnschrift"/>
                <a:ea typeface="Bahnschrift"/>
                <a:cs typeface="Bahnschrift"/>
              </a:defRPr>
            </a:pPr>
            <a:r>
              <a:rPr sz="1050" b="1">
                <a:solidFill>
                  <a:srgbClr val="FFBF00"/>
                </a:solidFill>
                <a:latin typeface="Bahnschrift"/>
                <a:ea typeface="Bahnschrift"/>
                <a:cs typeface="Bahnschrift"/>
              </a:rPr>
              <a:t>SYSTEM IMPACT</a:t>
            </a:r>
          </a:p>
        </p:txBody>
      </p:sp>
      <p:sp>
        <p:nvSpPr>
          <p:cNvPr id="7" name="text-275">
            <a:extLst>
              <a:ext uri="{FF2B5EF4-FFF2-40B4-BE49-F238E27FC236}">
                <a16:creationId xmlns:a16="http://schemas.microsoft.com/office/drawing/2014/main" id="{1A16BA39-3C17-431B-8E64-841F59672A9C}"/>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fraud exposure, reversals and credit-ledger timing.</a:t>
            </a:r>
          </a:p>
        </p:txBody>
      </p:sp>
      <p:sp>
        <p:nvSpPr>
          <p:cNvPr id="8" name="rect-276">
            <a:extLst>
              <a:ext uri="{FF2B5EF4-FFF2-40B4-BE49-F238E27FC236}">
                <a16:creationId xmlns:a16="http://schemas.microsoft.com/office/drawing/2014/main" id="{6482DF71-A9CE-4579-8A6A-2BE2FD66ED4E}"/>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277">
            <a:extLst>
              <a:ext uri="{FF2B5EF4-FFF2-40B4-BE49-F238E27FC236}">
                <a16:creationId xmlns:a16="http://schemas.microsoft.com/office/drawing/2014/main" id="{61D01F90-401A-486E-A348-29917B1FB73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278">
            <a:extLst>
              <a:ext uri="{FF2B5EF4-FFF2-40B4-BE49-F238E27FC236}">
                <a16:creationId xmlns:a16="http://schemas.microsoft.com/office/drawing/2014/main" id="{96A051A6-C788-415C-9BEB-0778B3EB72CD}"/>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279">
            <a:extLst>
              <a:ext uri="{FF2B5EF4-FFF2-40B4-BE49-F238E27FC236}">
                <a16:creationId xmlns:a16="http://schemas.microsoft.com/office/drawing/2014/main" id="{6BB419F6-4F08-4016-9957-4CFCA9999813}"/>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After delivery and the fraud/return window</a:t>
            </a:r>
          </a:p>
        </p:txBody>
      </p:sp>
      <p:sp>
        <p:nvSpPr>
          <p:cNvPr id="12" name="text-280">
            <a:extLst>
              <a:ext uri="{FF2B5EF4-FFF2-40B4-BE49-F238E27FC236}">
                <a16:creationId xmlns:a16="http://schemas.microsoft.com/office/drawing/2014/main" id="{28029A7B-2EB5-47DD-A577-7DB21669EA1D}"/>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281">
            <a:extLst>
              <a:ext uri="{FF2B5EF4-FFF2-40B4-BE49-F238E27FC236}">
                <a16:creationId xmlns:a16="http://schemas.microsoft.com/office/drawing/2014/main" id="{710161B3-45E8-4C4E-BB31-E810A377D0C7}"/>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282">
            <a:extLst>
              <a:ext uri="{FF2B5EF4-FFF2-40B4-BE49-F238E27FC236}">
                <a16:creationId xmlns:a16="http://schemas.microsoft.com/office/drawing/2014/main" id="{60CFA946-090B-4D42-B010-E0699BE6B571}"/>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283">
            <a:extLst>
              <a:ext uri="{FF2B5EF4-FFF2-40B4-BE49-F238E27FC236}">
                <a16:creationId xmlns:a16="http://schemas.microsoft.com/office/drawing/2014/main" id="{CEEA2B16-5879-4B03-8255-BEB4DB6E8643}"/>
              </a:ext>
            </a:extLst>
          </p:cNvPr>
          <p:cNvSpPr>
            <a:spLocks noGrp="1"/>
          </p:cNvSpPr>
          <p:nvPr/>
        </p:nvSpPr>
        <p:spPr>
          <a:xfrm>
            <a:off x="647700" y="3219450"/>
            <a:ext cx="114300" cy="800100"/>
          </a:xfrm>
          <a:prstGeom prst="rect">
            <a:avLst/>
          </a:prstGeom>
          <a:solidFill>
            <a:srgbClr val="FFBF00"/>
          </a:solidFill>
          <a:ln w="0">
            <a:noFill/>
            <a:prstDash val="solid"/>
          </a:ln>
        </p:spPr>
        <p:txBody>
          <a:bodyPr/>
          <a:lstStyle/>
          <a:p>
            <a:endParaRPr lang="en-US"/>
          </a:p>
        </p:txBody>
      </p:sp>
      <p:sp>
        <p:nvSpPr>
          <p:cNvPr id="16" name="text-284">
            <a:extLst>
              <a:ext uri="{FF2B5EF4-FFF2-40B4-BE49-F238E27FC236}">
                <a16:creationId xmlns:a16="http://schemas.microsoft.com/office/drawing/2014/main" id="{8820F30B-20B6-4F4F-B4E4-FE7AA756186C}"/>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285">
            <a:extLst>
              <a:ext uri="{FF2B5EF4-FFF2-40B4-BE49-F238E27FC236}">
                <a16:creationId xmlns:a16="http://schemas.microsoft.com/office/drawing/2014/main" id="{4607604F-4F0A-4554-B265-ADB687F9F72E}"/>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Immediately when the referred order is placed</a:t>
            </a:r>
          </a:p>
        </p:txBody>
      </p:sp>
      <p:sp>
        <p:nvSpPr>
          <p:cNvPr id="18" name="text-286">
            <a:extLst>
              <a:ext uri="{FF2B5EF4-FFF2-40B4-BE49-F238E27FC236}">
                <a16:creationId xmlns:a16="http://schemas.microsoft.com/office/drawing/2014/main" id="{114D5D4D-C93E-41F0-9029-E38CD63A63C0}"/>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287">
            <a:extLst>
              <a:ext uri="{FF2B5EF4-FFF2-40B4-BE49-F238E27FC236}">
                <a16:creationId xmlns:a16="http://schemas.microsoft.com/office/drawing/2014/main" id="{DEDE2910-913B-4EAB-A822-BF82409E4D4E}"/>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288">
            <a:extLst>
              <a:ext uri="{FF2B5EF4-FFF2-40B4-BE49-F238E27FC236}">
                <a16:creationId xmlns:a16="http://schemas.microsoft.com/office/drawing/2014/main" id="{43152808-EB30-4034-B860-E2F9BDE1ED90}"/>
              </a:ext>
            </a:extLst>
          </p:cNvPr>
          <p:cNvSpPr>
            <a:spLocks noGrp="1"/>
          </p:cNvSpPr>
          <p:nvPr/>
        </p:nvSpPr>
        <p:spPr>
          <a:xfrm>
            <a:off x="647700" y="4171950"/>
            <a:ext cx="114300" cy="800100"/>
          </a:xfrm>
          <a:prstGeom prst="rect">
            <a:avLst/>
          </a:prstGeom>
          <a:solidFill>
            <a:srgbClr val="FFBF00"/>
          </a:solidFill>
          <a:ln w="0">
            <a:noFill/>
            <a:prstDash val="solid"/>
          </a:ln>
        </p:spPr>
        <p:txBody>
          <a:bodyPr/>
          <a:lstStyle/>
          <a:p>
            <a:endParaRPr lang="en-US"/>
          </a:p>
        </p:txBody>
      </p:sp>
      <p:sp>
        <p:nvSpPr>
          <p:cNvPr id="21" name="text-289">
            <a:extLst>
              <a:ext uri="{FF2B5EF4-FFF2-40B4-BE49-F238E27FC236}">
                <a16:creationId xmlns:a16="http://schemas.microsoft.com/office/drawing/2014/main" id="{696F68AC-7272-4E8B-8A9F-5DD2FDD6EF70}"/>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290">
            <a:extLst>
              <a:ext uri="{FF2B5EF4-FFF2-40B4-BE49-F238E27FC236}">
                <a16:creationId xmlns:a16="http://schemas.microsoft.com/office/drawing/2014/main" id="{3F265FBF-80D3-4024-88C3-E0BD5AF3429B}"/>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Cash payout after purchase</a:t>
            </a:r>
          </a:p>
        </p:txBody>
      </p:sp>
      <p:sp>
        <p:nvSpPr>
          <p:cNvPr id="23" name="text-291">
            <a:extLst>
              <a:ext uri="{FF2B5EF4-FFF2-40B4-BE49-F238E27FC236}">
                <a16:creationId xmlns:a16="http://schemas.microsoft.com/office/drawing/2014/main" id="{17AF6C57-4CEC-4155-B187-EAFAAA4D7635}"/>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292">
            <a:extLst>
              <a:ext uri="{FF2B5EF4-FFF2-40B4-BE49-F238E27FC236}">
                <a16:creationId xmlns:a16="http://schemas.microsoft.com/office/drawing/2014/main" id="{E1100341-520F-4108-863F-80D168C923C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293">
            <a:extLst>
              <a:ext uri="{FF2B5EF4-FFF2-40B4-BE49-F238E27FC236}">
                <a16:creationId xmlns:a16="http://schemas.microsoft.com/office/drawing/2014/main" id="{FF263E1C-EA8A-4E50-B6D2-9747730CDEBB}"/>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294">
            <a:extLst>
              <a:ext uri="{FF2B5EF4-FFF2-40B4-BE49-F238E27FC236}">
                <a16:creationId xmlns:a16="http://schemas.microsoft.com/office/drawing/2014/main" id="{1A7A42AD-E960-4E33-B3D6-991E5C3EDFAC}"/>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295">
            <a:extLst>
              <a:ext uri="{FF2B5EF4-FFF2-40B4-BE49-F238E27FC236}">
                <a16:creationId xmlns:a16="http://schemas.microsoft.com/office/drawing/2014/main" id="{1AB49B80-8EA6-4119-9C15-0C8AF9A8ECF0}"/>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296">
            <a:extLst>
              <a:ext uri="{FF2B5EF4-FFF2-40B4-BE49-F238E27FC236}">
                <a16:creationId xmlns:a16="http://schemas.microsoft.com/office/drawing/2014/main" id="{EB3D981F-9C41-4F25-BCCD-C42BBE93AD6F}"/>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297">
            <a:extLst>
              <a:ext uri="{FF2B5EF4-FFF2-40B4-BE49-F238E27FC236}">
                <a16:creationId xmlns:a16="http://schemas.microsoft.com/office/drawing/2014/main" id="{DBE7A045-AD3E-4E07-B113-66D2714993D0}"/>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COMMERCE &amp; GROWTH</a:t>
            </a:r>
          </a:p>
        </p:txBody>
      </p:sp>
      <p:sp>
        <p:nvSpPr>
          <p:cNvPr id="30" name="text-298">
            <a:extLst>
              <a:ext uri="{FF2B5EF4-FFF2-40B4-BE49-F238E27FC236}">
                <a16:creationId xmlns:a16="http://schemas.microsoft.com/office/drawing/2014/main" id="{DB07C731-7AD4-416A-9098-97CD7BDEA671}"/>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Q10 / 49</a:t>
            </a:r>
          </a:p>
        </p:txBody>
      </p:sp>
    </p:spTree>
    <p:extLst>
      <p:ext uri="{BB962C8B-B14F-4D97-AF65-F5344CB8AC3E}">
        <p14:creationId xmlns:p14="http://schemas.microsoft.com/office/powerpoint/2010/main" val="1696450652"/>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299">
            <a:extLst>
              <a:ext uri="{FF2B5EF4-FFF2-40B4-BE49-F238E27FC236}">
                <a16:creationId xmlns:a16="http://schemas.microsoft.com/office/drawing/2014/main" id="{46545E19-7264-4C15-8A1F-D393F5EC086C}"/>
              </a:ext>
            </a:extLst>
          </p:cNvPr>
          <p:cNvSpPr>
            <a:spLocks noGrp="1"/>
          </p:cNvSpPr>
          <p:nvPr/>
        </p:nvSpPr>
        <p:spPr>
          <a:xfrm>
            <a:off x="647700" y="438150"/>
            <a:ext cx="104775" cy="247650"/>
          </a:xfrm>
          <a:prstGeom prst="rect">
            <a:avLst/>
          </a:prstGeom>
          <a:solidFill>
            <a:srgbClr val="FFBF00"/>
          </a:solidFill>
          <a:ln w="0">
            <a:noFill/>
            <a:prstDash val="solid"/>
          </a:ln>
        </p:spPr>
        <p:txBody>
          <a:bodyPr/>
          <a:lstStyle/>
          <a:p>
            <a:endParaRPr lang="en-US"/>
          </a:p>
        </p:txBody>
      </p:sp>
      <p:sp>
        <p:nvSpPr>
          <p:cNvPr id="3" name="text-300">
            <a:extLst>
              <a:ext uri="{FF2B5EF4-FFF2-40B4-BE49-F238E27FC236}">
                <a16:creationId xmlns:a16="http://schemas.microsoft.com/office/drawing/2014/main" id="{97AF8123-A343-44BD-BC50-FD616734004A}"/>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COMMERCE &amp; GROWTH</a:t>
            </a:r>
          </a:p>
        </p:txBody>
      </p:sp>
      <p:sp>
        <p:nvSpPr>
          <p:cNvPr id="4" name="text-301">
            <a:extLst>
              <a:ext uri="{FF2B5EF4-FFF2-40B4-BE49-F238E27FC236}">
                <a16:creationId xmlns:a16="http://schemas.microsoft.com/office/drawing/2014/main" id="{4A7CC54A-60F5-4A46-9F97-0B4FC0C577AF}"/>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Q11</a:t>
            </a:r>
          </a:p>
        </p:txBody>
      </p:sp>
      <p:sp>
        <p:nvSpPr>
          <p:cNvPr id="5" name="text-302">
            <a:extLst>
              <a:ext uri="{FF2B5EF4-FFF2-40B4-BE49-F238E27FC236}">
                <a16:creationId xmlns:a16="http://schemas.microsoft.com/office/drawing/2014/main" id="{66CF02DE-635F-48FD-87CA-9F7A261FF4C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Who may submit a product review?</a:t>
            </a:r>
          </a:p>
        </p:txBody>
      </p:sp>
      <p:sp>
        <p:nvSpPr>
          <p:cNvPr id="6" name="text-303">
            <a:extLst>
              <a:ext uri="{FF2B5EF4-FFF2-40B4-BE49-F238E27FC236}">
                <a16:creationId xmlns:a16="http://schemas.microsoft.com/office/drawing/2014/main" id="{CB389C4C-843A-4A3F-A6AE-219DA86B65A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FFBF00"/>
                </a:solidFill>
                <a:latin typeface="Bahnschrift"/>
                <a:ea typeface="Bahnschrift"/>
                <a:cs typeface="Bahnschrift"/>
              </a:defRPr>
            </a:pPr>
            <a:r>
              <a:rPr sz="1050" b="1">
                <a:solidFill>
                  <a:srgbClr val="FFBF00"/>
                </a:solidFill>
                <a:latin typeface="Bahnschrift"/>
                <a:ea typeface="Bahnschrift"/>
                <a:cs typeface="Bahnschrift"/>
              </a:rPr>
              <a:t>SYSTEM IMPACT</a:t>
            </a:r>
          </a:p>
        </p:txBody>
      </p:sp>
      <p:sp>
        <p:nvSpPr>
          <p:cNvPr id="7" name="text-304">
            <a:extLst>
              <a:ext uri="{FF2B5EF4-FFF2-40B4-BE49-F238E27FC236}">
                <a16:creationId xmlns:a16="http://schemas.microsoft.com/office/drawing/2014/main" id="{53BAB71B-27FD-4055-A79A-AAD9269B6023}"/>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review authenticity, moderation and order linkage.</a:t>
            </a:r>
          </a:p>
        </p:txBody>
      </p:sp>
      <p:sp>
        <p:nvSpPr>
          <p:cNvPr id="8" name="rect-305">
            <a:extLst>
              <a:ext uri="{FF2B5EF4-FFF2-40B4-BE49-F238E27FC236}">
                <a16:creationId xmlns:a16="http://schemas.microsoft.com/office/drawing/2014/main" id="{04878A8C-38BE-4254-87E2-9CD19A75D5AF}"/>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306">
            <a:extLst>
              <a:ext uri="{FF2B5EF4-FFF2-40B4-BE49-F238E27FC236}">
                <a16:creationId xmlns:a16="http://schemas.microsoft.com/office/drawing/2014/main" id="{A28ED412-F8D6-4AD8-82F4-4E2750197C53}"/>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307">
            <a:extLst>
              <a:ext uri="{FF2B5EF4-FFF2-40B4-BE49-F238E27FC236}">
                <a16:creationId xmlns:a16="http://schemas.microsoft.com/office/drawing/2014/main" id="{C8A041F3-D084-44AB-B779-66122DCFACF6}"/>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308">
            <a:extLst>
              <a:ext uri="{FF2B5EF4-FFF2-40B4-BE49-F238E27FC236}">
                <a16:creationId xmlns:a16="http://schemas.microsoft.com/office/drawing/2014/main" id="{5E25D4CA-A068-4AE9-BB94-AECF19559E70}"/>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Verified buyers with delivered orders</a:t>
            </a:r>
          </a:p>
        </p:txBody>
      </p:sp>
      <p:sp>
        <p:nvSpPr>
          <p:cNvPr id="12" name="text-309">
            <a:extLst>
              <a:ext uri="{FF2B5EF4-FFF2-40B4-BE49-F238E27FC236}">
                <a16:creationId xmlns:a16="http://schemas.microsoft.com/office/drawing/2014/main" id="{F47FAE04-F514-4BA4-BA4A-0BFE8ABD0EF0}"/>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310">
            <a:extLst>
              <a:ext uri="{FF2B5EF4-FFF2-40B4-BE49-F238E27FC236}">
                <a16:creationId xmlns:a16="http://schemas.microsoft.com/office/drawing/2014/main" id="{F5020675-316D-497B-B521-60E7EAB5EFC3}"/>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311">
            <a:extLst>
              <a:ext uri="{FF2B5EF4-FFF2-40B4-BE49-F238E27FC236}">
                <a16:creationId xmlns:a16="http://schemas.microsoft.com/office/drawing/2014/main" id="{AE815C69-9E9F-4D66-9B00-3C60EFF80F45}"/>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312">
            <a:extLst>
              <a:ext uri="{FF2B5EF4-FFF2-40B4-BE49-F238E27FC236}">
                <a16:creationId xmlns:a16="http://schemas.microsoft.com/office/drawing/2014/main" id="{BFFF9A85-EDA8-4BA9-A58A-1CF5C56C5576}"/>
              </a:ext>
            </a:extLst>
          </p:cNvPr>
          <p:cNvSpPr>
            <a:spLocks noGrp="1"/>
          </p:cNvSpPr>
          <p:nvPr/>
        </p:nvSpPr>
        <p:spPr>
          <a:xfrm>
            <a:off x="647700" y="3219450"/>
            <a:ext cx="114300" cy="800100"/>
          </a:xfrm>
          <a:prstGeom prst="rect">
            <a:avLst/>
          </a:prstGeom>
          <a:solidFill>
            <a:srgbClr val="FFBF00"/>
          </a:solidFill>
          <a:ln w="0">
            <a:noFill/>
            <a:prstDash val="solid"/>
          </a:ln>
        </p:spPr>
        <p:txBody>
          <a:bodyPr/>
          <a:lstStyle/>
          <a:p>
            <a:endParaRPr lang="en-US"/>
          </a:p>
        </p:txBody>
      </p:sp>
      <p:sp>
        <p:nvSpPr>
          <p:cNvPr id="16" name="text-313">
            <a:extLst>
              <a:ext uri="{FF2B5EF4-FFF2-40B4-BE49-F238E27FC236}">
                <a16:creationId xmlns:a16="http://schemas.microsoft.com/office/drawing/2014/main" id="{D79B2CAD-EA82-41CF-847C-E94447FD4C89}"/>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314">
            <a:extLst>
              <a:ext uri="{FF2B5EF4-FFF2-40B4-BE49-F238E27FC236}">
                <a16:creationId xmlns:a16="http://schemas.microsoft.com/office/drawing/2014/main" id="{73CA322D-C5BF-47C8-856F-E0692999E0D4}"/>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Any visitor through a third-party widget</a:t>
            </a:r>
          </a:p>
        </p:txBody>
      </p:sp>
      <p:sp>
        <p:nvSpPr>
          <p:cNvPr id="18" name="text-315">
            <a:extLst>
              <a:ext uri="{FF2B5EF4-FFF2-40B4-BE49-F238E27FC236}">
                <a16:creationId xmlns:a16="http://schemas.microsoft.com/office/drawing/2014/main" id="{5B751D30-7482-47C4-BC6B-FC1149D2A9EE}"/>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316">
            <a:extLst>
              <a:ext uri="{FF2B5EF4-FFF2-40B4-BE49-F238E27FC236}">
                <a16:creationId xmlns:a16="http://schemas.microsoft.com/office/drawing/2014/main" id="{1938E4CC-3E5D-42A8-A1DE-960EAFC57ADD}"/>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317">
            <a:extLst>
              <a:ext uri="{FF2B5EF4-FFF2-40B4-BE49-F238E27FC236}">
                <a16:creationId xmlns:a16="http://schemas.microsoft.com/office/drawing/2014/main" id="{5F37FC17-A2EB-47F4-8A2C-7CEC444B6D0D}"/>
              </a:ext>
            </a:extLst>
          </p:cNvPr>
          <p:cNvSpPr>
            <a:spLocks noGrp="1"/>
          </p:cNvSpPr>
          <p:nvPr/>
        </p:nvSpPr>
        <p:spPr>
          <a:xfrm>
            <a:off x="647700" y="4171950"/>
            <a:ext cx="114300" cy="800100"/>
          </a:xfrm>
          <a:prstGeom prst="rect">
            <a:avLst/>
          </a:prstGeom>
          <a:solidFill>
            <a:srgbClr val="FFBF00"/>
          </a:solidFill>
          <a:ln w="0">
            <a:noFill/>
            <a:prstDash val="solid"/>
          </a:ln>
        </p:spPr>
        <p:txBody>
          <a:bodyPr/>
          <a:lstStyle/>
          <a:p>
            <a:endParaRPr lang="en-US"/>
          </a:p>
        </p:txBody>
      </p:sp>
      <p:sp>
        <p:nvSpPr>
          <p:cNvPr id="21" name="text-318">
            <a:extLst>
              <a:ext uri="{FF2B5EF4-FFF2-40B4-BE49-F238E27FC236}">
                <a16:creationId xmlns:a16="http://schemas.microsoft.com/office/drawing/2014/main" id="{63836ACC-2E22-40B7-AD63-D39EF6897EBD}"/>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319">
            <a:extLst>
              <a:ext uri="{FF2B5EF4-FFF2-40B4-BE49-F238E27FC236}">
                <a16:creationId xmlns:a16="http://schemas.microsoft.com/office/drawing/2014/main" id="{097BA1A7-CEB6-45BD-B171-3F38D961A9A8}"/>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Defer reviews beyond v1</a:t>
            </a:r>
          </a:p>
        </p:txBody>
      </p:sp>
      <p:sp>
        <p:nvSpPr>
          <p:cNvPr id="23" name="text-320">
            <a:extLst>
              <a:ext uri="{FF2B5EF4-FFF2-40B4-BE49-F238E27FC236}">
                <a16:creationId xmlns:a16="http://schemas.microsoft.com/office/drawing/2014/main" id="{8655EE84-7C2F-478C-8E50-D2279763CF87}"/>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321">
            <a:extLst>
              <a:ext uri="{FF2B5EF4-FFF2-40B4-BE49-F238E27FC236}">
                <a16:creationId xmlns:a16="http://schemas.microsoft.com/office/drawing/2014/main" id="{9020BAEB-DAAE-4227-8840-12386E9FB5B9}"/>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322">
            <a:extLst>
              <a:ext uri="{FF2B5EF4-FFF2-40B4-BE49-F238E27FC236}">
                <a16:creationId xmlns:a16="http://schemas.microsoft.com/office/drawing/2014/main" id="{F194274B-F742-49C5-9A7C-DFBD63E94856}"/>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323">
            <a:extLst>
              <a:ext uri="{FF2B5EF4-FFF2-40B4-BE49-F238E27FC236}">
                <a16:creationId xmlns:a16="http://schemas.microsoft.com/office/drawing/2014/main" id="{3B3C0E43-9864-48FD-834D-DF85BA7B6C6E}"/>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324">
            <a:extLst>
              <a:ext uri="{FF2B5EF4-FFF2-40B4-BE49-F238E27FC236}">
                <a16:creationId xmlns:a16="http://schemas.microsoft.com/office/drawing/2014/main" id="{D1193714-896E-4E69-A918-E02F83774D32}"/>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325">
            <a:extLst>
              <a:ext uri="{FF2B5EF4-FFF2-40B4-BE49-F238E27FC236}">
                <a16:creationId xmlns:a16="http://schemas.microsoft.com/office/drawing/2014/main" id="{829C42E6-23E2-43E4-BB5A-411E2F07469C}"/>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326">
            <a:extLst>
              <a:ext uri="{FF2B5EF4-FFF2-40B4-BE49-F238E27FC236}">
                <a16:creationId xmlns:a16="http://schemas.microsoft.com/office/drawing/2014/main" id="{6CF9F5BB-7FC9-4D14-BB8E-7E1B3B6D25B0}"/>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COMMERCE &amp; GROWTH</a:t>
            </a:r>
          </a:p>
        </p:txBody>
      </p:sp>
      <p:sp>
        <p:nvSpPr>
          <p:cNvPr id="30" name="text-327">
            <a:extLst>
              <a:ext uri="{FF2B5EF4-FFF2-40B4-BE49-F238E27FC236}">
                <a16:creationId xmlns:a16="http://schemas.microsoft.com/office/drawing/2014/main" id="{2BDCB872-DED8-471C-85B8-3C6AE35A9496}"/>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Q11 / 49</a:t>
            </a:r>
          </a:p>
        </p:txBody>
      </p:sp>
    </p:spTree>
    <p:extLst>
      <p:ext uri="{BB962C8B-B14F-4D97-AF65-F5344CB8AC3E}">
        <p14:creationId xmlns:p14="http://schemas.microsoft.com/office/powerpoint/2010/main" val="1733505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328">
            <a:extLst>
              <a:ext uri="{FF2B5EF4-FFF2-40B4-BE49-F238E27FC236}">
                <a16:creationId xmlns:a16="http://schemas.microsoft.com/office/drawing/2014/main" id="{C52154B9-800F-4F3C-B6B2-33657F53E915}"/>
              </a:ext>
            </a:extLst>
          </p:cNvPr>
          <p:cNvSpPr>
            <a:spLocks noGrp="1"/>
          </p:cNvSpPr>
          <p:nvPr/>
        </p:nvSpPr>
        <p:spPr>
          <a:xfrm>
            <a:off x="647700" y="438150"/>
            <a:ext cx="104775" cy="247650"/>
          </a:xfrm>
          <a:prstGeom prst="rect">
            <a:avLst/>
          </a:prstGeom>
          <a:solidFill>
            <a:srgbClr val="465665"/>
          </a:solidFill>
          <a:ln w="0">
            <a:noFill/>
            <a:prstDash val="solid"/>
          </a:ln>
        </p:spPr>
        <p:txBody>
          <a:bodyPr/>
          <a:lstStyle/>
          <a:p>
            <a:endParaRPr lang="en-US"/>
          </a:p>
        </p:txBody>
      </p:sp>
      <p:sp>
        <p:nvSpPr>
          <p:cNvPr id="3" name="text-329">
            <a:extLst>
              <a:ext uri="{FF2B5EF4-FFF2-40B4-BE49-F238E27FC236}">
                <a16:creationId xmlns:a16="http://schemas.microsoft.com/office/drawing/2014/main" id="{6E1D0632-BBF2-493D-9E70-D6E3A8D0B072}"/>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CHECKOUT &amp; IDENTITY</a:t>
            </a:r>
          </a:p>
        </p:txBody>
      </p:sp>
      <p:sp>
        <p:nvSpPr>
          <p:cNvPr id="4" name="text-330">
            <a:extLst>
              <a:ext uri="{FF2B5EF4-FFF2-40B4-BE49-F238E27FC236}">
                <a16:creationId xmlns:a16="http://schemas.microsoft.com/office/drawing/2014/main" id="{C3CD8864-6A40-41F0-98D3-B017A2DFC824}"/>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Q12</a:t>
            </a:r>
          </a:p>
        </p:txBody>
      </p:sp>
      <p:sp>
        <p:nvSpPr>
          <p:cNvPr id="5" name="text-331">
            <a:extLst>
              <a:ext uri="{FF2B5EF4-FFF2-40B4-BE49-F238E27FC236}">
                <a16:creationId xmlns:a16="http://schemas.microsoft.com/office/drawing/2014/main" id="{0A8A023C-EA5C-4BBD-AE4B-F4CC10A9E8D3}"/>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Should checkout require an account?</a:t>
            </a:r>
          </a:p>
        </p:txBody>
      </p:sp>
      <p:sp>
        <p:nvSpPr>
          <p:cNvPr id="6" name="text-332">
            <a:extLst>
              <a:ext uri="{FF2B5EF4-FFF2-40B4-BE49-F238E27FC236}">
                <a16:creationId xmlns:a16="http://schemas.microsoft.com/office/drawing/2014/main" id="{B8637F2C-3C09-4450-BF18-0D8DA5A9F9A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465665"/>
                </a:solidFill>
                <a:latin typeface="Bahnschrift"/>
                <a:ea typeface="Bahnschrift"/>
                <a:cs typeface="Bahnschrift"/>
              </a:defRPr>
            </a:pPr>
            <a:r>
              <a:rPr sz="1050" b="1">
                <a:solidFill>
                  <a:srgbClr val="465665"/>
                </a:solidFill>
                <a:latin typeface="Bahnschrift"/>
                <a:ea typeface="Bahnschrift"/>
                <a:cs typeface="Bahnschrift"/>
              </a:rPr>
              <a:t>SYSTEM IMPACT</a:t>
            </a:r>
          </a:p>
        </p:txBody>
      </p:sp>
      <p:sp>
        <p:nvSpPr>
          <p:cNvPr id="7" name="text-333">
            <a:extLst>
              <a:ext uri="{FF2B5EF4-FFF2-40B4-BE49-F238E27FC236}">
                <a16:creationId xmlns:a16="http://schemas.microsoft.com/office/drawing/2014/main" id="{75E25797-6C30-4CD7-92E4-55AC0F75C11F}"/>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Directly affects conversion friction and identity architecture.</a:t>
            </a:r>
          </a:p>
        </p:txBody>
      </p:sp>
      <p:sp>
        <p:nvSpPr>
          <p:cNvPr id="8" name="rect-334">
            <a:extLst>
              <a:ext uri="{FF2B5EF4-FFF2-40B4-BE49-F238E27FC236}">
                <a16:creationId xmlns:a16="http://schemas.microsoft.com/office/drawing/2014/main" id="{53E04809-F9DA-45E8-8198-5233C806E841}"/>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335">
            <a:extLst>
              <a:ext uri="{FF2B5EF4-FFF2-40B4-BE49-F238E27FC236}">
                <a16:creationId xmlns:a16="http://schemas.microsoft.com/office/drawing/2014/main" id="{5073C500-6B29-4118-AC16-5033D826AB70}"/>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336">
            <a:extLst>
              <a:ext uri="{FF2B5EF4-FFF2-40B4-BE49-F238E27FC236}">
                <a16:creationId xmlns:a16="http://schemas.microsoft.com/office/drawing/2014/main" id="{4BFEAF9B-4CD4-481A-82E5-317A89A89B3B}"/>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337">
            <a:extLst>
              <a:ext uri="{FF2B5EF4-FFF2-40B4-BE49-F238E27FC236}">
                <a16:creationId xmlns:a16="http://schemas.microsoft.com/office/drawing/2014/main" id="{27E4CCF3-BAAE-4BA7-A099-25776709AC31}"/>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No; use guest-first checkout</a:t>
            </a:r>
          </a:p>
        </p:txBody>
      </p:sp>
      <p:sp>
        <p:nvSpPr>
          <p:cNvPr id="12" name="text-338">
            <a:extLst>
              <a:ext uri="{FF2B5EF4-FFF2-40B4-BE49-F238E27FC236}">
                <a16:creationId xmlns:a16="http://schemas.microsoft.com/office/drawing/2014/main" id="{051EFAF7-F0E8-4C8E-81CB-69A108101F96}"/>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339">
            <a:extLst>
              <a:ext uri="{FF2B5EF4-FFF2-40B4-BE49-F238E27FC236}">
                <a16:creationId xmlns:a16="http://schemas.microsoft.com/office/drawing/2014/main" id="{95C9FB59-8942-417E-9D0F-A84FDD1093BC}"/>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340">
            <a:extLst>
              <a:ext uri="{FF2B5EF4-FFF2-40B4-BE49-F238E27FC236}">
                <a16:creationId xmlns:a16="http://schemas.microsoft.com/office/drawing/2014/main" id="{738CF387-795D-44DC-A93C-440593B9F059}"/>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341">
            <a:extLst>
              <a:ext uri="{FF2B5EF4-FFF2-40B4-BE49-F238E27FC236}">
                <a16:creationId xmlns:a16="http://schemas.microsoft.com/office/drawing/2014/main" id="{F7B72EB6-492B-44BF-B87C-732E92216024}"/>
              </a:ext>
            </a:extLst>
          </p:cNvPr>
          <p:cNvSpPr>
            <a:spLocks noGrp="1"/>
          </p:cNvSpPr>
          <p:nvPr/>
        </p:nvSpPr>
        <p:spPr>
          <a:xfrm>
            <a:off x="647700" y="3219450"/>
            <a:ext cx="114300" cy="800100"/>
          </a:xfrm>
          <a:prstGeom prst="rect">
            <a:avLst/>
          </a:prstGeom>
          <a:solidFill>
            <a:srgbClr val="465665"/>
          </a:solidFill>
          <a:ln w="0">
            <a:noFill/>
            <a:prstDash val="solid"/>
          </a:ln>
        </p:spPr>
        <p:txBody>
          <a:bodyPr/>
          <a:lstStyle/>
          <a:p>
            <a:endParaRPr lang="en-US"/>
          </a:p>
        </p:txBody>
      </p:sp>
      <p:sp>
        <p:nvSpPr>
          <p:cNvPr id="16" name="text-342">
            <a:extLst>
              <a:ext uri="{FF2B5EF4-FFF2-40B4-BE49-F238E27FC236}">
                <a16:creationId xmlns:a16="http://schemas.microsoft.com/office/drawing/2014/main" id="{071FDBAB-C54D-48C8-B53E-A3C8EF968A6F}"/>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343">
            <a:extLst>
              <a:ext uri="{FF2B5EF4-FFF2-40B4-BE49-F238E27FC236}">
                <a16:creationId xmlns:a16="http://schemas.microsoft.com/office/drawing/2014/main" id="{93DF4C95-D0D1-40A7-BDE4-B977E44757B2}"/>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Require a mobile OTP account</a:t>
            </a:r>
          </a:p>
        </p:txBody>
      </p:sp>
      <p:sp>
        <p:nvSpPr>
          <p:cNvPr id="18" name="text-344">
            <a:extLst>
              <a:ext uri="{FF2B5EF4-FFF2-40B4-BE49-F238E27FC236}">
                <a16:creationId xmlns:a16="http://schemas.microsoft.com/office/drawing/2014/main" id="{E7315386-B47B-408E-8B5C-D2C1408D3E5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345">
            <a:extLst>
              <a:ext uri="{FF2B5EF4-FFF2-40B4-BE49-F238E27FC236}">
                <a16:creationId xmlns:a16="http://schemas.microsoft.com/office/drawing/2014/main" id="{BA5C5202-2D6F-4AC0-853C-7BE9F5621FD5}"/>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346">
            <a:extLst>
              <a:ext uri="{FF2B5EF4-FFF2-40B4-BE49-F238E27FC236}">
                <a16:creationId xmlns:a16="http://schemas.microsoft.com/office/drawing/2014/main" id="{0B7E8711-2854-495B-92E3-EA74CD30BBDE}"/>
              </a:ext>
            </a:extLst>
          </p:cNvPr>
          <p:cNvSpPr>
            <a:spLocks noGrp="1"/>
          </p:cNvSpPr>
          <p:nvPr/>
        </p:nvSpPr>
        <p:spPr>
          <a:xfrm>
            <a:off x="647700" y="4171950"/>
            <a:ext cx="114300" cy="800100"/>
          </a:xfrm>
          <a:prstGeom prst="rect">
            <a:avLst/>
          </a:prstGeom>
          <a:solidFill>
            <a:srgbClr val="465665"/>
          </a:solidFill>
          <a:ln w="0">
            <a:noFill/>
            <a:prstDash val="solid"/>
          </a:ln>
        </p:spPr>
        <p:txBody>
          <a:bodyPr/>
          <a:lstStyle/>
          <a:p>
            <a:endParaRPr lang="en-US"/>
          </a:p>
        </p:txBody>
      </p:sp>
      <p:sp>
        <p:nvSpPr>
          <p:cNvPr id="21" name="text-347">
            <a:extLst>
              <a:ext uri="{FF2B5EF4-FFF2-40B4-BE49-F238E27FC236}">
                <a16:creationId xmlns:a16="http://schemas.microsoft.com/office/drawing/2014/main" id="{B0635BE3-BC5C-4301-A636-C5C2EF76B27C}"/>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348">
            <a:extLst>
              <a:ext uri="{FF2B5EF4-FFF2-40B4-BE49-F238E27FC236}">
                <a16:creationId xmlns:a16="http://schemas.microsoft.com/office/drawing/2014/main" id="{F4E93722-1102-4D29-802A-BDB69AD0107D}"/>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Require an email account</a:t>
            </a:r>
          </a:p>
        </p:txBody>
      </p:sp>
      <p:sp>
        <p:nvSpPr>
          <p:cNvPr id="23" name="text-349">
            <a:extLst>
              <a:ext uri="{FF2B5EF4-FFF2-40B4-BE49-F238E27FC236}">
                <a16:creationId xmlns:a16="http://schemas.microsoft.com/office/drawing/2014/main" id="{E2B118AA-D395-4322-8A8B-88600AD81EFA}"/>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350">
            <a:extLst>
              <a:ext uri="{FF2B5EF4-FFF2-40B4-BE49-F238E27FC236}">
                <a16:creationId xmlns:a16="http://schemas.microsoft.com/office/drawing/2014/main" id="{1F5D030B-A5A7-4F4F-B71C-B148F82CA1BB}"/>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351">
            <a:extLst>
              <a:ext uri="{FF2B5EF4-FFF2-40B4-BE49-F238E27FC236}">
                <a16:creationId xmlns:a16="http://schemas.microsoft.com/office/drawing/2014/main" id="{7BF89B55-E2D5-456D-8D0B-E152CD9A66FB}"/>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352">
            <a:extLst>
              <a:ext uri="{FF2B5EF4-FFF2-40B4-BE49-F238E27FC236}">
                <a16:creationId xmlns:a16="http://schemas.microsoft.com/office/drawing/2014/main" id="{276BD519-F58A-48D1-B547-3028CCDEFF87}"/>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353">
            <a:extLst>
              <a:ext uri="{FF2B5EF4-FFF2-40B4-BE49-F238E27FC236}">
                <a16:creationId xmlns:a16="http://schemas.microsoft.com/office/drawing/2014/main" id="{D3CB4EDC-9B73-4AFB-A0BC-BBFEE088792B}"/>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354">
            <a:extLst>
              <a:ext uri="{FF2B5EF4-FFF2-40B4-BE49-F238E27FC236}">
                <a16:creationId xmlns:a16="http://schemas.microsoft.com/office/drawing/2014/main" id="{9E0E1986-C0B4-44F6-AF54-9F686095271E}"/>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355">
            <a:extLst>
              <a:ext uri="{FF2B5EF4-FFF2-40B4-BE49-F238E27FC236}">
                <a16:creationId xmlns:a16="http://schemas.microsoft.com/office/drawing/2014/main" id="{7133BD14-2562-4512-94FD-7A0CE637800F}"/>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CHECKOUT &amp; IDENTITY</a:t>
            </a:r>
          </a:p>
        </p:txBody>
      </p:sp>
      <p:sp>
        <p:nvSpPr>
          <p:cNvPr id="30" name="text-356">
            <a:extLst>
              <a:ext uri="{FF2B5EF4-FFF2-40B4-BE49-F238E27FC236}">
                <a16:creationId xmlns:a16="http://schemas.microsoft.com/office/drawing/2014/main" id="{1B94BF40-916C-4F25-98E3-FF5C6584C7EC}"/>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Q12 / 49</a:t>
            </a:r>
          </a:p>
        </p:txBody>
      </p:sp>
    </p:spTree>
    <p:extLst>
      <p:ext uri="{BB962C8B-B14F-4D97-AF65-F5344CB8AC3E}">
        <p14:creationId xmlns:p14="http://schemas.microsoft.com/office/powerpoint/2010/main" val="792849497"/>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357">
            <a:extLst>
              <a:ext uri="{FF2B5EF4-FFF2-40B4-BE49-F238E27FC236}">
                <a16:creationId xmlns:a16="http://schemas.microsoft.com/office/drawing/2014/main" id="{19DBAA9E-DD02-4B75-AD76-C4D12F3368D8}"/>
              </a:ext>
            </a:extLst>
          </p:cNvPr>
          <p:cNvSpPr>
            <a:spLocks noGrp="1"/>
          </p:cNvSpPr>
          <p:nvPr/>
        </p:nvSpPr>
        <p:spPr>
          <a:xfrm>
            <a:off x="647700" y="438150"/>
            <a:ext cx="104775" cy="247650"/>
          </a:xfrm>
          <a:prstGeom prst="rect">
            <a:avLst/>
          </a:prstGeom>
          <a:solidFill>
            <a:srgbClr val="465665"/>
          </a:solidFill>
          <a:ln w="0">
            <a:noFill/>
            <a:prstDash val="solid"/>
          </a:ln>
        </p:spPr>
        <p:txBody>
          <a:bodyPr/>
          <a:lstStyle/>
          <a:p>
            <a:endParaRPr lang="en-US"/>
          </a:p>
        </p:txBody>
      </p:sp>
      <p:sp>
        <p:nvSpPr>
          <p:cNvPr id="3" name="text-358">
            <a:extLst>
              <a:ext uri="{FF2B5EF4-FFF2-40B4-BE49-F238E27FC236}">
                <a16:creationId xmlns:a16="http://schemas.microsoft.com/office/drawing/2014/main" id="{BA37C6C4-B222-4B04-8FA2-565F9B12F223}"/>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CHECKOUT &amp; IDENTITY</a:t>
            </a:r>
          </a:p>
        </p:txBody>
      </p:sp>
      <p:sp>
        <p:nvSpPr>
          <p:cNvPr id="4" name="text-359">
            <a:extLst>
              <a:ext uri="{FF2B5EF4-FFF2-40B4-BE49-F238E27FC236}">
                <a16:creationId xmlns:a16="http://schemas.microsoft.com/office/drawing/2014/main" id="{91A61130-1080-4979-90E9-7E0E03F5B045}"/>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Q13</a:t>
            </a:r>
          </a:p>
        </p:txBody>
      </p:sp>
      <p:sp>
        <p:nvSpPr>
          <p:cNvPr id="5" name="text-360">
            <a:extLst>
              <a:ext uri="{FF2B5EF4-FFF2-40B4-BE49-F238E27FC236}">
                <a16:creationId xmlns:a16="http://schemas.microsoft.com/office/drawing/2014/main" id="{6F409025-45D8-4419-B31D-90B62BED7143}"/>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customer account should a guest be able to claim?</a:t>
            </a:r>
          </a:p>
        </p:txBody>
      </p:sp>
      <p:sp>
        <p:nvSpPr>
          <p:cNvPr id="6" name="text-361">
            <a:extLst>
              <a:ext uri="{FF2B5EF4-FFF2-40B4-BE49-F238E27FC236}">
                <a16:creationId xmlns:a16="http://schemas.microsoft.com/office/drawing/2014/main" id="{EB0986C6-C91D-480B-9F45-49CAD153E82F}"/>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465665"/>
                </a:solidFill>
                <a:latin typeface="Bahnschrift"/>
                <a:ea typeface="Bahnschrift"/>
                <a:cs typeface="Bahnschrift"/>
              </a:defRPr>
            </a:pPr>
            <a:r>
              <a:rPr sz="1050" b="1">
                <a:solidFill>
                  <a:srgbClr val="465665"/>
                </a:solidFill>
                <a:latin typeface="Bahnschrift"/>
                <a:ea typeface="Bahnschrift"/>
                <a:cs typeface="Bahnschrift"/>
              </a:rPr>
              <a:t>SYSTEM IMPACT</a:t>
            </a:r>
          </a:p>
        </p:txBody>
      </p:sp>
      <p:sp>
        <p:nvSpPr>
          <p:cNvPr id="7" name="text-362">
            <a:extLst>
              <a:ext uri="{FF2B5EF4-FFF2-40B4-BE49-F238E27FC236}">
                <a16:creationId xmlns:a16="http://schemas.microsoft.com/office/drawing/2014/main" id="{F8A917ED-3E3E-4861-9203-EC95D17C57A5}"/>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post-purchase data access and account migration.</a:t>
            </a:r>
          </a:p>
        </p:txBody>
      </p:sp>
      <p:sp>
        <p:nvSpPr>
          <p:cNvPr id="8" name="rect-363">
            <a:extLst>
              <a:ext uri="{FF2B5EF4-FFF2-40B4-BE49-F238E27FC236}">
                <a16:creationId xmlns:a16="http://schemas.microsoft.com/office/drawing/2014/main" id="{1710899A-7ABD-454C-B3B9-88E976E2D4A9}"/>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364">
            <a:extLst>
              <a:ext uri="{FF2B5EF4-FFF2-40B4-BE49-F238E27FC236}">
                <a16:creationId xmlns:a16="http://schemas.microsoft.com/office/drawing/2014/main" id="{21E2CC9E-7087-429E-8A2E-5D0092D0ABF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365">
            <a:extLst>
              <a:ext uri="{FF2B5EF4-FFF2-40B4-BE49-F238E27FC236}">
                <a16:creationId xmlns:a16="http://schemas.microsoft.com/office/drawing/2014/main" id="{DF6146D4-E192-4250-9196-309AD42B33E6}"/>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366">
            <a:extLst>
              <a:ext uri="{FF2B5EF4-FFF2-40B4-BE49-F238E27FC236}">
                <a16:creationId xmlns:a16="http://schemas.microsoft.com/office/drawing/2014/main" id="{29138FB8-ABF2-4FD4-BFDB-CB494E9C2680}"/>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 full account containing prior guest orders</a:t>
            </a:r>
          </a:p>
        </p:txBody>
      </p:sp>
      <p:sp>
        <p:nvSpPr>
          <p:cNvPr id="12" name="text-367">
            <a:extLst>
              <a:ext uri="{FF2B5EF4-FFF2-40B4-BE49-F238E27FC236}">
                <a16:creationId xmlns:a16="http://schemas.microsoft.com/office/drawing/2014/main" id="{DF0C2EAE-13E8-41A5-A532-3D3738E05EA3}"/>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368">
            <a:extLst>
              <a:ext uri="{FF2B5EF4-FFF2-40B4-BE49-F238E27FC236}">
                <a16:creationId xmlns:a16="http://schemas.microsoft.com/office/drawing/2014/main" id="{F7499822-C353-410A-80A3-7342726F5357}"/>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369">
            <a:extLst>
              <a:ext uri="{FF2B5EF4-FFF2-40B4-BE49-F238E27FC236}">
                <a16:creationId xmlns:a16="http://schemas.microsoft.com/office/drawing/2014/main" id="{CB327505-B44C-491E-B025-C5DCF2A68E78}"/>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370">
            <a:extLst>
              <a:ext uri="{FF2B5EF4-FFF2-40B4-BE49-F238E27FC236}">
                <a16:creationId xmlns:a16="http://schemas.microsoft.com/office/drawing/2014/main" id="{8DFAC6C3-C014-4A1C-8BB9-A114D421F08F}"/>
              </a:ext>
            </a:extLst>
          </p:cNvPr>
          <p:cNvSpPr>
            <a:spLocks noGrp="1"/>
          </p:cNvSpPr>
          <p:nvPr/>
        </p:nvSpPr>
        <p:spPr>
          <a:xfrm>
            <a:off x="647700" y="3219450"/>
            <a:ext cx="114300" cy="800100"/>
          </a:xfrm>
          <a:prstGeom prst="rect">
            <a:avLst/>
          </a:prstGeom>
          <a:solidFill>
            <a:srgbClr val="465665"/>
          </a:solidFill>
          <a:ln w="0">
            <a:noFill/>
            <a:prstDash val="solid"/>
          </a:ln>
        </p:spPr>
        <p:txBody>
          <a:bodyPr/>
          <a:lstStyle/>
          <a:p>
            <a:endParaRPr lang="en-US"/>
          </a:p>
        </p:txBody>
      </p:sp>
      <p:sp>
        <p:nvSpPr>
          <p:cNvPr id="16" name="text-371">
            <a:extLst>
              <a:ext uri="{FF2B5EF4-FFF2-40B4-BE49-F238E27FC236}">
                <a16:creationId xmlns:a16="http://schemas.microsoft.com/office/drawing/2014/main" id="{4F1FDD86-F3F2-4E89-A885-9B00B0DF6181}"/>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372">
            <a:extLst>
              <a:ext uri="{FF2B5EF4-FFF2-40B4-BE49-F238E27FC236}">
                <a16:creationId xmlns:a16="http://schemas.microsoft.com/office/drawing/2014/main" id="{9A855438-A40F-4101-9DB1-171E06C8370B}"/>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Secure order links only</a:t>
            </a:r>
          </a:p>
        </p:txBody>
      </p:sp>
      <p:sp>
        <p:nvSpPr>
          <p:cNvPr id="18" name="text-373">
            <a:extLst>
              <a:ext uri="{FF2B5EF4-FFF2-40B4-BE49-F238E27FC236}">
                <a16:creationId xmlns:a16="http://schemas.microsoft.com/office/drawing/2014/main" id="{3BFED779-100C-4DEE-AEA7-4040FC489AC2}"/>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374">
            <a:extLst>
              <a:ext uri="{FF2B5EF4-FFF2-40B4-BE49-F238E27FC236}">
                <a16:creationId xmlns:a16="http://schemas.microsoft.com/office/drawing/2014/main" id="{9E776C89-E858-4FE5-B390-4ACE388FFBD3}"/>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375">
            <a:extLst>
              <a:ext uri="{FF2B5EF4-FFF2-40B4-BE49-F238E27FC236}">
                <a16:creationId xmlns:a16="http://schemas.microsoft.com/office/drawing/2014/main" id="{7CC5A21A-ABCD-4E2F-A568-9BB7DD82D133}"/>
              </a:ext>
            </a:extLst>
          </p:cNvPr>
          <p:cNvSpPr>
            <a:spLocks noGrp="1"/>
          </p:cNvSpPr>
          <p:nvPr/>
        </p:nvSpPr>
        <p:spPr>
          <a:xfrm>
            <a:off x="647700" y="4171950"/>
            <a:ext cx="114300" cy="800100"/>
          </a:xfrm>
          <a:prstGeom prst="rect">
            <a:avLst/>
          </a:prstGeom>
          <a:solidFill>
            <a:srgbClr val="465665"/>
          </a:solidFill>
          <a:ln w="0">
            <a:noFill/>
            <a:prstDash val="solid"/>
          </a:ln>
        </p:spPr>
        <p:txBody>
          <a:bodyPr/>
          <a:lstStyle/>
          <a:p>
            <a:endParaRPr lang="en-US"/>
          </a:p>
        </p:txBody>
      </p:sp>
      <p:sp>
        <p:nvSpPr>
          <p:cNvPr id="21" name="text-376">
            <a:extLst>
              <a:ext uri="{FF2B5EF4-FFF2-40B4-BE49-F238E27FC236}">
                <a16:creationId xmlns:a16="http://schemas.microsoft.com/office/drawing/2014/main" id="{4645475D-FFD2-4E0E-B855-CB198515D1E3}"/>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377">
            <a:extLst>
              <a:ext uri="{FF2B5EF4-FFF2-40B4-BE49-F238E27FC236}">
                <a16:creationId xmlns:a16="http://schemas.microsoft.com/office/drawing/2014/main" id="{053FDE41-76F3-4FCD-9E61-401C7679CCFC}"/>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 basic order-history account</a:t>
            </a:r>
          </a:p>
        </p:txBody>
      </p:sp>
      <p:sp>
        <p:nvSpPr>
          <p:cNvPr id="23" name="text-378">
            <a:extLst>
              <a:ext uri="{FF2B5EF4-FFF2-40B4-BE49-F238E27FC236}">
                <a16:creationId xmlns:a16="http://schemas.microsoft.com/office/drawing/2014/main" id="{A83B964F-A11D-4406-BF66-5E44E4733899}"/>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379">
            <a:extLst>
              <a:ext uri="{FF2B5EF4-FFF2-40B4-BE49-F238E27FC236}">
                <a16:creationId xmlns:a16="http://schemas.microsoft.com/office/drawing/2014/main" id="{1AA4F840-F104-4899-A18F-A3C6A69916A5}"/>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380">
            <a:extLst>
              <a:ext uri="{FF2B5EF4-FFF2-40B4-BE49-F238E27FC236}">
                <a16:creationId xmlns:a16="http://schemas.microsoft.com/office/drawing/2014/main" id="{EF987E16-2EA1-44FE-AEBE-6D4B4A079E42}"/>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381">
            <a:extLst>
              <a:ext uri="{FF2B5EF4-FFF2-40B4-BE49-F238E27FC236}">
                <a16:creationId xmlns:a16="http://schemas.microsoft.com/office/drawing/2014/main" id="{465F0873-30C9-466E-A8A6-480216C5B8D8}"/>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382">
            <a:extLst>
              <a:ext uri="{FF2B5EF4-FFF2-40B4-BE49-F238E27FC236}">
                <a16:creationId xmlns:a16="http://schemas.microsoft.com/office/drawing/2014/main" id="{C8D008F8-B848-41EB-A3A6-AA213331933D}"/>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383">
            <a:extLst>
              <a:ext uri="{FF2B5EF4-FFF2-40B4-BE49-F238E27FC236}">
                <a16:creationId xmlns:a16="http://schemas.microsoft.com/office/drawing/2014/main" id="{B66B14E9-B758-43A6-9263-DD2A5BEAC9FC}"/>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384">
            <a:extLst>
              <a:ext uri="{FF2B5EF4-FFF2-40B4-BE49-F238E27FC236}">
                <a16:creationId xmlns:a16="http://schemas.microsoft.com/office/drawing/2014/main" id="{FA0E77A2-0F2E-4A88-B697-947C70A2B0D1}"/>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CHECKOUT &amp; IDENTITY</a:t>
            </a:r>
          </a:p>
        </p:txBody>
      </p:sp>
      <p:sp>
        <p:nvSpPr>
          <p:cNvPr id="30" name="text-385">
            <a:extLst>
              <a:ext uri="{FF2B5EF4-FFF2-40B4-BE49-F238E27FC236}">
                <a16:creationId xmlns:a16="http://schemas.microsoft.com/office/drawing/2014/main" id="{D29BEDAD-C760-41B1-8373-C4AE6C8E2DC2}"/>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Q13 / 49</a:t>
            </a:r>
          </a:p>
        </p:txBody>
      </p:sp>
    </p:spTree>
    <p:extLst>
      <p:ext uri="{BB962C8B-B14F-4D97-AF65-F5344CB8AC3E}">
        <p14:creationId xmlns:p14="http://schemas.microsoft.com/office/powerpoint/2010/main" val="645812956"/>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386">
            <a:extLst>
              <a:ext uri="{FF2B5EF4-FFF2-40B4-BE49-F238E27FC236}">
                <a16:creationId xmlns:a16="http://schemas.microsoft.com/office/drawing/2014/main" id="{594B8B13-BD27-46BC-B92F-C7F21CA5FD82}"/>
              </a:ext>
            </a:extLst>
          </p:cNvPr>
          <p:cNvSpPr>
            <a:spLocks noGrp="1"/>
          </p:cNvSpPr>
          <p:nvPr/>
        </p:nvSpPr>
        <p:spPr>
          <a:xfrm>
            <a:off x="647700" y="438150"/>
            <a:ext cx="104775" cy="247650"/>
          </a:xfrm>
          <a:prstGeom prst="rect">
            <a:avLst/>
          </a:prstGeom>
          <a:solidFill>
            <a:srgbClr val="465665"/>
          </a:solidFill>
          <a:ln w="0">
            <a:noFill/>
            <a:prstDash val="solid"/>
          </a:ln>
        </p:spPr>
        <p:txBody>
          <a:bodyPr/>
          <a:lstStyle/>
          <a:p>
            <a:endParaRPr lang="en-US"/>
          </a:p>
        </p:txBody>
      </p:sp>
      <p:sp>
        <p:nvSpPr>
          <p:cNvPr id="3" name="text-387">
            <a:extLst>
              <a:ext uri="{FF2B5EF4-FFF2-40B4-BE49-F238E27FC236}">
                <a16:creationId xmlns:a16="http://schemas.microsoft.com/office/drawing/2014/main" id="{719C57B0-8015-42B3-830F-CF1A31A4C514}"/>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CHECKOUT &amp; IDENTITY</a:t>
            </a:r>
          </a:p>
        </p:txBody>
      </p:sp>
      <p:sp>
        <p:nvSpPr>
          <p:cNvPr id="4" name="text-388">
            <a:extLst>
              <a:ext uri="{FF2B5EF4-FFF2-40B4-BE49-F238E27FC236}">
                <a16:creationId xmlns:a16="http://schemas.microsoft.com/office/drawing/2014/main" id="{6E8F855E-CE35-4C84-B262-947176C0FF68}"/>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Q14</a:t>
            </a:r>
          </a:p>
        </p:txBody>
      </p:sp>
      <p:sp>
        <p:nvSpPr>
          <p:cNvPr id="5" name="text-389">
            <a:extLst>
              <a:ext uri="{FF2B5EF4-FFF2-40B4-BE49-F238E27FC236}">
                <a16:creationId xmlns:a16="http://schemas.microsoft.com/office/drawing/2014/main" id="{40915892-3CA8-47D8-8113-076BC7D866E7}"/>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customer authentication method should v1 use?</a:t>
            </a:r>
          </a:p>
        </p:txBody>
      </p:sp>
      <p:sp>
        <p:nvSpPr>
          <p:cNvPr id="6" name="text-390">
            <a:extLst>
              <a:ext uri="{FF2B5EF4-FFF2-40B4-BE49-F238E27FC236}">
                <a16:creationId xmlns:a16="http://schemas.microsoft.com/office/drawing/2014/main" id="{E7AFF2A9-275C-48D8-BD4B-22B1BFF86D2F}"/>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465665"/>
                </a:solidFill>
                <a:latin typeface="Bahnschrift"/>
                <a:ea typeface="Bahnschrift"/>
                <a:cs typeface="Bahnschrift"/>
              </a:defRPr>
            </a:pPr>
            <a:r>
              <a:rPr sz="1050" b="1">
                <a:solidFill>
                  <a:srgbClr val="465665"/>
                </a:solidFill>
                <a:latin typeface="Bahnschrift"/>
                <a:ea typeface="Bahnschrift"/>
                <a:cs typeface="Bahnschrift"/>
              </a:rPr>
              <a:t>SYSTEM IMPACT</a:t>
            </a:r>
          </a:p>
        </p:txBody>
      </p:sp>
      <p:sp>
        <p:nvSpPr>
          <p:cNvPr id="7" name="text-391">
            <a:extLst>
              <a:ext uri="{FF2B5EF4-FFF2-40B4-BE49-F238E27FC236}">
                <a16:creationId xmlns:a16="http://schemas.microsoft.com/office/drawing/2014/main" id="{1951D4DB-5563-4153-8805-22A723F4F8C6}"/>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identity-provider, fallback and recovery requirements.</a:t>
            </a:r>
          </a:p>
        </p:txBody>
      </p:sp>
      <p:sp>
        <p:nvSpPr>
          <p:cNvPr id="8" name="rect-392">
            <a:extLst>
              <a:ext uri="{FF2B5EF4-FFF2-40B4-BE49-F238E27FC236}">
                <a16:creationId xmlns:a16="http://schemas.microsoft.com/office/drawing/2014/main" id="{CC211274-EA36-438A-A6C0-EA490B07EEA3}"/>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393">
            <a:extLst>
              <a:ext uri="{FF2B5EF4-FFF2-40B4-BE49-F238E27FC236}">
                <a16:creationId xmlns:a16="http://schemas.microsoft.com/office/drawing/2014/main" id="{81B78F10-84F4-4BA2-A544-0DA5F8D25AF3}"/>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394">
            <a:extLst>
              <a:ext uri="{FF2B5EF4-FFF2-40B4-BE49-F238E27FC236}">
                <a16:creationId xmlns:a16="http://schemas.microsoft.com/office/drawing/2014/main" id="{DEA89EF9-E393-4C48-9CE9-BAA14437A227}"/>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395">
            <a:extLst>
              <a:ext uri="{FF2B5EF4-FFF2-40B4-BE49-F238E27FC236}">
                <a16:creationId xmlns:a16="http://schemas.microsoft.com/office/drawing/2014/main" id="{658A6126-AAA9-4EFB-935C-363A54CCB0C8}"/>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Mobile OTP with email magic-link fallback</a:t>
            </a:r>
          </a:p>
        </p:txBody>
      </p:sp>
      <p:sp>
        <p:nvSpPr>
          <p:cNvPr id="12" name="text-396">
            <a:extLst>
              <a:ext uri="{FF2B5EF4-FFF2-40B4-BE49-F238E27FC236}">
                <a16:creationId xmlns:a16="http://schemas.microsoft.com/office/drawing/2014/main" id="{D743FD74-9B95-4849-A194-4C5C29363DC1}"/>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397">
            <a:extLst>
              <a:ext uri="{FF2B5EF4-FFF2-40B4-BE49-F238E27FC236}">
                <a16:creationId xmlns:a16="http://schemas.microsoft.com/office/drawing/2014/main" id="{D17D237F-E0E4-4F5E-AE03-82A0748692AE}"/>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398">
            <a:extLst>
              <a:ext uri="{FF2B5EF4-FFF2-40B4-BE49-F238E27FC236}">
                <a16:creationId xmlns:a16="http://schemas.microsoft.com/office/drawing/2014/main" id="{2DED11BE-3F8C-4265-9F7C-D195F68DEC46}"/>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399">
            <a:extLst>
              <a:ext uri="{FF2B5EF4-FFF2-40B4-BE49-F238E27FC236}">
                <a16:creationId xmlns:a16="http://schemas.microsoft.com/office/drawing/2014/main" id="{F5A9FFD1-F5A1-4EC7-85D8-F6577503D07F}"/>
              </a:ext>
            </a:extLst>
          </p:cNvPr>
          <p:cNvSpPr>
            <a:spLocks noGrp="1"/>
          </p:cNvSpPr>
          <p:nvPr/>
        </p:nvSpPr>
        <p:spPr>
          <a:xfrm>
            <a:off x="647700" y="3219450"/>
            <a:ext cx="114300" cy="800100"/>
          </a:xfrm>
          <a:prstGeom prst="rect">
            <a:avLst/>
          </a:prstGeom>
          <a:solidFill>
            <a:srgbClr val="465665"/>
          </a:solidFill>
          <a:ln w="0">
            <a:noFill/>
            <a:prstDash val="solid"/>
          </a:ln>
        </p:spPr>
        <p:txBody>
          <a:bodyPr/>
          <a:lstStyle/>
          <a:p>
            <a:endParaRPr lang="en-US"/>
          </a:p>
        </p:txBody>
      </p:sp>
      <p:sp>
        <p:nvSpPr>
          <p:cNvPr id="16" name="text-400">
            <a:extLst>
              <a:ext uri="{FF2B5EF4-FFF2-40B4-BE49-F238E27FC236}">
                <a16:creationId xmlns:a16="http://schemas.microsoft.com/office/drawing/2014/main" id="{A393CD35-436F-42EA-8480-319A01E09703}"/>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401">
            <a:extLst>
              <a:ext uri="{FF2B5EF4-FFF2-40B4-BE49-F238E27FC236}">
                <a16:creationId xmlns:a16="http://schemas.microsoft.com/office/drawing/2014/main" id="{B01E597B-B8A7-4815-BBB6-E6A21E85F5C6}"/>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Mobile OTP only</a:t>
            </a:r>
          </a:p>
        </p:txBody>
      </p:sp>
      <p:sp>
        <p:nvSpPr>
          <p:cNvPr id="18" name="text-402">
            <a:extLst>
              <a:ext uri="{FF2B5EF4-FFF2-40B4-BE49-F238E27FC236}">
                <a16:creationId xmlns:a16="http://schemas.microsoft.com/office/drawing/2014/main" id="{3DD7B4EF-94BF-4BF3-BC56-BB53A3024AF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403">
            <a:extLst>
              <a:ext uri="{FF2B5EF4-FFF2-40B4-BE49-F238E27FC236}">
                <a16:creationId xmlns:a16="http://schemas.microsoft.com/office/drawing/2014/main" id="{83647CE0-E229-441D-AE70-5391442831EB}"/>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404">
            <a:extLst>
              <a:ext uri="{FF2B5EF4-FFF2-40B4-BE49-F238E27FC236}">
                <a16:creationId xmlns:a16="http://schemas.microsoft.com/office/drawing/2014/main" id="{78EE6A01-64F3-495A-94DC-925FA87B2972}"/>
              </a:ext>
            </a:extLst>
          </p:cNvPr>
          <p:cNvSpPr>
            <a:spLocks noGrp="1"/>
          </p:cNvSpPr>
          <p:nvPr/>
        </p:nvSpPr>
        <p:spPr>
          <a:xfrm>
            <a:off x="647700" y="4171950"/>
            <a:ext cx="114300" cy="800100"/>
          </a:xfrm>
          <a:prstGeom prst="rect">
            <a:avLst/>
          </a:prstGeom>
          <a:solidFill>
            <a:srgbClr val="465665"/>
          </a:solidFill>
          <a:ln w="0">
            <a:noFill/>
            <a:prstDash val="solid"/>
          </a:ln>
        </p:spPr>
        <p:txBody>
          <a:bodyPr/>
          <a:lstStyle/>
          <a:p>
            <a:endParaRPr lang="en-US"/>
          </a:p>
        </p:txBody>
      </p:sp>
      <p:sp>
        <p:nvSpPr>
          <p:cNvPr id="21" name="text-405">
            <a:extLst>
              <a:ext uri="{FF2B5EF4-FFF2-40B4-BE49-F238E27FC236}">
                <a16:creationId xmlns:a16="http://schemas.microsoft.com/office/drawing/2014/main" id="{4621A13E-B560-46A0-B818-A8292E065B60}"/>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406">
            <a:extLst>
              <a:ext uri="{FF2B5EF4-FFF2-40B4-BE49-F238E27FC236}">
                <a16:creationId xmlns:a16="http://schemas.microsoft.com/office/drawing/2014/main" id="{F66127B3-2D72-441A-965D-0E0DB1CB8742}"/>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Email magic link only</a:t>
            </a:r>
          </a:p>
        </p:txBody>
      </p:sp>
      <p:sp>
        <p:nvSpPr>
          <p:cNvPr id="23" name="text-407">
            <a:extLst>
              <a:ext uri="{FF2B5EF4-FFF2-40B4-BE49-F238E27FC236}">
                <a16:creationId xmlns:a16="http://schemas.microsoft.com/office/drawing/2014/main" id="{05944617-CFA8-48FF-8D67-B2AB25EE54E3}"/>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408">
            <a:extLst>
              <a:ext uri="{FF2B5EF4-FFF2-40B4-BE49-F238E27FC236}">
                <a16:creationId xmlns:a16="http://schemas.microsoft.com/office/drawing/2014/main" id="{B5C3AD88-5C25-4EBA-ADB2-DFA7272089E1}"/>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409">
            <a:extLst>
              <a:ext uri="{FF2B5EF4-FFF2-40B4-BE49-F238E27FC236}">
                <a16:creationId xmlns:a16="http://schemas.microsoft.com/office/drawing/2014/main" id="{2ABCBB17-D74F-438C-899B-AE2A6E3D38BB}"/>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410">
            <a:extLst>
              <a:ext uri="{FF2B5EF4-FFF2-40B4-BE49-F238E27FC236}">
                <a16:creationId xmlns:a16="http://schemas.microsoft.com/office/drawing/2014/main" id="{AFE2DA39-A321-4340-9789-C32FCC2AE2F0}"/>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411">
            <a:extLst>
              <a:ext uri="{FF2B5EF4-FFF2-40B4-BE49-F238E27FC236}">
                <a16:creationId xmlns:a16="http://schemas.microsoft.com/office/drawing/2014/main" id="{2EFC2FC3-5C77-49BB-9C48-FD8E0E28C65C}"/>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412">
            <a:extLst>
              <a:ext uri="{FF2B5EF4-FFF2-40B4-BE49-F238E27FC236}">
                <a16:creationId xmlns:a16="http://schemas.microsoft.com/office/drawing/2014/main" id="{9A9BB5CD-5341-4F06-B5AD-DB4E4B1726EE}"/>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413">
            <a:extLst>
              <a:ext uri="{FF2B5EF4-FFF2-40B4-BE49-F238E27FC236}">
                <a16:creationId xmlns:a16="http://schemas.microsoft.com/office/drawing/2014/main" id="{7AABD682-C9D7-4DF3-A618-0B440B4CBC44}"/>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CHECKOUT &amp; IDENTITY</a:t>
            </a:r>
          </a:p>
        </p:txBody>
      </p:sp>
      <p:sp>
        <p:nvSpPr>
          <p:cNvPr id="30" name="text-414">
            <a:extLst>
              <a:ext uri="{FF2B5EF4-FFF2-40B4-BE49-F238E27FC236}">
                <a16:creationId xmlns:a16="http://schemas.microsoft.com/office/drawing/2014/main" id="{8A4CA00C-D666-448D-BD27-164ECE5016B2}"/>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Q14 / 49</a:t>
            </a:r>
          </a:p>
        </p:txBody>
      </p:sp>
    </p:spTree>
    <p:extLst>
      <p:ext uri="{BB962C8B-B14F-4D97-AF65-F5344CB8AC3E}">
        <p14:creationId xmlns:p14="http://schemas.microsoft.com/office/powerpoint/2010/main" val="1646103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415">
            <a:extLst>
              <a:ext uri="{FF2B5EF4-FFF2-40B4-BE49-F238E27FC236}">
                <a16:creationId xmlns:a16="http://schemas.microsoft.com/office/drawing/2014/main" id="{85C8D53B-35B4-4E86-A1E0-4080ACF90F9F}"/>
              </a:ext>
            </a:extLst>
          </p:cNvPr>
          <p:cNvSpPr>
            <a:spLocks noGrp="1"/>
          </p:cNvSpPr>
          <p:nvPr/>
        </p:nvSpPr>
        <p:spPr>
          <a:xfrm>
            <a:off x="647700" y="438150"/>
            <a:ext cx="104775" cy="247650"/>
          </a:xfrm>
          <a:prstGeom prst="rect">
            <a:avLst/>
          </a:prstGeom>
          <a:solidFill>
            <a:srgbClr val="465665"/>
          </a:solidFill>
          <a:ln w="0">
            <a:noFill/>
            <a:prstDash val="solid"/>
          </a:ln>
        </p:spPr>
        <p:txBody>
          <a:bodyPr/>
          <a:lstStyle/>
          <a:p>
            <a:endParaRPr lang="en-US"/>
          </a:p>
        </p:txBody>
      </p:sp>
      <p:sp>
        <p:nvSpPr>
          <p:cNvPr id="3" name="text-416">
            <a:extLst>
              <a:ext uri="{FF2B5EF4-FFF2-40B4-BE49-F238E27FC236}">
                <a16:creationId xmlns:a16="http://schemas.microsoft.com/office/drawing/2014/main" id="{B286B2A2-0195-4274-AA87-F1EB0077015C}"/>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CHECKOUT &amp; IDENTITY</a:t>
            </a:r>
          </a:p>
        </p:txBody>
      </p:sp>
      <p:sp>
        <p:nvSpPr>
          <p:cNvPr id="4" name="text-417">
            <a:extLst>
              <a:ext uri="{FF2B5EF4-FFF2-40B4-BE49-F238E27FC236}">
                <a16:creationId xmlns:a16="http://schemas.microsoft.com/office/drawing/2014/main" id="{3C840AE6-24C4-479F-AAF8-8F6942A47008}"/>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Q15</a:t>
            </a:r>
          </a:p>
        </p:txBody>
      </p:sp>
      <p:sp>
        <p:nvSpPr>
          <p:cNvPr id="5" name="text-418">
            <a:extLst>
              <a:ext uri="{FF2B5EF4-FFF2-40B4-BE49-F238E27FC236}">
                <a16:creationId xmlns:a16="http://schemas.microsoft.com/office/drawing/2014/main" id="{AA5477A0-F2E3-4DD0-B769-963EE2B369D2}"/>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is the COD decision for v1?</a:t>
            </a:r>
          </a:p>
        </p:txBody>
      </p:sp>
      <p:sp>
        <p:nvSpPr>
          <p:cNvPr id="6" name="text-419">
            <a:extLst>
              <a:ext uri="{FF2B5EF4-FFF2-40B4-BE49-F238E27FC236}">
                <a16:creationId xmlns:a16="http://schemas.microsoft.com/office/drawing/2014/main" id="{F016D735-A061-4FB2-B7B3-9C49AAA80549}"/>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465665"/>
                </a:solidFill>
                <a:latin typeface="Bahnschrift"/>
                <a:ea typeface="Bahnschrift"/>
                <a:cs typeface="Bahnschrift"/>
              </a:defRPr>
            </a:pPr>
            <a:r>
              <a:rPr sz="1050" b="1">
                <a:solidFill>
                  <a:srgbClr val="465665"/>
                </a:solidFill>
                <a:latin typeface="Bahnschrift"/>
                <a:ea typeface="Bahnschrift"/>
                <a:cs typeface="Bahnschrift"/>
              </a:rPr>
              <a:t>SYSTEM IMPACT</a:t>
            </a:r>
          </a:p>
        </p:txBody>
      </p:sp>
      <p:sp>
        <p:nvSpPr>
          <p:cNvPr id="7" name="text-420">
            <a:extLst>
              <a:ext uri="{FF2B5EF4-FFF2-40B4-BE49-F238E27FC236}">
                <a16:creationId xmlns:a16="http://schemas.microsoft.com/office/drawing/2014/main" id="{264C35ED-20C3-45A9-8D18-BF617E110CA5}"/>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Determines payment states while avoiding launch risk.</a:t>
            </a:r>
          </a:p>
        </p:txBody>
      </p:sp>
      <p:sp>
        <p:nvSpPr>
          <p:cNvPr id="8" name="rect-421">
            <a:extLst>
              <a:ext uri="{FF2B5EF4-FFF2-40B4-BE49-F238E27FC236}">
                <a16:creationId xmlns:a16="http://schemas.microsoft.com/office/drawing/2014/main" id="{6E998630-16A6-4A4D-B659-FCD9E47FCFBB}"/>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422">
            <a:extLst>
              <a:ext uri="{FF2B5EF4-FFF2-40B4-BE49-F238E27FC236}">
                <a16:creationId xmlns:a16="http://schemas.microsoft.com/office/drawing/2014/main" id="{A57DA328-2B77-460D-AED0-445FD61817F8}"/>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423">
            <a:extLst>
              <a:ext uri="{FF2B5EF4-FFF2-40B4-BE49-F238E27FC236}">
                <a16:creationId xmlns:a16="http://schemas.microsoft.com/office/drawing/2014/main" id="{E10BCD96-07BA-47A4-8CBD-F4612A8184FA}"/>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424">
            <a:extLst>
              <a:ext uri="{FF2B5EF4-FFF2-40B4-BE49-F238E27FC236}">
                <a16:creationId xmlns:a16="http://schemas.microsoft.com/office/drawing/2014/main" id="{B537C7A6-92E8-4E59-94FE-9CB8764DAE27}"/>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Model COD but keep it disabled</a:t>
            </a:r>
          </a:p>
        </p:txBody>
      </p:sp>
      <p:sp>
        <p:nvSpPr>
          <p:cNvPr id="12" name="text-425">
            <a:extLst>
              <a:ext uri="{FF2B5EF4-FFF2-40B4-BE49-F238E27FC236}">
                <a16:creationId xmlns:a16="http://schemas.microsoft.com/office/drawing/2014/main" id="{AA6D3CDC-DB46-4B02-AA83-25C5173BF679}"/>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426">
            <a:extLst>
              <a:ext uri="{FF2B5EF4-FFF2-40B4-BE49-F238E27FC236}">
                <a16:creationId xmlns:a16="http://schemas.microsoft.com/office/drawing/2014/main" id="{84202D5E-D88F-4EA6-82D8-71DDB7FEA15C}"/>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427">
            <a:extLst>
              <a:ext uri="{FF2B5EF4-FFF2-40B4-BE49-F238E27FC236}">
                <a16:creationId xmlns:a16="http://schemas.microsoft.com/office/drawing/2014/main" id="{F913A522-6E94-4591-A20C-8A8FDB08FCE0}"/>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428">
            <a:extLst>
              <a:ext uri="{FF2B5EF4-FFF2-40B4-BE49-F238E27FC236}">
                <a16:creationId xmlns:a16="http://schemas.microsoft.com/office/drawing/2014/main" id="{569E7755-D04E-4819-BF16-BEEF151B44C8}"/>
              </a:ext>
            </a:extLst>
          </p:cNvPr>
          <p:cNvSpPr>
            <a:spLocks noGrp="1"/>
          </p:cNvSpPr>
          <p:nvPr/>
        </p:nvSpPr>
        <p:spPr>
          <a:xfrm>
            <a:off x="647700" y="3219450"/>
            <a:ext cx="114300" cy="800100"/>
          </a:xfrm>
          <a:prstGeom prst="rect">
            <a:avLst/>
          </a:prstGeom>
          <a:solidFill>
            <a:srgbClr val="465665"/>
          </a:solidFill>
          <a:ln w="0">
            <a:noFill/>
            <a:prstDash val="solid"/>
          </a:ln>
        </p:spPr>
        <p:txBody>
          <a:bodyPr/>
          <a:lstStyle/>
          <a:p>
            <a:endParaRPr lang="en-US"/>
          </a:p>
        </p:txBody>
      </p:sp>
      <p:sp>
        <p:nvSpPr>
          <p:cNvPr id="16" name="text-429">
            <a:extLst>
              <a:ext uri="{FF2B5EF4-FFF2-40B4-BE49-F238E27FC236}">
                <a16:creationId xmlns:a16="http://schemas.microsoft.com/office/drawing/2014/main" id="{9460C9FD-1032-4C77-AD9E-EC37088ABA56}"/>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430">
            <a:extLst>
              <a:ext uri="{FF2B5EF4-FFF2-40B4-BE49-F238E27FC236}">
                <a16:creationId xmlns:a16="http://schemas.microsoft.com/office/drawing/2014/main" id="{998B5A26-5D73-4347-AFC6-F18BA5D74011}"/>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Activate COD with risk controls</a:t>
            </a:r>
          </a:p>
        </p:txBody>
      </p:sp>
      <p:sp>
        <p:nvSpPr>
          <p:cNvPr id="18" name="text-431">
            <a:extLst>
              <a:ext uri="{FF2B5EF4-FFF2-40B4-BE49-F238E27FC236}">
                <a16:creationId xmlns:a16="http://schemas.microsoft.com/office/drawing/2014/main" id="{02D71FA1-0168-46FA-B4CD-96CA0364DE8F}"/>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432">
            <a:extLst>
              <a:ext uri="{FF2B5EF4-FFF2-40B4-BE49-F238E27FC236}">
                <a16:creationId xmlns:a16="http://schemas.microsoft.com/office/drawing/2014/main" id="{041F7B18-8EBB-460C-AC5E-D33F82FB749B}"/>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433">
            <a:extLst>
              <a:ext uri="{FF2B5EF4-FFF2-40B4-BE49-F238E27FC236}">
                <a16:creationId xmlns:a16="http://schemas.microsoft.com/office/drawing/2014/main" id="{AE1EFFF6-A8B3-4A56-BB17-B8EFA88462C8}"/>
              </a:ext>
            </a:extLst>
          </p:cNvPr>
          <p:cNvSpPr>
            <a:spLocks noGrp="1"/>
          </p:cNvSpPr>
          <p:nvPr/>
        </p:nvSpPr>
        <p:spPr>
          <a:xfrm>
            <a:off x="647700" y="4171950"/>
            <a:ext cx="114300" cy="800100"/>
          </a:xfrm>
          <a:prstGeom prst="rect">
            <a:avLst/>
          </a:prstGeom>
          <a:solidFill>
            <a:srgbClr val="465665"/>
          </a:solidFill>
          <a:ln w="0">
            <a:noFill/>
            <a:prstDash val="solid"/>
          </a:ln>
        </p:spPr>
        <p:txBody>
          <a:bodyPr/>
          <a:lstStyle/>
          <a:p>
            <a:endParaRPr lang="en-US"/>
          </a:p>
        </p:txBody>
      </p:sp>
      <p:sp>
        <p:nvSpPr>
          <p:cNvPr id="21" name="text-434">
            <a:extLst>
              <a:ext uri="{FF2B5EF4-FFF2-40B4-BE49-F238E27FC236}">
                <a16:creationId xmlns:a16="http://schemas.microsoft.com/office/drawing/2014/main" id="{6EB1E6C0-36BF-440D-AE90-EE589AF3264C}"/>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435">
            <a:extLst>
              <a:ext uri="{FF2B5EF4-FFF2-40B4-BE49-F238E27FC236}">
                <a16:creationId xmlns:a16="http://schemas.microsoft.com/office/drawing/2014/main" id="{26A0B781-F1A9-4C1A-89C8-AAD282C1E459}"/>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Exclude COD permanently</a:t>
            </a:r>
          </a:p>
        </p:txBody>
      </p:sp>
      <p:sp>
        <p:nvSpPr>
          <p:cNvPr id="23" name="text-436">
            <a:extLst>
              <a:ext uri="{FF2B5EF4-FFF2-40B4-BE49-F238E27FC236}">
                <a16:creationId xmlns:a16="http://schemas.microsoft.com/office/drawing/2014/main" id="{BD5431C1-EFA9-46AD-A1B1-82A304EEFB2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437">
            <a:extLst>
              <a:ext uri="{FF2B5EF4-FFF2-40B4-BE49-F238E27FC236}">
                <a16:creationId xmlns:a16="http://schemas.microsoft.com/office/drawing/2014/main" id="{EC6F53CA-F76D-4030-B10E-99F2A42E07F3}"/>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438">
            <a:extLst>
              <a:ext uri="{FF2B5EF4-FFF2-40B4-BE49-F238E27FC236}">
                <a16:creationId xmlns:a16="http://schemas.microsoft.com/office/drawing/2014/main" id="{749779DA-81AB-4BD7-91F1-D5EAE06A809D}"/>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439">
            <a:extLst>
              <a:ext uri="{FF2B5EF4-FFF2-40B4-BE49-F238E27FC236}">
                <a16:creationId xmlns:a16="http://schemas.microsoft.com/office/drawing/2014/main" id="{AD2D09B5-CE78-4F34-B395-A7AA2781A496}"/>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440">
            <a:extLst>
              <a:ext uri="{FF2B5EF4-FFF2-40B4-BE49-F238E27FC236}">
                <a16:creationId xmlns:a16="http://schemas.microsoft.com/office/drawing/2014/main" id="{C53CC6C4-6904-4226-9948-8E849807D8FB}"/>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441">
            <a:extLst>
              <a:ext uri="{FF2B5EF4-FFF2-40B4-BE49-F238E27FC236}">
                <a16:creationId xmlns:a16="http://schemas.microsoft.com/office/drawing/2014/main" id="{082D43A1-3EDF-4B0C-8B5A-4B4451F6308A}"/>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442">
            <a:extLst>
              <a:ext uri="{FF2B5EF4-FFF2-40B4-BE49-F238E27FC236}">
                <a16:creationId xmlns:a16="http://schemas.microsoft.com/office/drawing/2014/main" id="{83EFA290-7B8E-4DA8-9585-89065D432B33}"/>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CHECKOUT &amp; IDENTITY</a:t>
            </a:r>
          </a:p>
        </p:txBody>
      </p:sp>
      <p:sp>
        <p:nvSpPr>
          <p:cNvPr id="30" name="text-443">
            <a:extLst>
              <a:ext uri="{FF2B5EF4-FFF2-40B4-BE49-F238E27FC236}">
                <a16:creationId xmlns:a16="http://schemas.microsoft.com/office/drawing/2014/main" id="{F6DEDB3A-4BCE-48B5-8458-61A347898A74}"/>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Q15 / 49</a:t>
            </a:r>
          </a:p>
        </p:txBody>
      </p:sp>
    </p:spTree>
    <p:extLst>
      <p:ext uri="{BB962C8B-B14F-4D97-AF65-F5344CB8AC3E}">
        <p14:creationId xmlns:p14="http://schemas.microsoft.com/office/powerpoint/2010/main" val="1181280462"/>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444">
            <a:extLst>
              <a:ext uri="{FF2B5EF4-FFF2-40B4-BE49-F238E27FC236}">
                <a16:creationId xmlns:a16="http://schemas.microsoft.com/office/drawing/2014/main" id="{56A7A0F7-5613-488B-B8AA-2812E1771D46}"/>
              </a:ext>
            </a:extLst>
          </p:cNvPr>
          <p:cNvSpPr>
            <a:spLocks noGrp="1"/>
          </p:cNvSpPr>
          <p:nvPr/>
        </p:nvSpPr>
        <p:spPr>
          <a:xfrm>
            <a:off x="647700" y="438150"/>
            <a:ext cx="104775" cy="247650"/>
          </a:xfrm>
          <a:prstGeom prst="rect">
            <a:avLst/>
          </a:prstGeom>
          <a:solidFill>
            <a:srgbClr val="465665"/>
          </a:solidFill>
          <a:ln w="0">
            <a:noFill/>
            <a:prstDash val="solid"/>
          </a:ln>
        </p:spPr>
        <p:txBody>
          <a:bodyPr/>
          <a:lstStyle/>
          <a:p>
            <a:endParaRPr lang="en-US"/>
          </a:p>
        </p:txBody>
      </p:sp>
      <p:sp>
        <p:nvSpPr>
          <p:cNvPr id="3" name="text-445">
            <a:extLst>
              <a:ext uri="{FF2B5EF4-FFF2-40B4-BE49-F238E27FC236}">
                <a16:creationId xmlns:a16="http://schemas.microsoft.com/office/drawing/2014/main" id="{7D31F5EE-A325-4D70-80AC-E3711893EF5B}"/>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CHECKOUT &amp; IDENTITY</a:t>
            </a:r>
          </a:p>
        </p:txBody>
      </p:sp>
      <p:sp>
        <p:nvSpPr>
          <p:cNvPr id="4" name="text-446">
            <a:extLst>
              <a:ext uri="{FF2B5EF4-FFF2-40B4-BE49-F238E27FC236}">
                <a16:creationId xmlns:a16="http://schemas.microsoft.com/office/drawing/2014/main" id="{0E94BF48-CFF7-45C8-8EBB-89B0EE52279C}"/>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Q16</a:t>
            </a:r>
          </a:p>
        </p:txBody>
      </p:sp>
      <p:sp>
        <p:nvSpPr>
          <p:cNvPr id="5" name="text-447">
            <a:extLst>
              <a:ext uri="{FF2B5EF4-FFF2-40B4-BE49-F238E27FC236}">
                <a16:creationId xmlns:a16="http://schemas.microsoft.com/office/drawing/2014/main" id="{FDBEC578-68E6-42E1-A5BF-E451C50498CA}"/>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When should inventory be reserved during checkout?</a:t>
            </a:r>
          </a:p>
        </p:txBody>
      </p:sp>
      <p:sp>
        <p:nvSpPr>
          <p:cNvPr id="6" name="text-448">
            <a:extLst>
              <a:ext uri="{FF2B5EF4-FFF2-40B4-BE49-F238E27FC236}">
                <a16:creationId xmlns:a16="http://schemas.microsoft.com/office/drawing/2014/main" id="{9BEC7381-ED66-40A3-B706-02F1D41E0C52}"/>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465665"/>
                </a:solidFill>
                <a:latin typeface="Bahnschrift"/>
                <a:ea typeface="Bahnschrift"/>
                <a:cs typeface="Bahnschrift"/>
              </a:defRPr>
            </a:pPr>
            <a:r>
              <a:rPr sz="1050" b="1">
                <a:solidFill>
                  <a:srgbClr val="465665"/>
                </a:solidFill>
                <a:latin typeface="Bahnschrift"/>
                <a:ea typeface="Bahnschrift"/>
                <a:cs typeface="Bahnschrift"/>
              </a:rPr>
              <a:t>SYSTEM IMPACT</a:t>
            </a:r>
          </a:p>
        </p:txBody>
      </p:sp>
      <p:sp>
        <p:nvSpPr>
          <p:cNvPr id="7" name="text-449">
            <a:extLst>
              <a:ext uri="{FF2B5EF4-FFF2-40B4-BE49-F238E27FC236}">
                <a16:creationId xmlns:a16="http://schemas.microsoft.com/office/drawing/2014/main" id="{FF904F86-471F-44B9-A305-FA2F2B96A33B}"/>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concurrency, oversell prevention and payment recovery.</a:t>
            </a:r>
          </a:p>
        </p:txBody>
      </p:sp>
      <p:sp>
        <p:nvSpPr>
          <p:cNvPr id="8" name="rect-450">
            <a:extLst>
              <a:ext uri="{FF2B5EF4-FFF2-40B4-BE49-F238E27FC236}">
                <a16:creationId xmlns:a16="http://schemas.microsoft.com/office/drawing/2014/main" id="{C41F42C3-63C3-4284-B823-CD26B99ABF2C}"/>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451">
            <a:extLst>
              <a:ext uri="{FF2B5EF4-FFF2-40B4-BE49-F238E27FC236}">
                <a16:creationId xmlns:a16="http://schemas.microsoft.com/office/drawing/2014/main" id="{5F7DBF28-CACA-4863-AC78-74AB3EC1CF79}"/>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452">
            <a:extLst>
              <a:ext uri="{FF2B5EF4-FFF2-40B4-BE49-F238E27FC236}">
                <a16:creationId xmlns:a16="http://schemas.microsoft.com/office/drawing/2014/main" id="{1A9D5474-3566-46EC-B8CA-EF3CFC96AD1C}"/>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453">
            <a:extLst>
              <a:ext uri="{FF2B5EF4-FFF2-40B4-BE49-F238E27FC236}">
                <a16:creationId xmlns:a16="http://schemas.microsoft.com/office/drawing/2014/main" id="{08788783-E6DB-4907-B6BA-3B710428F38F}"/>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Use a timed reservation during payment</a:t>
            </a:r>
          </a:p>
        </p:txBody>
      </p:sp>
      <p:sp>
        <p:nvSpPr>
          <p:cNvPr id="12" name="text-454">
            <a:extLst>
              <a:ext uri="{FF2B5EF4-FFF2-40B4-BE49-F238E27FC236}">
                <a16:creationId xmlns:a16="http://schemas.microsoft.com/office/drawing/2014/main" id="{287AC1B4-828B-4FD6-969A-BBFD97C7C32C}"/>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455">
            <a:extLst>
              <a:ext uri="{FF2B5EF4-FFF2-40B4-BE49-F238E27FC236}">
                <a16:creationId xmlns:a16="http://schemas.microsoft.com/office/drawing/2014/main" id="{D06D1400-BD87-46C8-8A91-3EC01634D942}"/>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456">
            <a:extLst>
              <a:ext uri="{FF2B5EF4-FFF2-40B4-BE49-F238E27FC236}">
                <a16:creationId xmlns:a16="http://schemas.microsoft.com/office/drawing/2014/main" id="{CCCAED29-0D49-413B-887F-C48EF5D510F8}"/>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457">
            <a:extLst>
              <a:ext uri="{FF2B5EF4-FFF2-40B4-BE49-F238E27FC236}">
                <a16:creationId xmlns:a16="http://schemas.microsoft.com/office/drawing/2014/main" id="{1DE1BF15-9A9B-4A58-BE57-F240D08BFA85}"/>
              </a:ext>
            </a:extLst>
          </p:cNvPr>
          <p:cNvSpPr>
            <a:spLocks noGrp="1"/>
          </p:cNvSpPr>
          <p:nvPr/>
        </p:nvSpPr>
        <p:spPr>
          <a:xfrm>
            <a:off x="647700" y="3219450"/>
            <a:ext cx="114300" cy="800100"/>
          </a:xfrm>
          <a:prstGeom prst="rect">
            <a:avLst/>
          </a:prstGeom>
          <a:solidFill>
            <a:srgbClr val="465665"/>
          </a:solidFill>
          <a:ln w="0">
            <a:noFill/>
            <a:prstDash val="solid"/>
          </a:ln>
        </p:spPr>
        <p:txBody>
          <a:bodyPr/>
          <a:lstStyle/>
          <a:p>
            <a:endParaRPr lang="en-US"/>
          </a:p>
        </p:txBody>
      </p:sp>
      <p:sp>
        <p:nvSpPr>
          <p:cNvPr id="16" name="text-458">
            <a:extLst>
              <a:ext uri="{FF2B5EF4-FFF2-40B4-BE49-F238E27FC236}">
                <a16:creationId xmlns:a16="http://schemas.microsoft.com/office/drawing/2014/main" id="{DE32B78D-9EA1-4D05-96C4-BE707BF99086}"/>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459">
            <a:extLst>
              <a:ext uri="{FF2B5EF4-FFF2-40B4-BE49-F238E27FC236}">
                <a16:creationId xmlns:a16="http://schemas.microsoft.com/office/drawing/2014/main" id="{8EF31A76-6E04-4E5E-98BD-61DEB77CF515}"/>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Deduct inventory only after payment</a:t>
            </a:r>
          </a:p>
        </p:txBody>
      </p:sp>
      <p:sp>
        <p:nvSpPr>
          <p:cNvPr id="18" name="text-460">
            <a:extLst>
              <a:ext uri="{FF2B5EF4-FFF2-40B4-BE49-F238E27FC236}">
                <a16:creationId xmlns:a16="http://schemas.microsoft.com/office/drawing/2014/main" id="{C5462D73-7D03-43C7-89A1-C6E245B41D5F}"/>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461">
            <a:extLst>
              <a:ext uri="{FF2B5EF4-FFF2-40B4-BE49-F238E27FC236}">
                <a16:creationId xmlns:a16="http://schemas.microsoft.com/office/drawing/2014/main" id="{DC60FEE3-DAC3-4C39-926E-19FF1F616218}"/>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462">
            <a:extLst>
              <a:ext uri="{FF2B5EF4-FFF2-40B4-BE49-F238E27FC236}">
                <a16:creationId xmlns:a16="http://schemas.microsoft.com/office/drawing/2014/main" id="{0D196B07-C0AF-4377-8927-AF356CEFF8BE}"/>
              </a:ext>
            </a:extLst>
          </p:cNvPr>
          <p:cNvSpPr>
            <a:spLocks noGrp="1"/>
          </p:cNvSpPr>
          <p:nvPr/>
        </p:nvSpPr>
        <p:spPr>
          <a:xfrm>
            <a:off x="647700" y="4171950"/>
            <a:ext cx="114300" cy="800100"/>
          </a:xfrm>
          <a:prstGeom prst="rect">
            <a:avLst/>
          </a:prstGeom>
          <a:solidFill>
            <a:srgbClr val="465665"/>
          </a:solidFill>
          <a:ln w="0">
            <a:noFill/>
            <a:prstDash val="solid"/>
          </a:ln>
        </p:spPr>
        <p:txBody>
          <a:bodyPr/>
          <a:lstStyle/>
          <a:p>
            <a:endParaRPr lang="en-US"/>
          </a:p>
        </p:txBody>
      </p:sp>
      <p:sp>
        <p:nvSpPr>
          <p:cNvPr id="21" name="text-463">
            <a:extLst>
              <a:ext uri="{FF2B5EF4-FFF2-40B4-BE49-F238E27FC236}">
                <a16:creationId xmlns:a16="http://schemas.microsoft.com/office/drawing/2014/main" id="{EA471BFD-7E8D-4B5E-9C47-CE8E558D782E}"/>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464">
            <a:extLst>
              <a:ext uri="{FF2B5EF4-FFF2-40B4-BE49-F238E27FC236}">
                <a16:creationId xmlns:a16="http://schemas.microsoft.com/office/drawing/2014/main" id="{950FC2A0-0057-4766-8499-BC761E2F4EB4}"/>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Reserve inventory when an item enters the cart</a:t>
            </a:r>
          </a:p>
        </p:txBody>
      </p:sp>
      <p:sp>
        <p:nvSpPr>
          <p:cNvPr id="23" name="text-465">
            <a:extLst>
              <a:ext uri="{FF2B5EF4-FFF2-40B4-BE49-F238E27FC236}">
                <a16:creationId xmlns:a16="http://schemas.microsoft.com/office/drawing/2014/main" id="{ADE407D7-CBBA-4691-99CE-C69173A5239E}"/>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466">
            <a:extLst>
              <a:ext uri="{FF2B5EF4-FFF2-40B4-BE49-F238E27FC236}">
                <a16:creationId xmlns:a16="http://schemas.microsoft.com/office/drawing/2014/main" id="{9689C4CB-CA17-4A32-9B4F-D5E15C03E37F}"/>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467">
            <a:extLst>
              <a:ext uri="{FF2B5EF4-FFF2-40B4-BE49-F238E27FC236}">
                <a16:creationId xmlns:a16="http://schemas.microsoft.com/office/drawing/2014/main" id="{CF8CA681-114D-4F75-930E-B5E1E43AEB69}"/>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468">
            <a:extLst>
              <a:ext uri="{FF2B5EF4-FFF2-40B4-BE49-F238E27FC236}">
                <a16:creationId xmlns:a16="http://schemas.microsoft.com/office/drawing/2014/main" id="{051D594A-DA26-497A-91E8-1057493E9535}"/>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469">
            <a:extLst>
              <a:ext uri="{FF2B5EF4-FFF2-40B4-BE49-F238E27FC236}">
                <a16:creationId xmlns:a16="http://schemas.microsoft.com/office/drawing/2014/main" id="{BB03F964-FFE0-41FF-82D9-328702E3E10A}"/>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470">
            <a:extLst>
              <a:ext uri="{FF2B5EF4-FFF2-40B4-BE49-F238E27FC236}">
                <a16:creationId xmlns:a16="http://schemas.microsoft.com/office/drawing/2014/main" id="{8989B18D-F0AE-4A18-95DA-0C9D19190B08}"/>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471">
            <a:extLst>
              <a:ext uri="{FF2B5EF4-FFF2-40B4-BE49-F238E27FC236}">
                <a16:creationId xmlns:a16="http://schemas.microsoft.com/office/drawing/2014/main" id="{F12FC6CD-67BA-41A4-B415-EF25F9E18C80}"/>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CHECKOUT &amp; IDENTITY</a:t>
            </a:r>
          </a:p>
        </p:txBody>
      </p:sp>
      <p:sp>
        <p:nvSpPr>
          <p:cNvPr id="30" name="text-472">
            <a:extLst>
              <a:ext uri="{FF2B5EF4-FFF2-40B4-BE49-F238E27FC236}">
                <a16:creationId xmlns:a16="http://schemas.microsoft.com/office/drawing/2014/main" id="{2ECE5C25-9B96-439F-8538-8440F702E0AD}"/>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Q16 / 49</a:t>
            </a:r>
          </a:p>
        </p:txBody>
      </p:sp>
    </p:spTree>
    <p:extLst>
      <p:ext uri="{BB962C8B-B14F-4D97-AF65-F5344CB8AC3E}">
        <p14:creationId xmlns:p14="http://schemas.microsoft.com/office/powerpoint/2010/main" val="771568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473">
            <a:extLst>
              <a:ext uri="{FF2B5EF4-FFF2-40B4-BE49-F238E27FC236}">
                <a16:creationId xmlns:a16="http://schemas.microsoft.com/office/drawing/2014/main" id="{21659BDC-B529-4937-AE03-12D25B0A0161}"/>
              </a:ext>
            </a:extLst>
          </p:cNvPr>
          <p:cNvSpPr>
            <a:spLocks noGrp="1"/>
          </p:cNvSpPr>
          <p:nvPr/>
        </p:nvSpPr>
        <p:spPr>
          <a:xfrm>
            <a:off x="647700" y="438150"/>
            <a:ext cx="104775" cy="247650"/>
          </a:xfrm>
          <a:prstGeom prst="rect">
            <a:avLst/>
          </a:prstGeom>
          <a:solidFill>
            <a:srgbClr val="465665"/>
          </a:solidFill>
          <a:ln w="0">
            <a:noFill/>
            <a:prstDash val="solid"/>
          </a:ln>
        </p:spPr>
        <p:txBody>
          <a:bodyPr/>
          <a:lstStyle/>
          <a:p>
            <a:endParaRPr lang="en-US"/>
          </a:p>
        </p:txBody>
      </p:sp>
      <p:sp>
        <p:nvSpPr>
          <p:cNvPr id="3" name="text-474">
            <a:extLst>
              <a:ext uri="{FF2B5EF4-FFF2-40B4-BE49-F238E27FC236}">
                <a16:creationId xmlns:a16="http://schemas.microsoft.com/office/drawing/2014/main" id="{28C6DA3B-DE78-4ACB-AA68-E864A30ADF44}"/>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CHECKOUT &amp; IDENTITY</a:t>
            </a:r>
          </a:p>
        </p:txBody>
      </p:sp>
      <p:sp>
        <p:nvSpPr>
          <p:cNvPr id="4" name="text-475">
            <a:extLst>
              <a:ext uri="{FF2B5EF4-FFF2-40B4-BE49-F238E27FC236}">
                <a16:creationId xmlns:a16="http://schemas.microsoft.com/office/drawing/2014/main" id="{FA19FD4A-02C4-4905-A63C-AAF2F11C2110}"/>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Q17</a:t>
            </a:r>
          </a:p>
        </p:txBody>
      </p:sp>
      <p:sp>
        <p:nvSpPr>
          <p:cNvPr id="5" name="text-476">
            <a:extLst>
              <a:ext uri="{FF2B5EF4-FFF2-40B4-BE49-F238E27FC236}">
                <a16:creationId xmlns:a16="http://schemas.microsoft.com/office/drawing/2014/main" id="{66757C0A-4BB6-4962-B4BA-B7B14D38F4A9}"/>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GST invoice details be collected?</a:t>
            </a:r>
          </a:p>
        </p:txBody>
      </p:sp>
      <p:sp>
        <p:nvSpPr>
          <p:cNvPr id="6" name="text-477">
            <a:extLst>
              <a:ext uri="{FF2B5EF4-FFF2-40B4-BE49-F238E27FC236}">
                <a16:creationId xmlns:a16="http://schemas.microsoft.com/office/drawing/2014/main" id="{0F073E1D-C4A2-4F48-8A38-642F161DF37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465665"/>
                </a:solidFill>
                <a:latin typeface="Bahnschrift"/>
                <a:ea typeface="Bahnschrift"/>
                <a:cs typeface="Bahnschrift"/>
              </a:defRPr>
            </a:pPr>
            <a:r>
              <a:rPr sz="1050" b="1">
                <a:solidFill>
                  <a:srgbClr val="465665"/>
                </a:solidFill>
                <a:latin typeface="Bahnschrift"/>
                <a:ea typeface="Bahnschrift"/>
                <a:cs typeface="Bahnschrift"/>
              </a:rPr>
              <a:t>SYSTEM IMPACT</a:t>
            </a:r>
          </a:p>
        </p:txBody>
      </p:sp>
      <p:sp>
        <p:nvSpPr>
          <p:cNvPr id="7" name="text-478">
            <a:extLst>
              <a:ext uri="{FF2B5EF4-FFF2-40B4-BE49-F238E27FC236}">
                <a16:creationId xmlns:a16="http://schemas.microsoft.com/office/drawing/2014/main" id="{37E4FACB-7C9A-41E2-BF7C-8329F3EA8C5F}"/>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invoice fields without increasing normal B2C checkout friction.</a:t>
            </a:r>
          </a:p>
        </p:txBody>
      </p:sp>
      <p:sp>
        <p:nvSpPr>
          <p:cNvPr id="8" name="rect-479">
            <a:extLst>
              <a:ext uri="{FF2B5EF4-FFF2-40B4-BE49-F238E27FC236}">
                <a16:creationId xmlns:a16="http://schemas.microsoft.com/office/drawing/2014/main" id="{3CC0E917-857A-4C10-9F45-FB38D456B3A3}"/>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480">
            <a:extLst>
              <a:ext uri="{FF2B5EF4-FFF2-40B4-BE49-F238E27FC236}">
                <a16:creationId xmlns:a16="http://schemas.microsoft.com/office/drawing/2014/main" id="{C0B14897-02A0-4A1F-9B4D-C6F6E5AF0F2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481">
            <a:extLst>
              <a:ext uri="{FF2B5EF4-FFF2-40B4-BE49-F238E27FC236}">
                <a16:creationId xmlns:a16="http://schemas.microsoft.com/office/drawing/2014/main" id="{2B189D18-A284-4CF0-B50E-213446B7E435}"/>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482">
            <a:extLst>
              <a:ext uri="{FF2B5EF4-FFF2-40B4-BE49-F238E27FC236}">
                <a16:creationId xmlns:a16="http://schemas.microsoft.com/office/drawing/2014/main" id="{019DF6C3-B059-4B83-B9D7-5FE3EB03AC83}"/>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Optional GSTIN and legal-name fields</a:t>
            </a:r>
          </a:p>
        </p:txBody>
      </p:sp>
      <p:sp>
        <p:nvSpPr>
          <p:cNvPr id="12" name="text-483">
            <a:extLst>
              <a:ext uri="{FF2B5EF4-FFF2-40B4-BE49-F238E27FC236}">
                <a16:creationId xmlns:a16="http://schemas.microsoft.com/office/drawing/2014/main" id="{ED688991-D28D-4246-A0E4-2CA158BBDC46}"/>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484">
            <a:extLst>
              <a:ext uri="{FF2B5EF4-FFF2-40B4-BE49-F238E27FC236}">
                <a16:creationId xmlns:a16="http://schemas.microsoft.com/office/drawing/2014/main" id="{AF0B67A5-3F65-4077-8697-8FD83BFB8F5E}"/>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485">
            <a:extLst>
              <a:ext uri="{FF2B5EF4-FFF2-40B4-BE49-F238E27FC236}">
                <a16:creationId xmlns:a16="http://schemas.microsoft.com/office/drawing/2014/main" id="{6B4C548F-8005-4946-8FB0-8D77B61E8E84}"/>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486">
            <a:extLst>
              <a:ext uri="{FF2B5EF4-FFF2-40B4-BE49-F238E27FC236}">
                <a16:creationId xmlns:a16="http://schemas.microsoft.com/office/drawing/2014/main" id="{B801EEE6-690B-439C-9DDA-DDC02719E9BC}"/>
              </a:ext>
            </a:extLst>
          </p:cNvPr>
          <p:cNvSpPr>
            <a:spLocks noGrp="1"/>
          </p:cNvSpPr>
          <p:nvPr/>
        </p:nvSpPr>
        <p:spPr>
          <a:xfrm>
            <a:off x="647700" y="3219450"/>
            <a:ext cx="114300" cy="800100"/>
          </a:xfrm>
          <a:prstGeom prst="rect">
            <a:avLst/>
          </a:prstGeom>
          <a:solidFill>
            <a:srgbClr val="465665"/>
          </a:solidFill>
          <a:ln w="0">
            <a:noFill/>
            <a:prstDash val="solid"/>
          </a:ln>
        </p:spPr>
        <p:txBody>
          <a:bodyPr/>
          <a:lstStyle/>
          <a:p>
            <a:endParaRPr lang="en-US"/>
          </a:p>
        </p:txBody>
      </p:sp>
      <p:sp>
        <p:nvSpPr>
          <p:cNvPr id="16" name="text-487">
            <a:extLst>
              <a:ext uri="{FF2B5EF4-FFF2-40B4-BE49-F238E27FC236}">
                <a16:creationId xmlns:a16="http://schemas.microsoft.com/office/drawing/2014/main" id="{7BF9778F-1B86-4376-B499-0DD51188FF90}"/>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488">
            <a:extLst>
              <a:ext uri="{FF2B5EF4-FFF2-40B4-BE49-F238E27FC236}">
                <a16:creationId xmlns:a16="http://schemas.microsoft.com/office/drawing/2014/main" id="{59BF3B25-7F8B-4B40-9539-FED38B2DF730}"/>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Consumer invoice only</a:t>
            </a:r>
          </a:p>
        </p:txBody>
      </p:sp>
      <p:sp>
        <p:nvSpPr>
          <p:cNvPr id="18" name="text-489">
            <a:extLst>
              <a:ext uri="{FF2B5EF4-FFF2-40B4-BE49-F238E27FC236}">
                <a16:creationId xmlns:a16="http://schemas.microsoft.com/office/drawing/2014/main" id="{8EDD5DBC-88AB-49EE-B1F4-CBA95978C87D}"/>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490">
            <a:extLst>
              <a:ext uri="{FF2B5EF4-FFF2-40B4-BE49-F238E27FC236}">
                <a16:creationId xmlns:a16="http://schemas.microsoft.com/office/drawing/2014/main" id="{BD457EB4-6389-4003-9FA0-FF4372BCBC2E}"/>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491">
            <a:extLst>
              <a:ext uri="{FF2B5EF4-FFF2-40B4-BE49-F238E27FC236}">
                <a16:creationId xmlns:a16="http://schemas.microsoft.com/office/drawing/2014/main" id="{3471B3BB-F70D-444E-ACD5-356E48016CB4}"/>
              </a:ext>
            </a:extLst>
          </p:cNvPr>
          <p:cNvSpPr>
            <a:spLocks noGrp="1"/>
          </p:cNvSpPr>
          <p:nvPr/>
        </p:nvSpPr>
        <p:spPr>
          <a:xfrm>
            <a:off x="647700" y="4171950"/>
            <a:ext cx="114300" cy="800100"/>
          </a:xfrm>
          <a:prstGeom prst="rect">
            <a:avLst/>
          </a:prstGeom>
          <a:solidFill>
            <a:srgbClr val="465665"/>
          </a:solidFill>
          <a:ln w="0">
            <a:noFill/>
            <a:prstDash val="solid"/>
          </a:ln>
        </p:spPr>
        <p:txBody>
          <a:bodyPr/>
          <a:lstStyle/>
          <a:p>
            <a:endParaRPr lang="en-US"/>
          </a:p>
        </p:txBody>
      </p:sp>
      <p:sp>
        <p:nvSpPr>
          <p:cNvPr id="21" name="text-492">
            <a:extLst>
              <a:ext uri="{FF2B5EF4-FFF2-40B4-BE49-F238E27FC236}">
                <a16:creationId xmlns:a16="http://schemas.microsoft.com/office/drawing/2014/main" id="{776487C6-8D65-43DC-A93E-603BFFCEA8D1}"/>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493">
            <a:extLst>
              <a:ext uri="{FF2B5EF4-FFF2-40B4-BE49-F238E27FC236}">
                <a16:creationId xmlns:a16="http://schemas.microsoft.com/office/drawing/2014/main" id="{DE3F6C71-20E2-45A6-BE36-D1A29CF9E2F1}"/>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Always require GST fields</a:t>
            </a:r>
          </a:p>
        </p:txBody>
      </p:sp>
      <p:sp>
        <p:nvSpPr>
          <p:cNvPr id="23" name="text-494">
            <a:extLst>
              <a:ext uri="{FF2B5EF4-FFF2-40B4-BE49-F238E27FC236}">
                <a16:creationId xmlns:a16="http://schemas.microsoft.com/office/drawing/2014/main" id="{EBEE8764-820A-4E24-AB29-5FB9630D7764}"/>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495">
            <a:extLst>
              <a:ext uri="{FF2B5EF4-FFF2-40B4-BE49-F238E27FC236}">
                <a16:creationId xmlns:a16="http://schemas.microsoft.com/office/drawing/2014/main" id="{D2A1F40F-CCDF-4AE9-9BAC-AD7A4668E38F}"/>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496">
            <a:extLst>
              <a:ext uri="{FF2B5EF4-FFF2-40B4-BE49-F238E27FC236}">
                <a16:creationId xmlns:a16="http://schemas.microsoft.com/office/drawing/2014/main" id="{60AAF513-9869-4C88-80BD-7B39AB3408E7}"/>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497">
            <a:extLst>
              <a:ext uri="{FF2B5EF4-FFF2-40B4-BE49-F238E27FC236}">
                <a16:creationId xmlns:a16="http://schemas.microsoft.com/office/drawing/2014/main" id="{63956D70-3330-446A-88CC-DA8DB1660665}"/>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498">
            <a:extLst>
              <a:ext uri="{FF2B5EF4-FFF2-40B4-BE49-F238E27FC236}">
                <a16:creationId xmlns:a16="http://schemas.microsoft.com/office/drawing/2014/main" id="{D7675F3A-7551-447B-8257-13D072D0A502}"/>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499">
            <a:extLst>
              <a:ext uri="{FF2B5EF4-FFF2-40B4-BE49-F238E27FC236}">
                <a16:creationId xmlns:a16="http://schemas.microsoft.com/office/drawing/2014/main" id="{80713092-7982-425C-A4A9-912DDEE15466}"/>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500">
            <a:extLst>
              <a:ext uri="{FF2B5EF4-FFF2-40B4-BE49-F238E27FC236}">
                <a16:creationId xmlns:a16="http://schemas.microsoft.com/office/drawing/2014/main" id="{5D324A30-6FBA-4293-B8C2-75FCA4B89C41}"/>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CHECKOUT &amp; IDENTITY</a:t>
            </a:r>
          </a:p>
        </p:txBody>
      </p:sp>
      <p:sp>
        <p:nvSpPr>
          <p:cNvPr id="30" name="text-501">
            <a:extLst>
              <a:ext uri="{FF2B5EF4-FFF2-40B4-BE49-F238E27FC236}">
                <a16:creationId xmlns:a16="http://schemas.microsoft.com/office/drawing/2014/main" id="{E1161C80-BC22-4CFA-8BC3-727B266BDF41}"/>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Q17 / 49</a:t>
            </a:r>
          </a:p>
        </p:txBody>
      </p:sp>
    </p:spTree>
    <p:extLst>
      <p:ext uri="{BB962C8B-B14F-4D97-AF65-F5344CB8AC3E}">
        <p14:creationId xmlns:p14="http://schemas.microsoft.com/office/powerpoint/2010/main" val="1032097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502">
            <a:extLst>
              <a:ext uri="{FF2B5EF4-FFF2-40B4-BE49-F238E27FC236}">
                <a16:creationId xmlns:a16="http://schemas.microsoft.com/office/drawing/2014/main" id="{3B3CA8F2-52E7-4BD9-9341-EF418C173FB2}"/>
              </a:ext>
            </a:extLst>
          </p:cNvPr>
          <p:cNvSpPr>
            <a:spLocks noGrp="1"/>
          </p:cNvSpPr>
          <p:nvPr/>
        </p:nvSpPr>
        <p:spPr>
          <a:xfrm>
            <a:off x="647700" y="438150"/>
            <a:ext cx="104775" cy="247650"/>
          </a:xfrm>
          <a:prstGeom prst="rect">
            <a:avLst/>
          </a:prstGeom>
          <a:solidFill>
            <a:srgbClr val="465665"/>
          </a:solidFill>
          <a:ln w="0">
            <a:noFill/>
            <a:prstDash val="solid"/>
          </a:ln>
        </p:spPr>
        <p:txBody>
          <a:bodyPr/>
          <a:lstStyle/>
          <a:p>
            <a:endParaRPr lang="en-US"/>
          </a:p>
        </p:txBody>
      </p:sp>
      <p:sp>
        <p:nvSpPr>
          <p:cNvPr id="3" name="text-503">
            <a:extLst>
              <a:ext uri="{FF2B5EF4-FFF2-40B4-BE49-F238E27FC236}">
                <a16:creationId xmlns:a16="http://schemas.microsoft.com/office/drawing/2014/main" id="{1AF5C327-872F-4AFB-A46E-930252CEC507}"/>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CHECKOUT &amp; IDENTITY</a:t>
            </a:r>
          </a:p>
        </p:txBody>
      </p:sp>
      <p:sp>
        <p:nvSpPr>
          <p:cNvPr id="4" name="text-504">
            <a:extLst>
              <a:ext uri="{FF2B5EF4-FFF2-40B4-BE49-F238E27FC236}">
                <a16:creationId xmlns:a16="http://schemas.microsoft.com/office/drawing/2014/main" id="{0D46904E-2BC4-4CCC-B7E8-BDCF25E43C02}"/>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Q18</a:t>
            </a:r>
          </a:p>
        </p:txBody>
      </p:sp>
      <p:sp>
        <p:nvSpPr>
          <p:cNvPr id="5" name="text-505">
            <a:extLst>
              <a:ext uri="{FF2B5EF4-FFF2-40B4-BE49-F238E27FC236}">
                <a16:creationId xmlns:a16="http://schemas.microsoft.com/office/drawing/2014/main" id="{8860E77E-CA43-4792-AE83-15BB68D7819C}"/>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age-access rule should the storefront enforce?</a:t>
            </a:r>
          </a:p>
        </p:txBody>
      </p:sp>
      <p:sp>
        <p:nvSpPr>
          <p:cNvPr id="6" name="text-506">
            <a:extLst>
              <a:ext uri="{FF2B5EF4-FFF2-40B4-BE49-F238E27FC236}">
                <a16:creationId xmlns:a16="http://schemas.microsoft.com/office/drawing/2014/main" id="{00DB9FCF-EAB0-4F37-8DD8-7E0F9FDA08AA}"/>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465665"/>
                </a:solidFill>
                <a:latin typeface="Bahnschrift"/>
                <a:ea typeface="Bahnschrift"/>
                <a:cs typeface="Bahnschrift"/>
              </a:defRPr>
            </a:pPr>
            <a:r>
              <a:rPr sz="1050" b="1">
                <a:solidFill>
                  <a:srgbClr val="465665"/>
                </a:solidFill>
                <a:latin typeface="Bahnschrift"/>
                <a:ea typeface="Bahnschrift"/>
                <a:cs typeface="Bahnschrift"/>
              </a:rPr>
              <a:t>SYSTEM IMPACT</a:t>
            </a:r>
          </a:p>
        </p:txBody>
      </p:sp>
      <p:sp>
        <p:nvSpPr>
          <p:cNvPr id="7" name="text-507">
            <a:extLst>
              <a:ext uri="{FF2B5EF4-FFF2-40B4-BE49-F238E27FC236}">
                <a16:creationId xmlns:a16="http://schemas.microsoft.com/office/drawing/2014/main" id="{BEC7901A-80D8-411A-823B-0E9C8C25CB2F}"/>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Separates unrestricted browsing from purchaser eligibility.</a:t>
            </a:r>
          </a:p>
        </p:txBody>
      </p:sp>
      <p:sp>
        <p:nvSpPr>
          <p:cNvPr id="8" name="rect-508">
            <a:extLst>
              <a:ext uri="{FF2B5EF4-FFF2-40B4-BE49-F238E27FC236}">
                <a16:creationId xmlns:a16="http://schemas.microsoft.com/office/drawing/2014/main" id="{D34A9A8A-4086-41C0-939A-991D7018841A}"/>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509">
            <a:extLst>
              <a:ext uri="{FF2B5EF4-FFF2-40B4-BE49-F238E27FC236}">
                <a16:creationId xmlns:a16="http://schemas.microsoft.com/office/drawing/2014/main" id="{37709ACA-55C9-4364-8BCA-99D544F5446E}"/>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510">
            <a:extLst>
              <a:ext uri="{FF2B5EF4-FFF2-40B4-BE49-F238E27FC236}">
                <a16:creationId xmlns:a16="http://schemas.microsoft.com/office/drawing/2014/main" id="{D7A00BF6-5271-4405-B7A5-74F40ACC5F4F}"/>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511">
            <a:extLst>
              <a:ext uri="{FF2B5EF4-FFF2-40B4-BE49-F238E27FC236}">
                <a16:creationId xmlns:a16="http://schemas.microsoft.com/office/drawing/2014/main" id="{C09D062D-962C-4627-8805-264654BEF8F8}"/>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Anyone may browse; adults may purchase</a:t>
            </a:r>
          </a:p>
        </p:txBody>
      </p:sp>
      <p:sp>
        <p:nvSpPr>
          <p:cNvPr id="12" name="text-512">
            <a:extLst>
              <a:ext uri="{FF2B5EF4-FFF2-40B4-BE49-F238E27FC236}">
                <a16:creationId xmlns:a16="http://schemas.microsoft.com/office/drawing/2014/main" id="{0F941C63-4BA9-4A34-8705-189398102B5E}"/>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513">
            <a:extLst>
              <a:ext uri="{FF2B5EF4-FFF2-40B4-BE49-F238E27FC236}">
                <a16:creationId xmlns:a16="http://schemas.microsoft.com/office/drawing/2014/main" id="{52DEEBE5-62BC-42AB-923A-B99FB2A3CFEC}"/>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514">
            <a:extLst>
              <a:ext uri="{FF2B5EF4-FFF2-40B4-BE49-F238E27FC236}">
                <a16:creationId xmlns:a16="http://schemas.microsoft.com/office/drawing/2014/main" id="{E3D6EA2E-0964-4129-941A-727497811397}"/>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515">
            <a:extLst>
              <a:ext uri="{FF2B5EF4-FFF2-40B4-BE49-F238E27FC236}">
                <a16:creationId xmlns:a16="http://schemas.microsoft.com/office/drawing/2014/main" id="{C8BE8925-4F3B-4B5C-9E8C-1DB1A4255E6A}"/>
              </a:ext>
            </a:extLst>
          </p:cNvPr>
          <p:cNvSpPr>
            <a:spLocks noGrp="1"/>
          </p:cNvSpPr>
          <p:nvPr/>
        </p:nvSpPr>
        <p:spPr>
          <a:xfrm>
            <a:off x="647700" y="3219450"/>
            <a:ext cx="114300" cy="800100"/>
          </a:xfrm>
          <a:prstGeom prst="rect">
            <a:avLst/>
          </a:prstGeom>
          <a:solidFill>
            <a:srgbClr val="465665"/>
          </a:solidFill>
          <a:ln w="0">
            <a:noFill/>
            <a:prstDash val="solid"/>
          </a:ln>
        </p:spPr>
        <p:txBody>
          <a:bodyPr/>
          <a:lstStyle/>
          <a:p>
            <a:endParaRPr lang="en-US"/>
          </a:p>
        </p:txBody>
      </p:sp>
      <p:sp>
        <p:nvSpPr>
          <p:cNvPr id="16" name="text-516">
            <a:extLst>
              <a:ext uri="{FF2B5EF4-FFF2-40B4-BE49-F238E27FC236}">
                <a16:creationId xmlns:a16="http://schemas.microsoft.com/office/drawing/2014/main" id="{18E5E3E3-5A26-464D-ABA6-22A2A509F631}"/>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517">
            <a:extLst>
              <a:ext uri="{FF2B5EF4-FFF2-40B4-BE49-F238E27FC236}">
                <a16:creationId xmlns:a16="http://schemas.microsoft.com/office/drawing/2014/main" id="{026827B1-5879-4F12-B7FB-D2E55AE2380F}"/>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Require a guardian-dependent profile</a:t>
            </a:r>
          </a:p>
        </p:txBody>
      </p:sp>
      <p:sp>
        <p:nvSpPr>
          <p:cNvPr id="18" name="text-518">
            <a:extLst>
              <a:ext uri="{FF2B5EF4-FFF2-40B4-BE49-F238E27FC236}">
                <a16:creationId xmlns:a16="http://schemas.microsoft.com/office/drawing/2014/main" id="{20C4F1E0-7858-4E28-A627-263DFB2538FB}"/>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519">
            <a:extLst>
              <a:ext uri="{FF2B5EF4-FFF2-40B4-BE49-F238E27FC236}">
                <a16:creationId xmlns:a16="http://schemas.microsoft.com/office/drawing/2014/main" id="{C29DE73D-F9C5-4B2E-B8A6-008BF704CFDB}"/>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520">
            <a:extLst>
              <a:ext uri="{FF2B5EF4-FFF2-40B4-BE49-F238E27FC236}">
                <a16:creationId xmlns:a16="http://schemas.microsoft.com/office/drawing/2014/main" id="{A1777DA2-86A2-41FD-84A3-DA9204D7F647}"/>
              </a:ext>
            </a:extLst>
          </p:cNvPr>
          <p:cNvSpPr>
            <a:spLocks noGrp="1"/>
          </p:cNvSpPr>
          <p:nvPr/>
        </p:nvSpPr>
        <p:spPr>
          <a:xfrm>
            <a:off x="647700" y="4171950"/>
            <a:ext cx="114300" cy="800100"/>
          </a:xfrm>
          <a:prstGeom prst="rect">
            <a:avLst/>
          </a:prstGeom>
          <a:solidFill>
            <a:srgbClr val="465665"/>
          </a:solidFill>
          <a:ln w="0">
            <a:noFill/>
            <a:prstDash val="solid"/>
          </a:ln>
        </p:spPr>
        <p:txBody>
          <a:bodyPr/>
          <a:lstStyle/>
          <a:p>
            <a:endParaRPr lang="en-US"/>
          </a:p>
        </p:txBody>
      </p:sp>
      <p:sp>
        <p:nvSpPr>
          <p:cNvPr id="21" name="text-521">
            <a:extLst>
              <a:ext uri="{FF2B5EF4-FFF2-40B4-BE49-F238E27FC236}">
                <a16:creationId xmlns:a16="http://schemas.microsoft.com/office/drawing/2014/main" id="{27158763-2F3E-4495-92E4-CD41C65A2468}"/>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522">
            <a:extLst>
              <a:ext uri="{FF2B5EF4-FFF2-40B4-BE49-F238E27FC236}">
                <a16:creationId xmlns:a16="http://schemas.microsoft.com/office/drawing/2014/main" id="{CAA1169F-73E0-4DCE-9E44-E1CE2EA40009}"/>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Allow standalone minor accounts</a:t>
            </a:r>
          </a:p>
        </p:txBody>
      </p:sp>
      <p:sp>
        <p:nvSpPr>
          <p:cNvPr id="23" name="text-523">
            <a:extLst>
              <a:ext uri="{FF2B5EF4-FFF2-40B4-BE49-F238E27FC236}">
                <a16:creationId xmlns:a16="http://schemas.microsoft.com/office/drawing/2014/main" id="{8FBC373A-1C75-4C24-9E0D-7DA212D8B898}"/>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524">
            <a:extLst>
              <a:ext uri="{FF2B5EF4-FFF2-40B4-BE49-F238E27FC236}">
                <a16:creationId xmlns:a16="http://schemas.microsoft.com/office/drawing/2014/main" id="{9C21D480-A0DB-4E27-8980-EA8BFCDE82D4}"/>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525">
            <a:extLst>
              <a:ext uri="{FF2B5EF4-FFF2-40B4-BE49-F238E27FC236}">
                <a16:creationId xmlns:a16="http://schemas.microsoft.com/office/drawing/2014/main" id="{C3718E4E-2667-4AD3-AA3C-C3824EC22DFD}"/>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526">
            <a:extLst>
              <a:ext uri="{FF2B5EF4-FFF2-40B4-BE49-F238E27FC236}">
                <a16:creationId xmlns:a16="http://schemas.microsoft.com/office/drawing/2014/main" id="{79C79A35-5E52-42FB-8F81-18ADA1A2D03C}"/>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527">
            <a:extLst>
              <a:ext uri="{FF2B5EF4-FFF2-40B4-BE49-F238E27FC236}">
                <a16:creationId xmlns:a16="http://schemas.microsoft.com/office/drawing/2014/main" id="{089856F0-F01B-45EB-B9B5-7BF05BB70B2B}"/>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528">
            <a:extLst>
              <a:ext uri="{FF2B5EF4-FFF2-40B4-BE49-F238E27FC236}">
                <a16:creationId xmlns:a16="http://schemas.microsoft.com/office/drawing/2014/main" id="{0DB794C1-E3A7-4961-9692-2DAC3ADEE6BE}"/>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529">
            <a:extLst>
              <a:ext uri="{FF2B5EF4-FFF2-40B4-BE49-F238E27FC236}">
                <a16:creationId xmlns:a16="http://schemas.microsoft.com/office/drawing/2014/main" id="{8FF92B5F-15CA-4BE0-BBEB-8DA1F5D9EA06}"/>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CHECKOUT &amp; IDENTITY</a:t>
            </a:r>
          </a:p>
        </p:txBody>
      </p:sp>
      <p:sp>
        <p:nvSpPr>
          <p:cNvPr id="30" name="text-530">
            <a:extLst>
              <a:ext uri="{FF2B5EF4-FFF2-40B4-BE49-F238E27FC236}">
                <a16:creationId xmlns:a16="http://schemas.microsoft.com/office/drawing/2014/main" id="{C123AFEC-7F8E-4F23-8A8D-1A15A1B31E6E}"/>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Q18 / 49</a:t>
            </a:r>
          </a:p>
        </p:txBody>
      </p:sp>
    </p:spTree>
    <p:extLst>
      <p:ext uri="{BB962C8B-B14F-4D97-AF65-F5344CB8AC3E}">
        <p14:creationId xmlns:p14="http://schemas.microsoft.com/office/powerpoint/2010/main" val="1415968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531">
            <a:extLst>
              <a:ext uri="{FF2B5EF4-FFF2-40B4-BE49-F238E27FC236}">
                <a16:creationId xmlns:a16="http://schemas.microsoft.com/office/drawing/2014/main" id="{865C4175-67DC-48A6-B1EF-692BD4F99268}"/>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532">
            <a:extLst>
              <a:ext uri="{FF2B5EF4-FFF2-40B4-BE49-F238E27FC236}">
                <a16:creationId xmlns:a16="http://schemas.microsoft.com/office/drawing/2014/main" id="{0BCF5783-94CE-4550-944D-6DBA6E0B713C}"/>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TRUST, PROOF &amp; SAFETY</a:t>
            </a:r>
          </a:p>
        </p:txBody>
      </p:sp>
      <p:sp>
        <p:nvSpPr>
          <p:cNvPr id="4" name="text-533">
            <a:extLst>
              <a:ext uri="{FF2B5EF4-FFF2-40B4-BE49-F238E27FC236}">
                <a16:creationId xmlns:a16="http://schemas.microsoft.com/office/drawing/2014/main" id="{4AED2FD4-F225-4487-834B-E884E4B7D889}"/>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Q19</a:t>
            </a:r>
          </a:p>
        </p:txBody>
      </p:sp>
      <p:sp>
        <p:nvSpPr>
          <p:cNvPr id="5" name="text-534">
            <a:extLst>
              <a:ext uri="{FF2B5EF4-FFF2-40B4-BE49-F238E27FC236}">
                <a16:creationId xmlns:a16="http://schemas.microsoft.com/office/drawing/2014/main" id="{E0CC3743-1DD1-4544-989C-B635B0C2489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When must traceability be available?</a:t>
            </a:r>
          </a:p>
        </p:txBody>
      </p:sp>
      <p:sp>
        <p:nvSpPr>
          <p:cNvPr id="6" name="text-535">
            <a:extLst>
              <a:ext uri="{FF2B5EF4-FFF2-40B4-BE49-F238E27FC236}">
                <a16:creationId xmlns:a16="http://schemas.microsoft.com/office/drawing/2014/main" id="{6F71E488-814F-4919-B561-CEDA4B3BCA9C}"/>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536">
            <a:extLst>
              <a:ext uri="{FF2B5EF4-FFF2-40B4-BE49-F238E27FC236}">
                <a16:creationId xmlns:a16="http://schemas.microsoft.com/office/drawing/2014/main" id="{487A47C3-D1DB-4EF6-A0A7-8791C2690D72}"/>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the non-negotiable product and batch publication gate.</a:t>
            </a:r>
          </a:p>
        </p:txBody>
      </p:sp>
      <p:sp>
        <p:nvSpPr>
          <p:cNvPr id="8" name="rect-537">
            <a:extLst>
              <a:ext uri="{FF2B5EF4-FFF2-40B4-BE49-F238E27FC236}">
                <a16:creationId xmlns:a16="http://schemas.microsoft.com/office/drawing/2014/main" id="{A2D43DC4-4659-44B9-ABF5-3CD12860A2E9}"/>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538">
            <a:extLst>
              <a:ext uri="{FF2B5EF4-FFF2-40B4-BE49-F238E27FC236}">
                <a16:creationId xmlns:a16="http://schemas.microsoft.com/office/drawing/2014/main" id="{EFC04A33-C3B4-4A38-AD70-993B337287A7}"/>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539">
            <a:extLst>
              <a:ext uri="{FF2B5EF4-FFF2-40B4-BE49-F238E27FC236}">
                <a16:creationId xmlns:a16="http://schemas.microsoft.com/office/drawing/2014/main" id="{D83F1898-7B9F-4B8B-9808-09794755D64A}"/>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540">
            <a:extLst>
              <a:ext uri="{FF2B5EF4-FFF2-40B4-BE49-F238E27FC236}">
                <a16:creationId xmlns:a16="http://schemas.microsoft.com/office/drawing/2014/main" id="{A116F22A-A551-487D-9D83-6100A62229DA}"/>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Before any batch may be sold</a:t>
            </a:r>
          </a:p>
        </p:txBody>
      </p:sp>
      <p:sp>
        <p:nvSpPr>
          <p:cNvPr id="12" name="text-541">
            <a:extLst>
              <a:ext uri="{FF2B5EF4-FFF2-40B4-BE49-F238E27FC236}">
                <a16:creationId xmlns:a16="http://schemas.microsoft.com/office/drawing/2014/main" id="{A9D8B8C2-CAEE-4097-86D9-9F8ABBEBDBF0}"/>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542">
            <a:extLst>
              <a:ext uri="{FF2B5EF4-FFF2-40B4-BE49-F238E27FC236}">
                <a16:creationId xmlns:a16="http://schemas.microsoft.com/office/drawing/2014/main" id="{FD743BB8-F7CB-4455-975C-837D6BCBD68E}"/>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543">
            <a:extLst>
              <a:ext uri="{FF2B5EF4-FFF2-40B4-BE49-F238E27FC236}">
                <a16:creationId xmlns:a16="http://schemas.microsoft.com/office/drawing/2014/main" id="{4106230C-5E00-4453-BCE8-1CCD0245BCC2}"/>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544">
            <a:extLst>
              <a:ext uri="{FF2B5EF4-FFF2-40B4-BE49-F238E27FC236}">
                <a16:creationId xmlns:a16="http://schemas.microsoft.com/office/drawing/2014/main" id="{913295DC-42C6-4022-9CD7-12921CEB9220}"/>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545">
            <a:extLst>
              <a:ext uri="{FF2B5EF4-FFF2-40B4-BE49-F238E27FC236}">
                <a16:creationId xmlns:a16="http://schemas.microsoft.com/office/drawing/2014/main" id="{58EF2F7B-C52B-4E13-9186-D7F0FAEAF8D7}"/>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546">
            <a:extLst>
              <a:ext uri="{FF2B5EF4-FFF2-40B4-BE49-F238E27FC236}">
                <a16:creationId xmlns:a16="http://schemas.microsoft.com/office/drawing/2014/main" id="{378E0A80-8C96-493E-8239-3986F8DDFDF4}"/>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Roll out traceability after commerce launch</a:t>
            </a:r>
          </a:p>
        </p:txBody>
      </p:sp>
      <p:sp>
        <p:nvSpPr>
          <p:cNvPr id="18" name="text-547">
            <a:extLst>
              <a:ext uri="{FF2B5EF4-FFF2-40B4-BE49-F238E27FC236}">
                <a16:creationId xmlns:a16="http://schemas.microsoft.com/office/drawing/2014/main" id="{B73B104C-78F8-45CD-913C-ED238FAAFF34}"/>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548">
            <a:extLst>
              <a:ext uri="{FF2B5EF4-FFF2-40B4-BE49-F238E27FC236}">
                <a16:creationId xmlns:a16="http://schemas.microsoft.com/office/drawing/2014/main" id="{26A8227B-00EC-4BF1-85AB-3A9210366FB3}"/>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549">
            <a:extLst>
              <a:ext uri="{FF2B5EF4-FFF2-40B4-BE49-F238E27FC236}">
                <a16:creationId xmlns:a16="http://schemas.microsoft.com/office/drawing/2014/main" id="{3D5577A8-61EA-4289-B7EA-195D5A354658}"/>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550">
            <a:extLst>
              <a:ext uri="{FF2B5EF4-FFF2-40B4-BE49-F238E27FC236}">
                <a16:creationId xmlns:a16="http://schemas.microsoft.com/office/drawing/2014/main" id="{5D387E42-6388-403A-BB1D-2B5873849FC2}"/>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551">
            <a:extLst>
              <a:ext uri="{FF2B5EF4-FFF2-40B4-BE49-F238E27FC236}">
                <a16:creationId xmlns:a16="http://schemas.microsoft.com/office/drawing/2014/main" id="{5335D98D-F227-4A41-9B75-8772B51EE0FA}"/>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Provide only a general transparency explainer</a:t>
            </a:r>
          </a:p>
        </p:txBody>
      </p:sp>
      <p:sp>
        <p:nvSpPr>
          <p:cNvPr id="23" name="text-552">
            <a:extLst>
              <a:ext uri="{FF2B5EF4-FFF2-40B4-BE49-F238E27FC236}">
                <a16:creationId xmlns:a16="http://schemas.microsoft.com/office/drawing/2014/main" id="{7F67DA07-0891-47C6-85B1-0357E16AF76C}"/>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553">
            <a:extLst>
              <a:ext uri="{FF2B5EF4-FFF2-40B4-BE49-F238E27FC236}">
                <a16:creationId xmlns:a16="http://schemas.microsoft.com/office/drawing/2014/main" id="{DFE71481-6604-4EE6-B63F-1982D3A03594}"/>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554">
            <a:extLst>
              <a:ext uri="{FF2B5EF4-FFF2-40B4-BE49-F238E27FC236}">
                <a16:creationId xmlns:a16="http://schemas.microsoft.com/office/drawing/2014/main" id="{7722F4C9-D193-416C-86B3-C2547A98EC7E}"/>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555">
            <a:extLst>
              <a:ext uri="{FF2B5EF4-FFF2-40B4-BE49-F238E27FC236}">
                <a16:creationId xmlns:a16="http://schemas.microsoft.com/office/drawing/2014/main" id="{26C51E39-9BE5-40D8-9B9B-408C40D3A42E}"/>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556">
            <a:extLst>
              <a:ext uri="{FF2B5EF4-FFF2-40B4-BE49-F238E27FC236}">
                <a16:creationId xmlns:a16="http://schemas.microsoft.com/office/drawing/2014/main" id="{4E3B30FC-BD5D-427A-9DC6-53E0CA76009B}"/>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557">
            <a:extLst>
              <a:ext uri="{FF2B5EF4-FFF2-40B4-BE49-F238E27FC236}">
                <a16:creationId xmlns:a16="http://schemas.microsoft.com/office/drawing/2014/main" id="{18947689-6FA3-49D2-A438-0FDC6D9C07A7}"/>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558">
            <a:extLst>
              <a:ext uri="{FF2B5EF4-FFF2-40B4-BE49-F238E27FC236}">
                <a16:creationId xmlns:a16="http://schemas.microsoft.com/office/drawing/2014/main" id="{C8B59F84-68B7-43FB-A7F1-171143D99F53}"/>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TRUST, PROOF &amp; SAFETY</a:t>
            </a:r>
          </a:p>
        </p:txBody>
      </p:sp>
      <p:sp>
        <p:nvSpPr>
          <p:cNvPr id="30" name="text-559">
            <a:extLst>
              <a:ext uri="{FF2B5EF4-FFF2-40B4-BE49-F238E27FC236}">
                <a16:creationId xmlns:a16="http://schemas.microsoft.com/office/drawing/2014/main" id="{A5B86288-525C-43E2-B13B-6158E4C880E1}"/>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Q19 / 49</a:t>
            </a:r>
          </a:p>
        </p:txBody>
      </p:sp>
    </p:spTree>
    <p:extLst>
      <p:ext uri="{BB962C8B-B14F-4D97-AF65-F5344CB8AC3E}">
        <p14:creationId xmlns:p14="http://schemas.microsoft.com/office/powerpoint/2010/main" val="1856855565"/>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560">
            <a:extLst>
              <a:ext uri="{FF2B5EF4-FFF2-40B4-BE49-F238E27FC236}">
                <a16:creationId xmlns:a16="http://schemas.microsoft.com/office/drawing/2014/main" id="{75B94A82-348E-4228-A023-AEF3B9B9A960}"/>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561">
            <a:extLst>
              <a:ext uri="{FF2B5EF4-FFF2-40B4-BE49-F238E27FC236}">
                <a16:creationId xmlns:a16="http://schemas.microsoft.com/office/drawing/2014/main" id="{621C9CDB-7722-47F2-AD7E-49E1BB4ED525}"/>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TRUST, PROOF &amp; SAFETY</a:t>
            </a:r>
          </a:p>
        </p:txBody>
      </p:sp>
      <p:sp>
        <p:nvSpPr>
          <p:cNvPr id="4" name="text-562">
            <a:extLst>
              <a:ext uri="{FF2B5EF4-FFF2-40B4-BE49-F238E27FC236}">
                <a16:creationId xmlns:a16="http://schemas.microsoft.com/office/drawing/2014/main" id="{9D09DE85-92CB-4901-828B-E4707F44A471}"/>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Q20</a:t>
            </a:r>
          </a:p>
        </p:txBody>
      </p:sp>
      <p:sp>
        <p:nvSpPr>
          <p:cNvPr id="5" name="text-563">
            <a:extLst>
              <a:ext uri="{FF2B5EF4-FFF2-40B4-BE49-F238E27FC236}">
                <a16:creationId xmlns:a16="http://schemas.microsoft.com/office/drawing/2014/main" id="{992AAF93-9F96-4F38-960A-AC54884260F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product-verification model should v1 use?</a:t>
            </a:r>
          </a:p>
        </p:txBody>
      </p:sp>
      <p:sp>
        <p:nvSpPr>
          <p:cNvPr id="6" name="text-564">
            <a:extLst>
              <a:ext uri="{FF2B5EF4-FFF2-40B4-BE49-F238E27FC236}">
                <a16:creationId xmlns:a16="http://schemas.microsoft.com/office/drawing/2014/main" id="{A451920C-166A-4F42-BCB1-ACACC2194EA5}"/>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565">
            <a:extLst>
              <a:ext uri="{FF2B5EF4-FFF2-40B4-BE49-F238E27FC236}">
                <a16:creationId xmlns:a16="http://schemas.microsoft.com/office/drawing/2014/main" id="{A91DBB23-FA19-4D21-B192-AF9B2AEAE30D}"/>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public batch proof and per-unit authenticity controls.</a:t>
            </a:r>
          </a:p>
        </p:txBody>
      </p:sp>
      <p:sp>
        <p:nvSpPr>
          <p:cNvPr id="8" name="rect-566">
            <a:extLst>
              <a:ext uri="{FF2B5EF4-FFF2-40B4-BE49-F238E27FC236}">
                <a16:creationId xmlns:a16="http://schemas.microsoft.com/office/drawing/2014/main" id="{1398FA6B-DA38-4FB8-9FB1-E34F3563DFC0}"/>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567">
            <a:extLst>
              <a:ext uri="{FF2B5EF4-FFF2-40B4-BE49-F238E27FC236}">
                <a16:creationId xmlns:a16="http://schemas.microsoft.com/office/drawing/2014/main" id="{616D2949-4A30-44D9-A332-2FDAA9CD7AC9}"/>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568">
            <a:extLst>
              <a:ext uri="{FF2B5EF4-FFF2-40B4-BE49-F238E27FC236}">
                <a16:creationId xmlns:a16="http://schemas.microsoft.com/office/drawing/2014/main" id="{269DAB78-8436-4B9B-861E-6B9C9F297D31}"/>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569">
            <a:extLst>
              <a:ext uri="{FF2B5EF4-FFF2-40B4-BE49-F238E27FC236}">
                <a16:creationId xmlns:a16="http://schemas.microsoft.com/office/drawing/2014/main" id="{C9C72D68-F06B-48DC-AF55-61970308F2D1}"/>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Public batch QR plus concealed unit code</a:t>
            </a:r>
          </a:p>
        </p:txBody>
      </p:sp>
      <p:sp>
        <p:nvSpPr>
          <p:cNvPr id="12" name="text-570">
            <a:extLst>
              <a:ext uri="{FF2B5EF4-FFF2-40B4-BE49-F238E27FC236}">
                <a16:creationId xmlns:a16="http://schemas.microsoft.com/office/drawing/2014/main" id="{4A525258-E5C1-449C-A598-9A31AA5AEE63}"/>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571">
            <a:extLst>
              <a:ext uri="{FF2B5EF4-FFF2-40B4-BE49-F238E27FC236}">
                <a16:creationId xmlns:a16="http://schemas.microsoft.com/office/drawing/2014/main" id="{2C110412-7724-472B-B41B-F9B354BAAEFA}"/>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572">
            <a:extLst>
              <a:ext uri="{FF2B5EF4-FFF2-40B4-BE49-F238E27FC236}">
                <a16:creationId xmlns:a16="http://schemas.microsoft.com/office/drawing/2014/main" id="{DEAB905F-360D-428B-93B8-E9156176E379}"/>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573">
            <a:extLst>
              <a:ext uri="{FF2B5EF4-FFF2-40B4-BE49-F238E27FC236}">
                <a16:creationId xmlns:a16="http://schemas.microsoft.com/office/drawing/2014/main" id="{BB858084-81B4-4439-A8EE-07AAD457AEF3}"/>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574">
            <a:extLst>
              <a:ext uri="{FF2B5EF4-FFF2-40B4-BE49-F238E27FC236}">
                <a16:creationId xmlns:a16="http://schemas.microsoft.com/office/drawing/2014/main" id="{8B684FFB-2271-4837-82CB-519DE9D25B5F}"/>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575">
            <a:extLst>
              <a:ext uri="{FF2B5EF4-FFF2-40B4-BE49-F238E27FC236}">
                <a16:creationId xmlns:a16="http://schemas.microsoft.com/office/drawing/2014/main" id="{B5501E5E-D9E1-4B40-B8C0-D00984C967E4}"/>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Public batch QR only</a:t>
            </a:r>
          </a:p>
        </p:txBody>
      </p:sp>
      <p:sp>
        <p:nvSpPr>
          <p:cNvPr id="18" name="text-576">
            <a:extLst>
              <a:ext uri="{FF2B5EF4-FFF2-40B4-BE49-F238E27FC236}">
                <a16:creationId xmlns:a16="http://schemas.microsoft.com/office/drawing/2014/main" id="{17E91CA4-5FB1-4C5D-85E6-464FAF36A90F}"/>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577">
            <a:extLst>
              <a:ext uri="{FF2B5EF4-FFF2-40B4-BE49-F238E27FC236}">
                <a16:creationId xmlns:a16="http://schemas.microsoft.com/office/drawing/2014/main" id="{99D83F3F-ADDB-40C3-AA13-FCEFBF7A1106}"/>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578">
            <a:extLst>
              <a:ext uri="{FF2B5EF4-FFF2-40B4-BE49-F238E27FC236}">
                <a16:creationId xmlns:a16="http://schemas.microsoft.com/office/drawing/2014/main" id="{38A1B265-C45D-4514-8503-FC897009DA79}"/>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579">
            <a:extLst>
              <a:ext uri="{FF2B5EF4-FFF2-40B4-BE49-F238E27FC236}">
                <a16:creationId xmlns:a16="http://schemas.microsoft.com/office/drawing/2014/main" id="{6FE1464B-7FE7-43DE-B775-DF3E6FC0F478}"/>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580">
            <a:extLst>
              <a:ext uri="{FF2B5EF4-FFF2-40B4-BE49-F238E27FC236}">
                <a16:creationId xmlns:a16="http://schemas.microsoft.com/office/drawing/2014/main" id="{93C22165-B010-4332-BB89-D6902F94A96E}"/>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Unique public QR on every unit</a:t>
            </a:r>
          </a:p>
        </p:txBody>
      </p:sp>
      <p:sp>
        <p:nvSpPr>
          <p:cNvPr id="23" name="text-581">
            <a:extLst>
              <a:ext uri="{FF2B5EF4-FFF2-40B4-BE49-F238E27FC236}">
                <a16:creationId xmlns:a16="http://schemas.microsoft.com/office/drawing/2014/main" id="{785BC0D3-CC70-43B4-810C-3C38BF957B62}"/>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582">
            <a:extLst>
              <a:ext uri="{FF2B5EF4-FFF2-40B4-BE49-F238E27FC236}">
                <a16:creationId xmlns:a16="http://schemas.microsoft.com/office/drawing/2014/main" id="{3A89CE03-A78B-4E13-B783-AF7A8944CD57}"/>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583">
            <a:extLst>
              <a:ext uri="{FF2B5EF4-FFF2-40B4-BE49-F238E27FC236}">
                <a16:creationId xmlns:a16="http://schemas.microsoft.com/office/drawing/2014/main" id="{6312CBD6-A50D-4806-987C-5D61AB975567}"/>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584">
            <a:extLst>
              <a:ext uri="{FF2B5EF4-FFF2-40B4-BE49-F238E27FC236}">
                <a16:creationId xmlns:a16="http://schemas.microsoft.com/office/drawing/2014/main" id="{B9B1808E-F839-424A-9A73-0C1456ACD5B2}"/>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585">
            <a:extLst>
              <a:ext uri="{FF2B5EF4-FFF2-40B4-BE49-F238E27FC236}">
                <a16:creationId xmlns:a16="http://schemas.microsoft.com/office/drawing/2014/main" id="{20C117F5-5FF6-4AE4-A14D-2BAA9020E827}"/>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586">
            <a:extLst>
              <a:ext uri="{FF2B5EF4-FFF2-40B4-BE49-F238E27FC236}">
                <a16:creationId xmlns:a16="http://schemas.microsoft.com/office/drawing/2014/main" id="{D738AD53-A311-4F7D-B3F1-C0076FE25D69}"/>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587">
            <a:extLst>
              <a:ext uri="{FF2B5EF4-FFF2-40B4-BE49-F238E27FC236}">
                <a16:creationId xmlns:a16="http://schemas.microsoft.com/office/drawing/2014/main" id="{B0519881-4582-42A1-A21C-BDC897284231}"/>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TRUST, PROOF &amp; SAFETY</a:t>
            </a:r>
          </a:p>
        </p:txBody>
      </p:sp>
      <p:sp>
        <p:nvSpPr>
          <p:cNvPr id="30" name="text-588">
            <a:extLst>
              <a:ext uri="{FF2B5EF4-FFF2-40B4-BE49-F238E27FC236}">
                <a16:creationId xmlns:a16="http://schemas.microsoft.com/office/drawing/2014/main" id="{9E5D2587-0680-48F0-A261-625E42FDA648}"/>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Q20 / 49</a:t>
            </a:r>
          </a:p>
        </p:txBody>
      </p:sp>
    </p:spTree>
    <p:extLst>
      <p:ext uri="{BB962C8B-B14F-4D97-AF65-F5344CB8AC3E}">
        <p14:creationId xmlns:p14="http://schemas.microsoft.com/office/powerpoint/2010/main" val="778518313"/>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589">
            <a:extLst>
              <a:ext uri="{FF2B5EF4-FFF2-40B4-BE49-F238E27FC236}">
                <a16:creationId xmlns:a16="http://schemas.microsoft.com/office/drawing/2014/main" id="{A1B29836-5DC8-44CB-88D8-2E285648A85F}"/>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590">
            <a:extLst>
              <a:ext uri="{FF2B5EF4-FFF2-40B4-BE49-F238E27FC236}">
                <a16:creationId xmlns:a16="http://schemas.microsoft.com/office/drawing/2014/main" id="{BB3C5532-C847-4117-892D-1ECE3076263C}"/>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TRUST, PROOF &amp; SAFETY</a:t>
            </a:r>
          </a:p>
        </p:txBody>
      </p:sp>
      <p:sp>
        <p:nvSpPr>
          <p:cNvPr id="4" name="text-591">
            <a:extLst>
              <a:ext uri="{FF2B5EF4-FFF2-40B4-BE49-F238E27FC236}">
                <a16:creationId xmlns:a16="http://schemas.microsoft.com/office/drawing/2014/main" id="{F7230560-0049-45DD-89CB-7FB712A636F2}"/>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Q21</a:t>
            </a:r>
          </a:p>
        </p:txBody>
      </p:sp>
      <p:sp>
        <p:nvSpPr>
          <p:cNvPr id="5" name="text-592">
            <a:extLst>
              <a:ext uri="{FF2B5EF4-FFF2-40B4-BE49-F238E27FC236}">
                <a16:creationId xmlns:a16="http://schemas.microsoft.com/office/drawing/2014/main" id="{26DCC25E-997A-496C-8F58-883B76D63AFB}"/>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much batch evidence should customers see?</a:t>
            </a:r>
          </a:p>
        </p:txBody>
      </p:sp>
      <p:sp>
        <p:nvSpPr>
          <p:cNvPr id="6" name="text-593">
            <a:extLst>
              <a:ext uri="{FF2B5EF4-FFF2-40B4-BE49-F238E27FC236}">
                <a16:creationId xmlns:a16="http://schemas.microsoft.com/office/drawing/2014/main" id="{DA102C11-87ED-4131-8F90-59049217C689}"/>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594">
            <a:extLst>
              <a:ext uri="{FF2B5EF4-FFF2-40B4-BE49-F238E27FC236}">
                <a16:creationId xmlns:a16="http://schemas.microsoft.com/office/drawing/2014/main" id="{9ECD0E34-594C-4DC1-8027-4900DBFB1302}"/>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transparency, redaction and document versioning.</a:t>
            </a:r>
          </a:p>
        </p:txBody>
      </p:sp>
      <p:sp>
        <p:nvSpPr>
          <p:cNvPr id="8" name="rect-595">
            <a:extLst>
              <a:ext uri="{FF2B5EF4-FFF2-40B4-BE49-F238E27FC236}">
                <a16:creationId xmlns:a16="http://schemas.microsoft.com/office/drawing/2014/main" id="{70F64CD2-3DB7-47EF-8655-4B3ED9EDD954}"/>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596">
            <a:extLst>
              <a:ext uri="{FF2B5EF4-FFF2-40B4-BE49-F238E27FC236}">
                <a16:creationId xmlns:a16="http://schemas.microsoft.com/office/drawing/2014/main" id="{6D11E084-7BDC-4534-9955-DFF7135C3FCB}"/>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597">
            <a:extLst>
              <a:ext uri="{FF2B5EF4-FFF2-40B4-BE49-F238E27FC236}">
                <a16:creationId xmlns:a16="http://schemas.microsoft.com/office/drawing/2014/main" id="{FE12046D-2CD3-4B48-8820-604ED969DFF7}"/>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598">
            <a:extLst>
              <a:ext uri="{FF2B5EF4-FFF2-40B4-BE49-F238E27FC236}">
                <a16:creationId xmlns:a16="http://schemas.microsoft.com/office/drawing/2014/main" id="{3D424564-A84E-4541-AD48-C442F5FA80ED}"/>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Plain-language summary plus redacted files</a:t>
            </a:r>
          </a:p>
        </p:txBody>
      </p:sp>
      <p:sp>
        <p:nvSpPr>
          <p:cNvPr id="12" name="text-599">
            <a:extLst>
              <a:ext uri="{FF2B5EF4-FFF2-40B4-BE49-F238E27FC236}">
                <a16:creationId xmlns:a16="http://schemas.microsoft.com/office/drawing/2014/main" id="{3516FE18-0A4F-4F4E-9910-457BB73C7B5E}"/>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600">
            <a:extLst>
              <a:ext uri="{FF2B5EF4-FFF2-40B4-BE49-F238E27FC236}">
                <a16:creationId xmlns:a16="http://schemas.microsoft.com/office/drawing/2014/main" id="{806478D0-277F-41D9-BE77-177BF5862726}"/>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601">
            <a:extLst>
              <a:ext uri="{FF2B5EF4-FFF2-40B4-BE49-F238E27FC236}">
                <a16:creationId xmlns:a16="http://schemas.microsoft.com/office/drawing/2014/main" id="{32FBE21C-2600-45B0-9DEB-F241129AA0A8}"/>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602">
            <a:extLst>
              <a:ext uri="{FF2B5EF4-FFF2-40B4-BE49-F238E27FC236}">
                <a16:creationId xmlns:a16="http://schemas.microsoft.com/office/drawing/2014/main" id="{478A23EB-ECFC-409F-8F8B-AACD4149EFF0}"/>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603">
            <a:extLst>
              <a:ext uri="{FF2B5EF4-FFF2-40B4-BE49-F238E27FC236}">
                <a16:creationId xmlns:a16="http://schemas.microsoft.com/office/drawing/2014/main" id="{089BE3DC-D4DA-44BD-BF6C-F3A8822F47BA}"/>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604">
            <a:extLst>
              <a:ext uri="{FF2B5EF4-FFF2-40B4-BE49-F238E27FC236}">
                <a16:creationId xmlns:a16="http://schemas.microsoft.com/office/drawing/2014/main" id="{8B31DF12-0519-4DB0-A99D-A2ED821FB188}"/>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Plain-language summaries only</a:t>
            </a:r>
          </a:p>
        </p:txBody>
      </p:sp>
      <p:sp>
        <p:nvSpPr>
          <p:cNvPr id="18" name="text-605">
            <a:extLst>
              <a:ext uri="{FF2B5EF4-FFF2-40B4-BE49-F238E27FC236}">
                <a16:creationId xmlns:a16="http://schemas.microsoft.com/office/drawing/2014/main" id="{2172912F-E3C9-4D84-AA65-2F3A2211336D}"/>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606">
            <a:extLst>
              <a:ext uri="{FF2B5EF4-FFF2-40B4-BE49-F238E27FC236}">
                <a16:creationId xmlns:a16="http://schemas.microsoft.com/office/drawing/2014/main" id="{667A1230-8436-4D57-A733-454A82B399ED}"/>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607">
            <a:extLst>
              <a:ext uri="{FF2B5EF4-FFF2-40B4-BE49-F238E27FC236}">
                <a16:creationId xmlns:a16="http://schemas.microsoft.com/office/drawing/2014/main" id="{43E58B8C-1DCF-4A55-82AB-8D5D82115037}"/>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608">
            <a:extLst>
              <a:ext uri="{FF2B5EF4-FFF2-40B4-BE49-F238E27FC236}">
                <a16:creationId xmlns:a16="http://schemas.microsoft.com/office/drawing/2014/main" id="{84ADAE19-0BDE-4628-AF7C-47583336525A}"/>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609">
            <a:extLst>
              <a:ext uri="{FF2B5EF4-FFF2-40B4-BE49-F238E27FC236}">
                <a16:creationId xmlns:a16="http://schemas.microsoft.com/office/drawing/2014/main" id="{295468C4-DDDA-4A3E-A73B-A03DBDBC050A}"/>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Redacted files without summaries</a:t>
            </a:r>
          </a:p>
        </p:txBody>
      </p:sp>
      <p:sp>
        <p:nvSpPr>
          <p:cNvPr id="23" name="text-610">
            <a:extLst>
              <a:ext uri="{FF2B5EF4-FFF2-40B4-BE49-F238E27FC236}">
                <a16:creationId xmlns:a16="http://schemas.microsoft.com/office/drawing/2014/main" id="{EBBA19FE-27D7-439B-B9AA-86881E60E81C}"/>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611">
            <a:extLst>
              <a:ext uri="{FF2B5EF4-FFF2-40B4-BE49-F238E27FC236}">
                <a16:creationId xmlns:a16="http://schemas.microsoft.com/office/drawing/2014/main" id="{746B30EF-87FE-403E-B99A-865A1DA894C5}"/>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612">
            <a:extLst>
              <a:ext uri="{FF2B5EF4-FFF2-40B4-BE49-F238E27FC236}">
                <a16:creationId xmlns:a16="http://schemas.microsoft.com/office/drawing/2014/main" id="{572EA2B4-F96C-4AC8-9B1C-EE1B85257A23}"/>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613">
            <a:extLst>
              <a:ext uri="{FF2B5EF4-FFF2-40B4-BE49-F238E27FC236}">
                <a16:creationId xmlns:a16="http://schemas.microsoft.com/office/drawing/2014/main" id="{B429A62D-30F6-49B0-90EC-C8841BEC96E8}"/>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614">
            <a:extLst>
              <a:ext uri="{FF2B5EF4-FFF2-40B4-BE49-F238E27FC236}">
                <a16:creationId xmlns:a16="http://schemas.microsoft.com/office/drawing/2014/main" id="{902463F6-A427-48D9-A939-41ABA1AFDEBF}"/>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615">
            <a:extLst>
              <a:ext uri="{FF2B5EF4-FFF2-40B4-BE49-F238E27FC236}">
                <a16:creationId xmlns:a16="http://schemas.microsoft.com/office/drawing/2014/main" id="{A9AA3942-FBDE-4139-8CBF-51F3115234FC}"/>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616">
            <a:extLst>
              <a:ext uri="{FF2B5EF4-FFF2-40B4-BE49-F238E27FC236}">
                <a16:creationId xmlns:a16="http://schemas.microsoft.com/office/drawing/2014/main" id="{DA1F87F8-F7C8-4FF9-8EEE-C8D10A739D97}"/>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TRUST, PROOF &amp; SAFETY</a:t>
            </a:r>
          </a:p>
        </p:txBody>
      </p:sp>
      <p:sp>
        <p:nvSpPr>
          <p:cNvPr id="30" name="text-617">
            <a:extLst>
              <a:ext uri="{FF2B5EF4-FFF2-40B4-BE49-F238E27FC236}">
                <a16:creationId xmlns:a16="http://schemas.microsoft.com/office/drawing/2014/main" id="{6FDBC771-C110-47F6-A62B-D6F120B993C9}"/>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Q21 / 49</a:t>
            </a:r>
          </a:p>
        </p:txBody>
      </p:sp>
    </p:spTree>
    <p:extLst>
      <p:ext uri="{BB962C8B-B14F-4D97-AF65-F5344CB8AC3E}">
        <p14:creationId xmlns:p14="http://schemas.microsoft.com/office/powerpoint/2010/main" val="917656300"/>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618">
            <a:extLst>
              <a:ext uri="{FF2B5EF4-FFF2-40B4-BE49-F238E27FC236}">
                <a16:creationId xmlns:a16="http://schemas.microsoft.com/office/drawing/2014/main" id="{84E42A70-7A14-48B1-B55F-88FACAA28B4E}"/>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619">
            <a:extLst>
              <a:ext uri="{FF2B5EF4-FFF2-40B4-BE49-F238E27FC236}">
                <a16:creationId xmlns:a16="http://schemas.microsoft.com/office/drawing/2014/main" id="{00B512E2-530D-45D7-80C4-C78981C05192}"/>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TRUST, PROOF &amp; SAFETY</a:t>
            </a:r>
          </a:p>
        </p:txBody>
      </p:sp>
      <p:sp>
        <p:nvSpPr>
          <p:cNvPr id="4" name="text-620">
            <a:extLst>
              <a:ext uri="{FF2B5EF4-FFF2-40B4-BE49-F238E27FC236}">
                <a16:creationId xmlns:a16="http://schemas.microsoft.com/office/drawing/2014/main" id="{67FC6A73-92CA-4219-A725-A7F3A513637D}"/>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Q22</a:t>
            </a:r>
          </a:p>
        </p:txBody>
      </p:sp>
      <p:sp>
        <p:nvSpPr>
          <p:cNvPr id="5" name="text-621">
            <a:extLst>
              <a:ext uri="{FF2B5EF4-FFF2-40B4-BE49-F238E27FC236}">
                <a16:creationId xmlns:a16="http://schemas.microsoft.com/office/drawing/2014/main" id="{909CEC5A-BA23-4EA1-98C3-13AA337C2F69}"/>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Where should concealed unit codes be generated?</a:t>
            </a:r>
          </a:p>
        </p:txBody>
      </p:sp>
      <p:sp>
        <p:nvSpPr>
          <p:cNvPr id="6" name="text-622">
            <a:extLst>
              <a:ext uri="{FF2B5EF4-FFF2-40B4-BE49-F238E27FC236}">
                <a16:creationId xmlns:a16="http://schemas.microsoft.com/office/drawing/2014/main" id="{97EFD4C3-8D27-48FF-A01F-CFE2F5B1B13B}"/>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623">
            <a:extLst>
              <a:ext uri="{FF2B5EF4-FFF2-40B4-BE49-F238E27FC236}">
                <a16:creationId xmlns:a16="http://schemas.microsoft.com/office/drawing/2014/main" id="{0DBA2DC8-C729-4922-B8F2-78CC411136BC}"/>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Determines security ownership, export controls and audit history.</a:t>
            </a:r>
          </a:p>
        </p:txBody>
      </p:sp>
      <p:sp>
        <p:nvSpPr>
          <p:cNvPr id="8" name="rect-624">
            <a:extLst>
              <a:ext uri="{FF2B5EF4-FFF2-40B4-BE49-F238E27FC236}">
                <a16:creationId xmlns:a16="http://schemas.microsoft.com/office/drawing/2014/main" id="{025191E7-5DB2-4AAA-BAE8-B12A72347347}"/>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625">
            <a:extLst>
              <a:ext uri="{FF2B5EF4-FFF2-40B4-BE49-F238E27FC236}">
                <a16:creationId xmlns:a16="http://schemas.microsoft.com/office/drawing/2014/main" id="{063B7999-C5DC-4A32-9B0C-14BC41B8B81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626">
            <a:extLst>
              <a:ext uri="{FF2B5EF4-FFF2-40B4-BE49-F238E27FC236}">
                <a16:creationId xmlns:a16="http://schemas.microsoft.com/office/drawing/2014/main" id="{C5BD9634-E31B-4856-B742-73FA9BF2EC07}"/>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627">
            <a:extLst>
              <a:ext uri="{FF2B5EF4-FFF2-40B4-BE49-F238E27FC236}">
                <a16:creationId xmlns:a16="http://schemas.microsoft.com/office/drawing/2014/main" id="{F63DA4EB-2545-4A35-8725-B518BAE01CE9}"/>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Generate cryptographically random codes internally</a:t>
            </a:r>
          </a:p>
        </p:txBody>
      </p:sp>
      <p:sp>
        <p:nvSpPr>
          <p:cNvPr id="12" name="text-628">
            <a:extLst>
              <a:ext uri="{FF2B5EF4-FFF2-40B4-BE49-F238E27FC236}">
                <a16:creationId xmlns:a16="http://schemas.microsoft.com/office/drawing/2014/main" id="{3AB3BD2F-7996-4A5A-879E-AB8D837FF94A}"/>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629">
            <a:extLst>
              <a:ext uri="{FF2B5EF4-FFF2-40B4-BE49-F238E27FC236}">
                <a16:creationId xmlns:a16="http://schemas.microsoft.com/office/drawing/2014/main" id="{4280DB63-F649-41B6-8E15-6EA63E9B943A}"/>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630">
            <a:extLst>
              <a:ext uri="{FF2B5EF4-FFF2-40B4-BE49-F238E27FC236}">
                <a16:creationId xmlns:a16="http://schemas.microsoft.com/office/drawing/2014/main" id="{A059B7E2-4832-439F-899C-0F67C83914FC}"/>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631">
            <a:extLst>
              <a:ext uri="{FF2B5EF4-FFF2-40B4-BE49-F238E27FC236}">
                <a16:creationId xmlns:a16="http://schemas.microsoft.com/office/drawing/2014/main" id="{C8C8B3BE-DF3E-449B-8B5C-EDB9E855E11A}"/>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632">
            <a:extLst>
              <a:ext uri="{FF2B5EF4-FFF2-40B4-BE49-F238E27FC236}">
                <a16:creationId xmlns:a16="http://schemas.microsoft.com/office/drawing/2014/main" id="{4C6A017F-F381-47F8-94A0-BB54128FD18B}"/>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633">
            <a:extLst>
              <a:ext uri="{FF2B5EF4-FFF2-40B4-BE49-F238E27FC236}">
                <a16:creationId xmlns:a16="http://schemas.microsoft.com/office/drawing/2014/main" id="{C229C72B-3F46-47F7-A225-90085F5CB655}"/>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Import codes supplied by the printer</a:t>
            </a:r>
          </a:p>
        </p:txBody>
      </p:sp>
      <p:sp>
        <p:nvSpPr>
          <p:cNvPr id="18" name="text-634">
            <a:extLst>
              <a:ext uri="{FF2B5EF4-FFF2-40B4-BE49-F238E27FC236}">
                <a16:creationId xmlns:a16="http://schemas.microsoft.com/office/drawing/2014/main" id="{B233F61A-961E-4CE7-8E25-8C2ADEFE86FA}"/>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635">
            <a:extLst>
              <a:ext uri="{FF2B5EF4-FFF2-40B4-BE49-F238E27FC236}">
                <a16:creationId xmlns:a16="http://schemas.microsoft.com/office/drawing/2014/main" id="{779A5ED2-08B7-42C5-BCD5-CC4C9681A03C}"/>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636">
            <a:extLst>
              <a:ext uri="{FF2B5EF4-FFF2-40B4-BE49-F238E27FC236}">
                <a16:creationId xmlns:a16="http://schemas.microsoft.com/office/drawing/2014/main" id="{43D508A3-A79C-4B93-B382-D4383DE19D97}"/>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637">
            <a:extLst>
              <a:ext uri="{FF2B5EF4-FFF2-40B4-BE49-F238E27FC236}">
                <a16:creationId xmlns:a16="http://schemas.microsoft.com/office/drawing/2014/main" id="{A9157214-6EA9-413B-8D22-D0AF47C00B06}"/>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638">
            <a:extLst>
              <a:ext uri="{FF2B5EF4-FFF2-40B4-BE49-F238E27FC236}">
                <a16:creationId xmlns:a16="http://schemas.microsoft.com/office/drawing/2014/main" id="{CF09BA3F-DF37-4AC4-8EA8-C46D524D7B80}"/>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Use a third-party authenticity platform</a:t>
            </a:r>
          </a:p>
        </p:txBody>
      </p:sp>
      <p:sp>
        <p:nvSpPr>
          <p:cNvPr id="23" name="text-639">
            <a:extLst>
              <a:ext uri="{FF2B5EF4-FFF2-40B4-BE49-F238E27FC236}">
                <a16:creationId xmlns:a16="http://schemas.microsoft.com/office/drawing/2014/main" id="{CC698595-BB0E-4061-87C4-6855EB0CFC4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640">
            <a:extLst>
              <a:ext uri="{FF2B5EF4-FFF2-40B4-BE49-F238E27FC236}">
                <a16:creationId xmlns:a16="http://schemas.microsoft.com/office/drawing/2014/main" id="{EC0271FA-6F39-49EC-9584-98B8FDA61BA7}"/>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641">
            <a:extLst>
              <a:ext uri="{FF2B5EF4-FFF2-40B4-BE49-F238E27FC236}">
                <a16:creationId xmlns:a16="http://schemas.microsoft.com/office/drawing/2014/main" id="{3987C019-5437-4E1F-8C21-B2E9DC5640DD}"/>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642">
            <a:extLst>
              <a:ext uri="{FF2B5EF4-FFF2-40B4-BE49-F238E27FC236}">
                <a16:creationId xmlns:a16="http://schemas.microsoft.com/office/drawing/2014/main" id="{6C5644FF-E888-44FF-8D16-A90DA8B1D069}"/>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643">
            <a:extLst>
              <a:ext uri="{FF2B5EF4-FFF2-40B4-BE49-F238E27FC236}">
                <a16:creationId xmlns:a16="http://schemas.microsoft.com/office/drawing/2014/main" id="{29D59CF9-2A20-4D77-995A-E8AC01DED7C8}"/>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644">
            <a:extLst>
              <a:ext uri="{FF2B5EF4-FFF2-40B4-BE49-F238E27FC236}">
                <a16:creationId xmlns:a16="http://schemas.microsoft.com/office/drawing/2014/main" id="{511E3B80-5C4B-4E2B-B716-8A31CB0CB319}"/>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645">
            <a:extLst>
              <a:ext uri="{FF2B5EF4-FFF2-40B4-BE49-F238E27FC236}">
                <a16:creationId xmlns:a16="http://schemas.microsoft.com/office/drawing/2014/main" id="{BB12976F-AB33-4BAD-B779-464993F123CA}"/>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TRUST, PROOF &amp; SAFETY</a:t>
            </a:r>
          </a:p>
        </p:txBody>
      </p:sp>
      <p:sp>
        <p:nvSpPr>
          <p:cNvPr id="30" name="text-646">
            <a:extLst>
              <a:ext uri="{FF2B5EF4-FFF2-40B4-BE49-F238E27FC236}">
                <a16:creationId xmlns:a16="http://schemas.microsoft.com/office/drawing/2014/main" id="{01443412-0189-4FE0-AADD-A10A041FABF2}"/>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Q22 / 49</a:t>
            </a:r>
          </a:p>
        </p:txBody>
      </p:sp>
    </p:spTree>
    <p:extLst>
      <p:ext uri="{BB962C8B-B14F-4D97-AF65-F5344CB8AC3E}">
        <p14:creationId xmlns:p14="http://schemas.microsoft.com/office/powerpoint/2010/main" val="200086566"/>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647">
            <a:extLst>
              <a:ext uri="{FF2B5EF4-FFF2-40B4-BE49-F238E27FC236}">
                <a16:creationId xmlns:a16="http://schemas.microsoft.com/office/drawing/2014/main" id="{24797BED-1FDD-4804-86E2-A8C2EAF98D2C}"/>
              </a:ext>
            </a:extLst>
          </p:cNvPr>
          <p:cNvSpPr>
            <a:spLocks noGrp="1"/>
          </p:cNvSpPr>
          <p:nvPr/>
        </p:nvSpPr>
        <p:spPr>
          <a:xfrm>
            <a:off x="647700" y="438150"/>
            <a:ext cx="104775" cy="247650"/>
          </a:xfrm>
          <a:prstGeom prst="rect">
            <a:avLst/>
          </a:prstGeom>
          <a:solidFill>
            <a:srgbClr val="6B0F1A"/>
          </a:solidFill>
          <a:ln w="0">
            <a:noFill/>
            <a:prstDash val="solid"/>
          </a:ln>
        </p:spPr>
        <p:txBody>
          <a:bodyPr/>
          <a:lstStyle/>
          <a:p>
            <a:endParaRPr lang="en-US"/>
          </a:p>
        </p:txBody>
      </p:sp>
      <p:sp>
        <p:nvSpPr>
          <p:cNvPr id="3" name="text-648">
            <a:extLst>
              <a:ext uri="{FF2B5EF4-FFF2-40B4-BE49-F238E27FC236}">
                <a16:creationId xmlns:a16="http://schemas.microsoft.com/office/drawing/2014/main" id="{5BADB5DE-D950-4919-AF50-5E205F8D1E5B}"/>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TRUST, PROOF &amp; SAFETY</a:t>
            </a:r>
          </a:p>
        </p:txBody>
      </p:sp>
      <p:sp>
        <p:nvSpPr>
          <p:cNvPr id="4" name="text-649">
            <a:extLst>
              <a:ext uri="{FF2B5EF4-FFF2-40B4-BE49-F238E27FC236}">
                <a16:creationId xmlns:a16="http://schemas.microsoft.com/office/drawing/2014/main" id="{344E75BC-6F99-4F59-84A9-306963C2AE4F}"/>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Q23</a:t>
            </a:r>
          </a:p>
        </p:txBody>
      </p:sp>
      <p:sp>
        <p:nvSpPr>
          <p:cNvPr id="5" name="text-650">
            <a:extLst>
              <a:ext uri="{FF2B5EF4-FFF2-40B4-BE49-F238E27FC236}">
                <a16:creationId xmlns:a16="http://schemas.microsoft.com/office/drawing/2014/main" id="{BAF51C05-E705-494A-BF4D-238A5F70E79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potential product-safety reports be handled?</a:t>
            </a:r>
          </a:p>
        </p:txBody>
      </p:sp>
      <p:sp>
        <p:nvSpPr>
          <p:cNvPr id="6" name="text-651">
            <a:extLst>
              <a:ext uri="{FF2B5EF4-FFF2-40B4-BE49-F238E27FC236}">
                <a16:creationId xmlns:a16="http://schemas.microsoft.com/office/drawing/2014/main" id="{28586204-216C-4296-9865-EE03A77CF69E}"/>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6B0F1A"/>
                </a:solidFill>
                <a:latin typeface="Bahnschrift"/>
                <a:ea typeface="Bahnschrift"/>
                <a:cs typeface="Bahnschrift"/>
              </a:defRPr>
            </a:pPr>
            <a:r>
              <a:rPr sz="1050" b="1">
                <a:solidFill>
                  <a:srgbClr val="6B0F1A"/>
                </a:solidFill>
                <a:latin typeface="Bahnschrift"/>
                <a:ea typeface="Bahnschrift"/>
                <a:cs typeface="Bahnschrift"/>
              </a:rPr>
              <a:t>SYSTEM IMPACT</a:t>
            </a:r>
          </a:p>
        </p:txBody>
      </p:sp>
      <p:sp>
        <p:nvSpPr>
          <p:cNvPr id="7" name="text-652">
            <a:extLst>
              <a:ext uri="{FF2B5EF4-FFF2-40B4-BE49-F238E27FC236}">
                <a16:creationId xmlns:a16="http://schemas.microsoft.com/office/drawing/2014/main" id="{829B70B3-1569-468B-B556-503D113BCD38}"/>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escalation priority, notifications and recall readiness.</a:t>
            </a:r>
          </a:p>
        </p:txBody>
      </p:sp>
      <p:sp>
        <p:nvSpPr>
          <p:cNvPr id="8" name="rect-653">
            <a:extLst>
              <a:ext uri="{FF2B5EF4-FFF2-40B4-BE49-F238E27FC236}">
                <a16:creationId xmlns:a16="http://schemas.microsoft.com/office/drawing/2014/main" id="{D1B1AD9C-3F55-443F-A92A-F761BDC4A66B}"/>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654">
            <a:extLst>
              <a:ext uri="{FF2B5EF4-FFF2-40B4-BE49-F238E27FC236}">
                <a16:creationId xmlns:a16="http://schemas.microsoft.com/office/drawing/2014/main" id="{7ECE1314-EDC3-4831-9B5D-FB7CD338ECCD}"/>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655">
            <a:extLst>
              <a:ext uri="{FF2B5EF4-FFF2-40B4-BE49-F238E27FC236}">
                <a16:creationId xmlns:a16="http://schemas.microsoft.com/office/drawing/2014/main" id="{D1E4E48A-3FB6-4E28-9873-6E53BB6E85BF}"/>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656">
            <a:extLst>
              <a:ext uri="{FF2B5EF4-FFF2-40B4-BE49-F238E27FC236}">
                <a16:creationId xmlns:a16="http://schemas.microsoft.com/office/drawing/2014/main" id="{9045019A-3F6C-4A4B-9250-EC856D4919AB}"/>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Use a dedicated safety-event workflow</a:t>
            </a:r>
          </a:p>
        </p:txBody>
      </p:sp>
      <p:sp>
        <p:nvSpPr>
          <p:cNvPr id="12" name="text-657">
            <a:extLst>
              <a:ext uri="{FF2B5EF4-FFF2-40B4-BE49-F238E27FC236}">
                <a16:creationId xmlns:a16="http://schemas.microsoft.com/office/drawing/2014/main" id="{33A8A74A-1D4D-4D93-8507-CD34F3EB992B}"/>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658">
            <a:extLst>
              <a:ext uri="{FF2B5EF4-FFF2-40B4-BE49-F238E27FC236}">
                <a16:creationId xmlns:a16="http://schemas.microsoft.com/office/drawing/2014/main" id="{59B7FA3D-7191-46E1-AEFD-1BF97A325595}"/>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659">
            <a:extLst>
              <a:ext uri="{FF2B5EF4-FFF2-40B4-BE49-F238E27FC236}">
                <a16:creationId xmlns:a16="http://schemas.microsoft.com/office/drawing/2014/main" id="{BEF6FC31-7BB0-4835-8807-4A5EF63A596A}"/>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660">
            <a:extLst>
              <a:ext uri="{FF2B5EF4-FFF2-40B4-BE49-F238E27FC236}">
                <a16:creationId xmlns:a16="http://schemas.microsoft.com/office/drawing/2014/main" id="{CB08D006-5DC1-4B71-8C04-3213E81BDD89}"/>
              </a:ext>
            </a:extLst>
          </p:cNvPr>
          <p:cNvSpPr>
            <a:spLocks noGrp="1"/>
          </p:cNvSpPr>
          <p:nvPr/>
        </p:nvSpPr>
        <p:spPr>
          <a:xfrm>
            <a:off x="647700" y="3219450"/>
            <a:ext cx="114300" cy="800100"/>
          </a:xfrm>
          <a:prstGeom prst="rect">
            <a:avLst/>
          </a:prstGeom>
          <a:solidFill>
            <a:srgbClr val="6B0F1A"/>
          </a:solidFill>
          <a:ln w="0">
            <a:noFill/>
            <a:prstDash val="solid"/>
          </a:ln>
        </p:spPr>
        <p:txBody>
          <a:bodyPr/>
          <a:lstStyle/>
          <a:p>
            <a:endParaRPr lang="en-US"/>
          </a:p>
        </p:txBody>
      </p:sp>
      <p:sp>
        <p:nvSpPr>
          <p:cNvPr id="16" name="text-661">
            <a:extLst>
              <a:ext uri="{FF2B5EF4-FFF2-40B4-BE49-F238E27FC236}">
                <a16:creationId xmlns:a16="http://schemas.microsoft.com/office/drawing/2014/main" id="{B50CE6D0-8E2E-445D-90F7-4E06DE4C566D}"/>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662">
            <a:extLst>
              <a:ext uri="{FF2B5EF4-FFF2-40B4-BE49-F238E27FC236}">
                <a16:creationId xmlns:a16="http://schemas.microsoft.com/office/drawing/2014/main" id="{A9F82177-35BA-4698-B0AC-94933B6D346A}"/>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Handle them as normal support cases</a:t>
            </a:r>
          </a:p>
        </p:txBody>
      </p:sp>
      <p:sp>
        <p:nvSpPr>
          <p:cNvPr id="18" name="text-663">
            <a:extLst>
              <a:ext uri="{FF2B5EF4-FFF2-40B4-BE49-F238E27FC236}">
                <a16:creationId xmlns:a16="http://schemas.microsoft.com/office/drawing/2014/main" id="{D060A663-22FC-4AD5-835A-C066CEBD190A}"/>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664">
            <a:extLst>
              <a:ext uri="{FF2B5EF4-FFF2-40B4-BE49-F238E27FC236}">
                <a16:creationId xmlns:a16="http://schemas.microsoft.com/office/drawing/2014/main" id="{8459DDE0-5B49-4BEE-8C2D-C8FCE3831DD9}"/>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665">
            <a:extLst>
              <a:ext uri="{FF2B5EF4-FFF2-40B4-BE49-F238E27FC236}">
                <a16:creationId xmlns:a16="http://schemas.microsoft.com/office/drawing/2014/main" id="{2E06BA19-79B2-4AFD-B852-E9EF1032212C}"/>
              </a:ext>
            </a:extLst>
          </p:cNvPr>
          <p:cNvSpPr>
            <a:spLocks noGrp="1"/>
          </p:cNvSpPr>
          <p:nvPr/>
        </p:nvSpPr>
        <p:spPr>
          <a:xfrm>
            <a:off x="647700" y="4171950"/>
            <a:ext cx="114300" cy="800100"/>
          </a:xfrm>
          <a:prstGeom prst="rect">
            <a:avLst/>
          </a:prstGeom>
          <a:solidFill>
            <a:srgbClr val="6B0F1A"/>
          </a:solidFill>
          <a:ln w="0">
            <a:noFill/>
            <a:prstDash val="solid"/>
          </a:ln>
        </p:spPr>
        <p:txBody>
          <a:bodyPr/>
          <a:lstStyle/>
          <a:p>
            <a:endParaRPr lang="en-US"/>
          </a:p>
        </p:txBody>
      </p:sp>
      <p:sp>
        <p:nvSpPr>
          <p:cNvPr id="21" name="text-666">
            <a:extLst>
              <a:ext uri="{FF2B5EF4-FFF2-40B4-BE49-F238E27FC236}">
                <a16:creationId xmlns:a16="http://schemas.microsoft.com/office/drawing/2014/main" id="{7113A57E-633A-428A-AAED-331C0F6D0EC3}"/>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667">
            <a:extLst>
              <a:ext uri="{FF2B5EF4-FFF2-40B4-BE49-F238E27FC236}">
                <a16:creationId xmlns:a16="http://schemas.microsoft.com/office/drawing/2014/main" id="{77663DA5-4BC8-4FDF-9775-1ED8F8FEE27A}"/>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Send customers to an external channel</a:t>
            </a:r>
          </a:p>
        </p:txBody>
      </p:sp>
      <p:sp>
        <p:nvSpPr>
          <p:cNvPr id="23" name="text-668">
            <a:extLst>
              <a:ext uri="{FF2B5EF4-FFF2-40B4-BE49-F238E27FC236}">
                <a16:creationId xmlns:a16="http://schemas.microsoft.com/office/drawing/2014/main" id="{9FE6E38E-7785-4A28-BBB7-B438C9E0BB76}"/>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669">
            <a:extLst>
              <a:ext uri="{FF2B5EF4-FFF2-40B4-BE49-F238E27FC236}">
                <a16:creationId xmlns:a16="http://schemas.microsoft.com/office/drawing/2014/main" id="{A560B650-B7D6-4153-B52E-A2284F53FB8C}"/>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670">
            <a:extLst>
              <a:ext uri="{FF2B5EF4-FFF2-40B4-BE49-F238E27FC236}">
                <a16:creationId xmlns:a16="http://schemas.microsoft.com/office/drawing/2014/main" id="{3674D492-2AD8-45D0-8AE6-09DD0FD7C721}"/>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671">
            <a:extLst>
              <a:ext uri="{FF2B5EF4-FFF2-40B4-BE49-F238E27FC236}">
                <a16:creationId xmlns:a16="http://schemas.microsoft.com/office/drawing/2014/main" id="{36D15067-2441-4518-B412-E0A79FB329BC}"/>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672">
            <a:extLst>
              <a:ext uri="{FF2B5EF4-FFF2-40B4-BE49-F238E27FC236}">
                <a16:creationId xmlns:a16="http://schemas.microsoft.com/office/drawing/2014/main" id="{A0AA29BA-E50F-49A9-A5C0-76D5B6232051}"/>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673">
            <a:extLst>
              <a:ext uri="{FF2B5EF4-FFF2-40B4-BE49-F238E27FC236}">
                <a16:creationId xmlns:a16="http://schemas.microsoft.com/office/drawing/2014/main" id="{7CC1F49A-1EEF-4CFE-A4F4-0E98EEFF5679}"/>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674">
            <a:extLst>
              <a:ext uri="{FF2B5EF4-FFF2-40B4-BE49-F238E27FC236}">
                <a16:creationId xmlns:a16="http://schemas.microsoft.com/office/drawing/2014/main" id="{1FD2161A-2668-4971-9507-D72AEC223A2C}"/>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TRUST, PROOF &amp; SAFETY</a:t>
            </a:r>
          </a:p>
        </p:txBody>
      </p:sp>
      <p:sp>
        <p:nvSpPr>
          <p:cNvPr id="30" name="text-675">
            <a:extLst>
              <a:ext uri="{FF2B5EF4-FFF2-40B4-BE49-F238E27FC236}">
                <a16:creationId xmlns:a16="http://schemas.microsoft.com/office/drawing/2014/main" id="{CF4A047E-30AB-45F2-9732-43070739C087}"/>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Q23 / 49</a:t>
            </a:r>
          </a:p>
        </p:txBody>
      </p:sp>
    </p:spTree>
    <p:extLst>
      <p:ext uri="{BB962C8B-B14F-4D97-AF65-F5344CB8AC3E}">
        <p14:creationId xmlns:p14="http://schemas.microsoft.com/office/powerpoint/2010/main" val="646063415"/>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676">
            <a:extLst>
              <a:ext uri="{FF2B5EF4-FFF2-40B4-BE49-F238E27FC236}">
                <a16:creationId xmlns:a16="http://schemas.microsoft.com/office/drawing/2014/main" id="{DD8C2F2A-9C72-4E34-B6C4-FABA9C8998BF}"/>
              </a:ext>
            </a:extLst>
          </p:cNvPr>
          <p:cNvSpPr>
            <a:spLocks noGrp="1"/>
          </p:cNvSpPr>
          <p:nvPr/>
        </p:nvSpPr>
        <p:spPr>
          <a:xfrm>
            <a:off x="647700" y="438150"/>
            <a:ext cx="104775" cy="247650"/>
          </a:xfrm>
          <a:prstGeom prst="rect">
            <a:avLst/>
          </a:prstGeom>
          <a:solidFill>
            <a:srgbClr val="B87333"/>
          </a:solidFill>
          <a:ln w="0">
            <a:noFill/>
            <a:prstDash val="solid"/>
          </a:ln>
        </p:spPr>
        <p:txBody>
          <a:bodyPr/>
          <a:lstStyle/>
          <a:p>
            <a:endParaRPr lang="en-US"/>
          </a:p>
        </p:txBody>
      </p:sp>
      <p:sp>
        <p:nvSpPr>
          <p:cNvPr id="3" name="text-677">
            <a:extLst>
              <a:ext uri="{FF2B5EF4-FFF2-40B4-BE49-F238E27FC236}">
                <a16:creationId xmlns:a16="http://schemas.microsoft.com/office/drawing/2014/main" id="{BF75AE55-F5FD-45DE-A17B-FD617CED464C}"/>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SERVICE &amp; EDUCATION</a:t>
            </a:r>
          </a:p>
        </p:txBody>
      </p:sp>
      <p:sp>
        <p:nvSpPr>
          <p:cNvPr id="4" name="text-678">
            <a:extLst>
              <a:ext uri="{FF2B5EF4-FFF2-40B4-BE49-F238E27FC236}">
                <a16:creationId xmlns:a16="http://schemas.microsoft.com/office/drawing/2014/main" id="{772ADBFE-5420-4957-9F59-CE4C46F2A73F}"/>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Q24</a:t>
            </a:r>
          </a:p>
        </p:txBody>
      </p:sp>
      <p:sp>
        <p:nvSpPr>
          <p:cNvPr id="5" name="text-679">
            <a:extLst>
              <a:ext uri="{FF2B5EF4-FFF2-40B4-BE49-F238E27FC236}">
                <a16:creationId xmlns:a16="http://schemas.microsoft.com/office/drawing/2014/main" id="{3FF15886-6408-47D2-AD78-C0F4148ED01C}"/>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dirty="0">
                <a:solidFill>
                  <a:srgbClr val="141414"/>
                </a:solidFill>
                <a:latin typeface="Bahnschrift"/>
                <a:ea typeface="Bahnschrift"/>
                <a:cs typeface="Bahnschrift"/>
              </a:rPr>
              <a:t>Which system should own customer support?</a:t>
            </a:r>
          </a:p>
        </p:txBody>
      </p:sp>
      <p:sp>
        <p:nvSpPr>
          <p:cNvPr id="6" name="text-680">
            <a:extLst>
              <a:ext uri="{FF2B5EF4-FFF2-40B4-BE49-F238E27FC236}">
                <a16:creationId xmlns:a16="http://schemas.microsoft.com/office/drawing/2014/main" id="{0A803905-F46E-4EC0-B2AE-7B9097E8F383}"/>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B87333"/>
                </a:solidFill>
                <a:latin typeface="Bahnschrift"/>
                <a:ea typeface="Bahnschrift"/>
                <a:cs typeface="Bahnschrift"/>
              </a:defRPr>
            </a:pPr>
            <a:r>
              <a:rPr sz="1050" b="1">
                <a:solidFill>
                  <a:srgbClr val="B87333"/>
                </a:solidFill>
                <a:latin typeface="Bahnschrift"/>
                <a:ea typeface="Bahnschrift"/>
                <a:cs typeface="Bahnschrift"/>
              </a:rPr>
              <a:t>SYSTEM IMPACT</a:t>
            </a:r>
          </a:p>
        </p:txBody>
      </p:sp>
      <p:sp>
        <p:nvSpPr>
          <p:cNvPr id="7" name="text-681">
            <a:extLst>
              <a:ext uri="{FF2B5EF4-FFF2-40B4-BE49-F238E27FC236}">
                <a16:creationId xmlns:a16="http://schemas.microsoft.com/office/drawing/2014/main" id="{48409A00-D5FE-407C-99DC-878E6E142F52}"/>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SLA ownership, order context and escalation history.</a:t>
            </a:r>
          </a:p>
        </p:txBody>
      </p:sp>
      <p:sp>
        <p:nvSpPr>
          <p:cNvPr id="8" name="rect-682">
            <a:extLst>
              <a:ext uri="{FF2B5EF4-FFF2-40B4-BE49-F238E27FC236}">
                <a16:creationId xmlns:a16="http://schemas.microsoft.com/office/drawing/2014/main" id="{833B54BC-FFAA-414E-BCAB-06F4BA2E6019}"/>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683">
            <a:extLst>
              <a:ext uri="{FF2B5EF4-FFF2-40B4-BE49-F238E27FC236}">
                <a16:creationId xmlns:a16="http://schemas.microsoft.com/office/drawing/2014/main" id="{F8AB352A-2A81-4BA7-9F25-2B676907520E}"/>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684">
            <a:extLst>
              <a:ext uri="{FF2B5EF4-FFF2-40B4-BE49-F238E27FC236}">
                <a16:creationId xmlns:a16="http://schemas.microsoft.com/office/drawing/2014/main" id="{E541E3B1-368B-4940-ADCC-A04206D22315}"/>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685">
            <a:extLst>
              <a:ext uri="{FF2B5EF4-FFF2-40B4-BE49-F238E27FC236}">
                <a16:creationId xmlns:a16="http://schemas.microsoft.com/office/drawing/2014/main" id="{5C0679FE-1FB3-47B0-AB4E-CC982CFD37E4}"/>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 unified WhatsApp, email and web case inbox</a:t>
            </a:r>
          </a:p>
        </p:txBody>
      </p:sp>
      <p:sp>
        <p:nvSpPr>
          <p:cNvPr id="12" name="text-686">
            <a:extLst>
              <a:ext uri="{FF2B5EF4-FFF2-40B4-BE49-F238E27FC236}">
                <a16:creationId xmlns:a16="http://schemas.microsoft.com/office/drawing/2014/main" id="{64EDF5DD-B5D8-4D0F-B91D-B825D12090A4}"/>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687">
            <a:extLst>
              <a:ext uri="{FF2B5EF4-FFF2-40B4-BE49-F238E27FC236}">
                <a16:creationId xmlns:a16="http://schemas.microsoft.com/office/drawing/2014/main" id="{8668A4EF-8DE7-4E1B-8957-E3C931D0BCE0}"/>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688">
            <a:extLst>
              <a:ext uri="{FF2B5EF4-FFF2-40B4-BE49-F238E27FC236}">
                <a16:creationId xmlns:a16="http://schemas.microsoft.com/office/drawing/2014/main" id="{867CFF18-C403-4EE5-9D81-31C9388D72FD}"/>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689">
            <a:extLst>
              <a:ext uri="{FF2B5EF4-FFF2-40B4-BE49-F238E27FC236}">
                <a16:creationId xmlns:a16="http://schemas.microsoft.com/office/drawing/2014/main" id="{F800DCE6-52B0-4761-BCCE-2F22A9B10328}"/>
              </a:ext>
            </a:extLst>
          </p:cNvPr>
          <p:cNvSpPr>
            <a:spLocks noGrp="1"/>
          </p:cNvSpPr>
          <p:nvPr/>
        </p:nvSpPr>
        <p:spPr>
          <a:xfrm>
            <a:off x="647700" y="3219450"/>
            <a:ext cx="114300" cy="800100"/>
          </a:xfrm>
          <a:prstGeom prst="rect">
            <a:avLst/>
          </a:prstGeom>
          <a:solidFill>
            <a:srgbClr val="B87333"/>
          </a:solidFill>
          <a:ln w="0">
            <a:noFill/>
            <a:prstDash val="solid"/>
          </a:ln>
        </p:spPr>
        <p:txBody>
          <a:bodyPr/>
          <a:lstStyle/>
          <a:p>
            <a:endParaRPr lang="en-US"/>
          </a:p>
        </p:txBody>
      </p:sp>
      <p:sp>
        <p:nvSpPr>
          <p:cNvPr id="16" name="text-690">
            <a:extLst>
              <a:ext uri="{FF2B5EF4-FFF2-40B4-BE49-F238E27FC236}">
                <a16:creationId xmlns:a16="http://schemas.microsoft.com/office/drawing/2014/main" id="{62022F2E-1B10-409D-BE0D-7A949454F618}"/>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691">
            <a:extLst>
              <a:ext uri="{FF2B5EF4-FFF2-40B4-BE49-F238E27FC236}">
                <a16:creationId xmlns:a16="http://schemas.microsoft.com/office/drawing/2014/main" id="{08A1077B-71A1-4C91-97E8-DFBA015DE873}"/>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WhatsApp as the primary system</a:t>
            </a:r>
          </a:p>
        </p:txBody>
      </p:sp>
      <p:sp>
        <p:nvSpPr>
          <p:cNvPr id="18" name="text-692">
            <a:extLst>
              <a:ext uri="{FF2B5EF4-FFF2-40B4-BE49-F238E27FC236}">
                <a16:creationId xmlns:a16="http://schemas.microsoft.com/office/drawing/2014/main" id="{B14C7088-091D-4655-B647-5DB0FBC7E95B}"/>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693">
            <a:extLst>
              <a:ext uri="{FF2B5EF4-FFF2-40B4-BE49-F238E27FC236}">
                <a16:creationId xmlns:a16="http://schemas.microsoft.com/office/drawing/2014/main" id="{2A4EF2A3-63D7-4833-A081-1E02F87B2872}"/>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694">
            <a:extLst>
              <a:ext uri="{FF2B5EF4-FFF2-40B4-BE49-F238E27FC236}">
                <a16:creationId xmlns:a16="http://schemas.microsoft.com/office/drawing/2014/main" id="{7C1643B3-E5FA-4B29-BBB4-0770C9163F35}"/>
              </a:ext>
            </a:extLst>
          </p:cNvPr>
          <p:cNvSpPr>
            <a:spLocks noGrp="1"/>
          </p:cNvSpPr>
          <p:nvPr/>
        </p:nvSpPr>
        <p:spPr>
          <a:xfrm>
            <a:off x="647700" y="4171950"/>
            <a:ext cx="114300" cy="800100"/>
          </a:xfrm>
          <a:prstGeom prst="rect">
            <a:avLst/>
          </a:prstGeom>
          <a:solidFill>
            <a:srgbClr val="B87333"/>
          </a:solidFill>
          <a:ln w="0">
            <a:noFill/>
            <a:prstDash val="solid"/>
          </a:ln>
        </p:spPr>
        <p:txBody>
          <a:bodyPr/>
          <a:lstStyle/>
          <a:p>
            <a:endParaRPr lang="en-US"/>
          </a:p>
        </p:txBody>
      </p:sp>
      <p:sp>
        <p:nvSpPr>
          <p:cNvPr id="21" name="text-695">
            <a:extLst>
              <a:ext uri="{FF2B5EF4-FFF2-40B4-BE49-F238E27FC236}">
                <a16:creationId xmlns:a16="http://schemas.microsoft.com/office/drawing/2014/main" id="{A5B7B32E-807C-4A65-AEDF-A3DB994AD8EE}"/>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696">
            <a:extLst>
              <a:ext uri="{FF2B5EF4-FFF2-40B4-BE49-F238E27FC236}">
                <a16:creationId xmlns:a16="http://schemas.microsoft.com/office/drawing/2014/main" id="{7F659460-FFB9-466A-BAE7-5B2E3D32525D}"/>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An external helpdesk as the source of truth</a:t>
            </a:r>
          </a:p>
        </p:txBody>
      </p:sp>
      <p:sp>
        <p:nvSpPr>
          <p:cNvPr id="23" name="text-697">
            <a:extLst>
              <a:ext uri="{FF2B5EF4-FFF2-40B4-BE49-F238E27FC236}">
                <a16:creationId xmlns:a16="http://schemas.microsoft.com/office/drawing/2014/main" id="{9081699C-A3B8-412A-81FF-6F798E517DC6}"/>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698">
            <a:extLst>
              <a:ext uri="{FF2B5EF4-FFF2-40B4-BE49-F238E27FC236}">
                <a16:creationId xmlns:a16="http://schemas.microsoft.com/office/drawing/2014/main" id="{6EFF534A-04A0-429C-A63A-8532BBC2B361}"/>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699">
            <a:extLst>
              <a:ext uri="{FF2B5EF4-FFF2-40B4-BE49-F238E27FC236}">
                <a16:creationId xmlns:a16="http://schemas.microsoft.com/office/drawing/2014/main" id="{197C264E-C595-41A9-9987-1A4B020B9AC3}"/>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700">
            <a:extLst>
              <a:ext uri="{FF2B5EF4-FFF2-40B4-BE49-F238E27FC236}">
                <a16:creationId xmlns:a16="http://schemas.microsoft.com/office/drawing/2014/main" id="{C82B8601-4E38-4968-B72A-359FF5001B2D}"/>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701">
            <a:extLst>
              <a:ext uri="{FF2B5EF4-FFF2-40B4-BE49-F238E27FC236}">
                <a16:creationId xmlns:a16="http://schemas.microsoft.com/office/drawing/2014/main" id="{8EAE8298-29CD-4461-81BC-D13C432A3E45}"/>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702">
            <a:extLst>
              <a:ext uri="{FF2B5EF4-FFF2-40B4-BE49-F238E27FC236}">
                <a16:creationId xmlns:a16="http://schemas.microsoft.com/office/drawing/2014/main" id="{BADE1097-92F5-4FA0-88E6-9FFDF9B50B43}"/>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703">
            <a:extLst>
              <a:ext uri="{FF2B5EF4-FFF2-40B4-BE49-F238E27FC236}">
                <a16:creationId xmlns:a16="http://schemas.microsoft.com/office/drawing/2014/main" id="{417860FF-E901-4B50-944B-90B6D814D59F}"/>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SERVICE &amp; EDUCATION</a:t>
            </a:r>
          </a:p>
        </p:txBody>
      </p:sp>
      <p:sp>
        <p:nvSpPr>
          <p:cNvPr id="30" name="text-704">
            <a:extLst>
              <a:ext uri="{FF2B5EF4-FFF2-40B4-BE49-F238E27FC236}">
                <a16:creationId xmlns:a16="http://schemas.microsoft.com/office/drawing/2014/main" id="{E783CAEC-F4CD-497D-8279-E8271A77D087}"/>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Q24 / 49</a:t>
            </a:r>
          </a:p>
        </p:txBody>
      </p:sp>
    </p:spTree>
    <p:extLst>
      <p:ext uri="{BB962C8B-B14F-4D97-AF65-F5344CB8AC3E}">
        <p14:creationId xmlns:p14="http://schemas.microsoft.com/office/powerpoint/2010/main" val="1016504355"/>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705">
            <a:extLst>
              <a:ext uri="{FF2B5EF4-FFF2-40B4-BE49-F238E27FC236}">
                <a16:creationId xmlns:a16="http://schemas.microsoft.com/office/drawing/2014/main" id="{7A9E3611-9FF1-4EF2-8BA9-06C0C74263C2}"/>
              </a:ext>
            </a:extLst>
          </p:cNvPr>
          <p:cNvSpPr>
            <a:spLocks noGrp="1"/>
          </p:cNvSpPr>
          <p:nvPr/>
        </p:nvSpPr>
        <p:spPr>
          <a:xfrm>
            <a:off x="647700" y="438150"/>
            <a:ext cx="104775" cy="247650"/>
          </a:xfrm>
          <a:prstGeom prst="rect">
            <a:avLst/>
          </a:prstGeom>
          <a:solidFill>
            <a:srgbClr val="B87333"/>
          </a:solidFill>
          <a:ln w="0">
            <a:noFill/>
            <a:prstDash val="solid"/>
          </a:ln>
        </p:spPr>
        <p:txBody>
          <a:bodyPr/>
          <a:lstStyle/>
          <a:p>
            <a:endParaRPr lang="en-US"/>
          </a:p>
        </p:txBody>
      </p:sp>
      <p:sp>
        <p:nvSpPr>
          <p:cNvPr id="3" name="text-706">
            <a:extLst>
              <a:ext uri="{FF2B5EF4-FFF2-40B4-BE49-F238E27FC236}">
                <a16:creationId xmlns:a16="http://schemas.microsoft.com/office/drawing/2014/main" id="{31C38470-14E0-4269-BD08-18B9F87DCD90}"/>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SERVICE &amp; EDUCATION</a:t>
            </a:r>
          </a:p>
        </p:txBody>
      </p:sp>
      <p:sp>
        <p:nvSpPr>
          <p:cNvPr id="4" name="text-707">
            <a:extLst>
              <a:ext uri="{FF2B5EF4-FFF2-40B4-BE49-F238E27FC236}">
                <a16:creationId xmlns:a16="http://schemas.microsoft.com/office/drawing/2014/main" id="{5E5FB2B0-DB19-4432-87CD-769714FD0C5C}"/>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Q25</a:t>
            </a:r>
          </a:p>
        </p:txBody>
      </p:sp>
      <p:sp>
        <p:nvSpPr>
          <p:cNvPr id="5" name="text-708">
            <a:extLst>
              <a:ext uri="{FF2B5EF4-FFF2-40B4-BE49-F238E27FC236}">
                <a16:creationId xmlns:a16="http://schemas.microsoft.com/office/drawing/2014/main" id="{6FE62958-CFA3-407E-A787-F239520ED0A4}"/>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returns and replacements be initiated?</a:t>
            </a:r>
          </a:p>
        </p:txBody>
      </p:sp>
      <p:sp>
        <p:nvSpPr>
          <p:cNvPr id="6" name="text-709">
            <a:extLst>
              <a:ext uri="{FF2B5EF4-FFF2-40B4-BE49-F238E27FC236}">
                <a16:creationId xmlns:a16="http://schemas.microsoft.com/office/drawing/2014/main" id="{94403273-F3F1-4EF5-9829-B2B0A058B4F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B87333"/>
                </a:solidFill>
                <a:latin typeface="Bahnschrift"/>
                <a:ea typeface="Bahnschrift"/>
                <a:cs typeface="Bahnschrift"/>
              </a:defRPr>
            </a:pPr>
            <a:r>
              <a:rPr sz="1050" b="1">
                <a:solidFill>
                  <a:srgbClr val="B87333"/>
                </a:solidFill>
                <a:latin typeface="Bahnschrift"/>
                <a:ea typeface="Bahnschrift"/>
                <a:cs typeface="Bahnschrift"/>
              </a:rPr>
              <a:t>SYSTEM IMPACT</a:t>
            </a:r>
          </a:p>
        </p:txBody>
      </p:sp>
      <p:sp>
        <p:nvSpPr>
          <p:cNvPr id="7" name="text-710">
            <a:extLst>
              <a:ext uri="{FF2B5EF4-FFF2-40B4-BE49-F238E27FC236}">
                <a16:creationId xmlns:a16="http://schemas.microsoft.com/office/drawing/2014/main" id="{538A28A1-85E4-49B7-8373-D845F11A6A9B}"/>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evidence review, abuse controls and operational workload.</a:t>
            </a:r>
          </a:p>
        </p:txBody>
      </p:sp>
      <p:sp>
        <p:nvSpPr>
          <p:cNvPr id="8" name="rect-711">
            <a:extLst>
              <a:ext uri="{FF2B5EF4-FFF2-40B4-BE49-F238E27FC236}">
                <a16:creationId xmlns:a16="http://schemas.microsoft.com/office/drawing/2014/main" id="{358C4620-A00E-4ED5-8920-FB71EA60BEA9}"/>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712">
            <a:extLst>
              <a:ext uri="{FF2B5EF4-FFF2-40B4-BE49-F238E27FC236}">
                <a16:creationId xmlns:a16="http://schemas.microsoft.com/office/drawing/2014/main" id="{8E4A6283-FA44-4A1E-B80C-34E12F38263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713">
            <a:extLst>
              <a:ext uri="{FF2B5EF4-FFF2-40B4-BE49-F238E27FC236}">
                <a16:creationId xmlns:a16="http://schemas.microsoft.com/office/drawing/2014/main" id="{05811003-5E3A-4F92-983A-3491E83D7BC6}"/>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714">
            <a:extLst>
              <a:ext uri="{FF2B5EF4-FFF2-40B4-BE49-F238E27FC236}">
                <a16:creationId xmlns:a16="http://schemas.microsoft.com/office/drawing/2014/main" id="{9B08EBEC-6B54-404A-A459-EBB8B39AB742}"/>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Support-managed cases</a:t>
            </a:r>
          </a:p>
        </p:txBody>
      </p:sp>
      <p:sp>
        <p:nvSpPr>
          <p:cNvPr id="12" name="text-715">
            <a:extLst>
              <a:ext uri="{FF2B5EF4-FFF2-40B4-BE49-F238E27FC236}">
                <a16:creationId xmlns:a16="http://schemas.microsoft.com/office/drawing/2014/main" id="{8EC9F550-FE9A-4097-9CD8-0175F7D788A8}"/>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716">
            <a:extLst>
              <a:ext uri="{FF2B5EF4-FFF2-40B4-BE49-F238E27FC236}">
                <a16:creationId xmlns:a16="http://schemas.microsoft.com/office/drawing/2014/main" id="{E27F6994-952D-4514-B0A8-7814EA295E71}"/>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717">
            <a:extLst>
              <a:ext uri="{FF2B5EF4-FFF2-40B4-BE49-F238E27FC236}">
                <a16:creationId xmlns:a16="http://schemas.microsoft.com/office/drawing/2014/main" id="{5D86351B-33B7-412B-9208-4F3039617A26}"/>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718">
            <a:extLst>
              <a:ext uri="{FF2B5EF4-FFF2-40B4-BE49-F238E27FC236}">
                <a16:creationId xmlns:a16="http://schemas.microsoft.com/office/drawing/2014/main" id="{CA043551-44E1-4CE5-864B-58882EB8C531}"/>
              </a:ext>
            </a:extLst>
          </p:cNvPr>
          <p:cNvSpPr>
            <a:spLocks noGrp="1"/>
          </p:cNvSpPr>
          <p:nvPr/>
        </p:nvSpPr>
        <p:spPr>
          <a:xfrm>
            <a:off x="647700" y="3219450"/>
            <a:ext cx="114300" cy="800100"/>
          </a:xfrm>
          <a:prstGeom prst="rect">
            <a:avLst/>
          </a:prstGeom>
          <a:solidFill>
            <a:srgbClr val="B87333"/>
          </a:solidFill>
          <a:ln w="0">
            <a:noFill/>
            <a:prstDash val="solid"/>
          </a:ln>
        </p:spPr>
        <p:txBody>
          <a:bodyPr/>
          <a:lstStyle/>
          <a:p>
            <a:endParaRPr lang="en-US"/>
          </a:p>
        </p:txBody>
      </p:sp>
      <p:sp>
        <p:nvSpPr>
          <p:cNvPr id="16" name="text-719">
            <a:extLst>
              <a:ext uri="{FF2B5EF4-FFF2-40B4-BE49-F238E27FC236}">
                <a16:creationId xmlns:a16="http://schemas.microsoft.com/office/drawing/2014/main" id="{E9C39E7D-02B6-48C4-B454-D8AF03FB5A0B}"/>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720">
            <a:extLst>
              <a:ext uri="{FF2B5EF4-FFF2-40B4-BE49-F238E27FC236}">
                <a16:creationId xmlns:a16="http://schemas.microsoft.com/office/drawing/2014/main" id="{756CB2A1-80DD-492F-8F63-1DAA289D2A85}"/>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Customer self-service requests</a:t>
            </a:r>
          </a:p>
        </p:txBody>
      </p:sp>
      <p:sp>
        <p:nvSpPr>
          <p:cNvPr id="18" name="text-721">
            <a:extLst>
              <a:ext uri="{FF2B5EF4-FFF2-40B4-BE49-F238E27FC236}">
                <a16:creationId xmlns:a16="http://schemas.microsoft.com/office/drawing/2014/main" id="{A5D41D34-71F2-49B3-87B0-5EDFD37300BB}"/>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722">
            <a:extLst>
              <a:ext uri="{FF2B5EF4-FFF2-40B4-BE49-F238E27FC236}">
                <a16:creationId xmlns:a16="http://schemas.microsoft.com/office/drawing/2014/main" id="{E8533BC6-A4A9-4191-81E9-39BED485327B}"/>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723">
            <a:extLst>
              <a:ext uri="{FF2B5EF4-FFF2-40B4-BE49-F238E27FC236}">
                <a16:creationId xmlns:a16="http://schemas.microsoft.com/office/drawing/2014/main" id="{EFF8DD49-9E27-4C6C-8968-2C05496D08DA}"/>
              </a:ext>
            </a:extLst>
          </p:cNvPr>
          <p:cNvSpPr>
            <a:spLocks noGrp="1"/>
          </p:cNvSpPr>
          <p:nvPr/>
        </p:nvSpPr>
        <p:spPr>
          <a:xfrm>
            <a:off x="647700" y="4171950"/>
            <a:ext cx="114300" cy="800100"/>
          </a:xfrm>
          <a:prstGeom prst="rect">
            <a:avLst/>
          </a:prstGeom>
          <a:solidFill>
            <a:srgbClr val="B87333"/>
          </a:solidFill>
          <a:ln w="0">
            <a:noFill/>
            <a:prstDash val="solid"/>
          </a:ln>
        </p:spPr>
        <p:txBody>
          <a:bodyPr/>
          <a:lstStyle/>
          <a:p>
            <a:endParaRPr lang="en-US"/>
          </a:p>
        </p:txBody>
      </p:sp>
      <p:sp>
        <p:nvSpPr>
          <p:cNvPr id="21" name="text-724">
            <a:extLst>
              <a:ext uri="{FF2B5EF4-FFF2-40B4-BE49-F238E27FC236}">
                <a16:creationId xmlns:a16="http://schemas.microsoft.com/office/drawing/2014/main" id="{1435E350-1861-42DB-BCEF-41584F6F269F}"/>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725">
            <a:extLst>
              <a:ext uri="{FF2B5EF4-FFF2-40B4-BE49-F238E27FC236}">
                <a16:creationId xmlns:a16="http://schemas.microsoft.com/office/drawing/2014/main" id="{104968CD-1632-4B31-9144-9E003ECFC31C}"/>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Automatic approval</a:t>
            </a:r>
          </a:p>
        </p:txBody>
      </p:sp>
      <p:sp>
        <p:nvSpPr>
          <p:cNvPr id="23" name="text-726">
            <a:extLst>
              <a:ext uri="{FF2B5EF4-FFF2-40B4-BE49-F238E27FC236}">
                <a16:creationId xmlns:a16="http://schemas.microsoft.com/office/drawing/2014/main" id="{A1BE9990-F29E-4843-9833-D28A64B0C042}"/>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727">
            <a:extLst>
              <a:ext uri="{FF2B5EF4-FFF2-40B4-BE49-F238E27FC236}">
                <a16:creationId xmlns:a16="http://schemas.microsoft.com/office/drawing/2014/main" id="{802E3E55-26E7-406A-82F0-3902CA240B71}"/>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728">
            <a:extLst>
              <a:ext uri="{FF2B5EF4-FFF2-40B4-BE49-F238E27FC236}">
                <a16:creationId xmlns:a16="http://schemas.microsoft.com/office/drawing/2014/main" id="{1E90FE8C-209B-40E9-9854-E0CE0D701CD7}"/>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729">
            <a:extLst>
              <a:ext uri="{FF2B5EF4-FFF2-40B4-BE49-F238E27FC236}">
                <a16:creationId xmlns:a16="http://schemas.microsoft.com/office/drawing/2014/main" id="{6ECCB2F6-88A5-49B6-A87C-654BDC75DBE6}"/>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730">
            <a:extLst>
              <a:ext uri="{FF2B5EF4-FFF2-40B4-BE49-F238E27FC236}">
                <a16:creationId xmlns:a16="http://schemas.microsoft.com/office/drawing/2014/main" id="{52A1BB2B-D8DD-4D4F-8556-223FE2F78075}"/>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731">
            <a:extLst>
              <a:ext uri="{FF2B5EF4-FFF2-40B4-BE49-F238E27FC236}">
                <a16:creationId xmlns:a16="http://schemas.microsoft.com/office/drawing/2014/main" id="{26DA216D-4D99-4B72-A8D3-23F9159F8F74}"/>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732">
            <a:extLst>
              <a:ext uri="{FF2B5EF4-FFF2-40B4-BE49-F238E27FC236}">
                <a16:creationId xmlns:a16="http://schemas.microsoft.com/office/drawing/2014/main" id="{C09B3773-9241-461B-B4EA-CC183ABB0DC4}"/>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SERVICE &amp; EDUCATION</a:t>
            </a:r>
          </a:p>
        </p:txBody>
      </p:sp>
      <p:sp>
        <p:nvSpPr>
          <p:cNvPr id="30" name="text-733">
            <a:extLst>
              <a:ext uri="{FF2B5EF4-FFF2-40B4-BE49-F238E27FC236}">
                <a16:creationId xmlns:a16="http://schemas.microsoft.com/office/drawing/2014/main" id="{398F3FDF-9C3F-4D4D-8F43-DFD3EED7E4A3}"/>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Q25 / 49</a:t>
            </a:r>
          </a:p>
        </p:txBody>
      </p:sp>
    </p:spTree>
    <p:extLst>
      <p:ext uri="{BB962C8B-B14F-4D97-AF65-F5344CB8AC3E}">
        <p14:creationId xmlns:p14="http://schemas.microsoft.com/office/powerpoint/2010/main" val="1535550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734">
            <a:extLst>
              <a:ext uri="{FF2B5EF4-FFF2-40B4-BE49-F238E27FC236}">
                <a16:creationId xmlns:a16="http://schemas.microsoft.com/office/drawing/2014/main" id="{85960156-8257-4E56-8484-F21987000298}"/>
              </a:ext>
            </a:extLst>
          </p:cNvPr>
          <p:cNvSpPr>
            <a:spLocks noGrp="1"/>
          </p:cNvSpPr>
          <p:nvPr/>
        </p:nvSpPr>
        <p:spPr>
          <a:xfrm>
            <a:off x="647700" y="438150"/>
            <a:ext cx="104775" cy="247650"/>
          </a:xfrm>
          <a:prstGeom prst="rect">
            <a:avLst/>
          </a:prstGeom>
          <a:solidFill>
            <a:srgbClr val="B87333"/>
          </a:solidFill>
          <a:ln w="0">
            <a:noFill/>
            <a:prstDash val="solid"/>
          </a:ln>
        </p:spPr>
        <p:txBody>
          <a:bodyPr/>
          <a:lstStyle/>
          <a:p>
            <a:endParaRPr lang="en-US"/>
          </a:p>
        </p:txBody>
      </p:sp>
      <p:sp>
        <p:nvSpPr>
          <p:cNvPr id="3" name="text-735">
            <a:extLst>
              <a:ext uri="{FF2B5EF4-FFF2-40B4-BE49-F238E27FC236}">
                <a16:creationId xmlns:a16="http://schemas.microsoft.com/office/drawing/2014/main" id="{9CFEBD23-3680-4EC7-917C-0E720797A712}"/>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SERVICE &amp; EDUCATION</a:t>
            </a:r>
          </a:p>
        </p:txBody>
      </p:sp>
      <p:sp>
        <p:nvSpPr>
          <p:cNvPr id="4" name="text-736">
            <a:extLst>
              <a:ext uri="{FF2B5EF4-FFF2-40B4-BE49-F238E27FC236}">
                <a16:creationId xmlns:a16="http://schemas.microsoft.com/office/drawing/2014/main" id="{3FD6F4A9-B217-4251-80E6-A214F9B6B2CD}"/>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Q26</a:t>
            </a:r>
          </a:p>
        </p:txBody>
      </p:sp>
      <p:sp>
        <p:nvSpPr>
          <p:cNvPr id="5" name="text-737">
            <a:extLst>
              <a:ext uri="{FF2B5EF4-FFF2-40B4-BE49-F238E27FC236}">
                <a16:creationId xmlns:a16="http://schemas.microsoft.com/office/drawing/2014/main" id="{361FF357-CFA9-4C07-A065-A3EF8B00D0BF}"/>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return policy should v1 implement?</a:t>
            </a:r>
          </a:p>
        </p:txBody>
      </p:sp>
      <p:sp>
        <p:nvSpPr>
          <p:cNvPr id="6" name="text-738">
            <a:extLst>
              <a:ext uri="{FF2B5EF4-FFF2-40B4-BE49-F238E27FC236}">
                <a16:creationId xmlns:a16="http://schemas.microsoft.com/office/drawing/2014/main" id="{6ED01E20-AD2A-40B4-BA03-B62C08AE1E9F}"/>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B87333"/>
                </a:solidFill>
                <a:latin typeface="Bahnschrift"/>
                <a:ea typeface="Bahnschrift"/>
                <a:cs typeface="Bahnschrift"/>
              </a:defRPr>
            </a:pPr>
            <a:r>
              <a:rPr sz="1050" b="1">
                <a:solidFill>
                  <a:srgbClr val="B87333"/>
                </a:solidFill>
                <a:latin typeface="Bahnschrift"/>
                <a:ea typeface="Bahnschrift"/>
                <a:cs typeface="Bahnschrift"/>
              </a:rPr>
              <a:t>SYSTEM IMPACT</a:t>
            </a:r>
          </a:p>
        </p:txBody>
      </p:sp>
      <p:sp>
        <p:nvSpPr>
          <p:cNvPr id="7" name="text-739">
            <a:extLst>
              <a:ext uri="{FF2B5EF4-FFF2-40B4-BE49-F238E27FC236}">
                <a16:creationId xmlns:a16="http://schemas.microsoft.com/office/drawing/2014/main" id="{6E229552-FBB9-4CBB-B3DD-9F5EE435B8AB}"/>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default eligibility and configurable evidence windows.</a:t>
            </a:r>
          </a:p>
        </p:txBody>
      </p:sp>
      <p:sp>
        <p:nvSpPr>
          <p:cNvPr id="8" name="rect-740">
            <a:extLst>
              <a:ext uri="{FF2B5EF4-FFF2-40B4-BE49-F238E27FC236}">
                <a16:creationId xmlns:a16="http://schemas.microsoft.com/office/drawing/2014/main" id="{C1E26021-42AC-4200-9978-6F1134F8B63F}"/>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741">
            <a:extLst>
              <a:ext uri="{FF2B5EF4-FFF2-40B4-BE49-F238E27FC236}">
                <a16:creationId xmlns:a16="http://schemas.microsoft.com/office/drawing/2014/main" id="{3DDBCDE5-E291-4880-A426-53F2CD25713D}"/>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742">
            <a:extLst>
              <a:ext uri="{FF2B5EF4-FFF2-40B4-BE49-F238E27FC236}">
                <a16:creationId xmlns:a16="http://schemas.microsoft.com/office/drawing/2014/main" id="{688AAE1D-B02E-449A-BB00-86DB9FE77B67}"/>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743">
            <a:extLst>
              <a:ext uri="{FF2B5EF4-FFF2-40B4-BE49-F238E27FC236}">
                <a16:creationId xmlns:a16="http://schemas.microsoft.com/office/drawing/2014/main" id="{551351D7-B38E-4C83-A30C-E732670DE242}"/>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Issue-based eligibility only</a:t>
            </a:r>
          </a:p>
        </p:txBody>
      </p:sp>
      <p:sp>
        <p:nvSpPr>
          <p:cNvPr id="12" name="text-744">
            <a:extLst>
              <a:ext uri="{FF2B5EF4-FFF2-40B4-BE49-F238E27FC236}">
                <a16:creationId xmlns:a16="http://schemas.microsoft.com/office/drawing/2014/main" id="{4038B0C2-19DB-485C-98F5-BFB2B1625AC4}"/>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745">
            <a:extLst>
              <a:ext uri="{FF2B5EF4-FFF2-40B4-BE49-F238E27FC236}">
                <a16:creationId xmlns:a16="http://schemas.microsoft.com/office/drawing/2014/main" id="{C2E09581-7ACF-42AB-8881-1F207C7E79F7}"/>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746">
            <a:extLst>
              <a:ext uri="{FF2B5EF4-FFF2-40B4-BE49-F238E27FC236}">
                <a16:creationId xmlns:a16="http://schemas.microsoft.com/office/drawing/2014/main" id="{C863AD99-4460-4E24-872D-AFC99478C70D}"/>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747">
            <a:extLst>
              <a:ext uri="{FF2B5EF4-FFF2-40B4-BE49-F238E27FC236}">
                <a16:creationId xmlns:a16="http://schemas.microsoft.com/office/drawing/2014/main" id="{93FA69B6-53DF-4891-ABCF-C3A2CE6D0D55}"/>
              </a:ext>
            </a:extLst>
          </p:cNvPr>
          <p:cNvSpPr>
            <a:spLocks noGrp="1"/>
          </p:cNvSpPr>
          <p:nvPr/>
        </p:nvSpPr>
        <p:spPr>
          <a:xfrm>
            <a:off x="647700" y="3219450"/>
            <a:ext cx="114300" cy="800100"/>
          </a:xfrm>
          <a:prstGeom prst="rect">
            <a:avLst/>
          </a:prstGeom>
          <a:solidFill>
            <a:srgbClr val="B87333"/>
          </a:solidFill>
          <a:ln w="0">
            <a:noFill/>
            <a:prstDash val="solid"/>
          </a:ln>
        </p:spPr>
        <p:txBody>
          <a:bodyPr/>
          <a:lstStyle/>
          <a:p>
            <a:endParaRPr lang="en-US"/>
          </a:p>
        </p:txBody>
      </p:sp>
      <p:sp>
        <p:nvSpPr>
          <p:cNvPr id="16" name="text-748">
            <a:extLst>
              <a:ext uri="{FF2B5EF4-FFF2-40B4-BE49-F238E27FC236}">
                <a16:creationId xmlns:a16="http://schemas.microsoft.com/office/drawing/2014/main" id="{BF5988D8-AE18-42B6-B6DF-B9E103248C20}"/>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749">
            <a:extLst>
              <a:ext uri="{FF2B5EF4-FFF2-40B4-BE49-F238E27FC236}">
                <a16:creationId xmlns:a16="http://schemas.microsoft.com/office/drawing/2014/main" id="{D4946EF9-32F7-493A-8944-139E54A0C703}"/>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Accept unopened products</a:t>
            </a:r>
          </a:p>
        </p:txBody>
      </p:sp>
      <p:sp>
        <p:nvSpPr>
          <p:cNvPr id="18" name="text-750">
            <a:extLst>
              <a:ext uri="{FF2B5EF4-FFF2-40B4-BE49-F238E27FC236}">
                <a16:creationId xmlns:a16="http://schemas.microsoft.com/office/drawing/2014/main" id="{6327C3AA-7644-4AC7-BF27-6BD81C1FEBB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751">
            <a:extLst>
              <a:ext uri="{FF2B5EF4-FFF2-40B4-BE49-F238E27FC236}">
                <a16:creationId xmlns:a16="http://schemas.microsoft.com/office/drawing/2014/main" id="{D3D6F2E9-5AD4-4F46-94E9-8961B13E943C}"/>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752">
            <a:extLst>
              <a:ext uri="{FF2B5EF4-FFF2-40B4-BE49-F238E27FC236}">
                <a16:creationId xmlns:a16="http://schemas.microsoft.com/office/drawing/2014/main" id="{A2108B5A-E96C-4F7F-87F2-18E396282555}"/>
              </a:ext>
            </a:extLst>
          </p:cNvPr>
          <p:cNvSpPr>
            <a:spLocks noGrp="1"/>
          </p:cNvSpPr>
          <p:nvPr/>
        </p:nvSpPr>
        <p:spPr>
          <a:xfrm>
            <a:off x="647700" y="4171950"/>
            <a:ext cx="114300" cy="800100"/>
          </a:xfrm>
          <a:prstGeom prst="rect">
            <a:avLst/>
          </a:prstGeom>
          <a:solidFill>
            <a:srgbClr val="B87333"/>
          </a:solidFill>
          <a:ln w="0">
            <a:noFill/>
            <a:prstDash val="solid"/>
          </a:ln>
        </p:spPr>
        <p:txBody>
          <a:bodyPr/>
          <a:lstStyle/>
          <a:p>
            <a:endParaRPr lang="en-US"/>
          </a:p>
        </p:txBody>
      </p:sp>
      <p:sp>
        <p:nvSpPr>
          <p:cNvPr id="21" name="text-753">
            <a:extLst>
              <a:ext uri="{FF2B5EF4-FFF2-40B4-BE49-F238E27FC236}">
                <a16:creationId xmlns:a16="http://schemas.microsoft.com/office/drawing/2014/main" id="{C997314E-D1A7-4E64-A0EE-CBA03EA984FF}"/>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754">
            <a:extLst>
              <a:ext uri="{FF2B5EF4-FFF2-40B4-BE49-F238E27FC236}">
                <a16:creationId xmlns:a16="http://schemas.microsoft.com/office/drawing/2014/main" id="{DAFC1AA4-3214-4611-8321-A3032A37EE31}"/>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Decide every case without a default policy</a:t>
            </a:r>
          </a:p>
        </p:txBody>
      </p:sp>
      <p:sp>
        <p:nvSpPr>
          <p:cNvPr id="23" name="text-755">
            <a:extLst>
              <a:ext uri="{FF2B5EF4-FFF2-40B4-BE49-F238E27FC236}">
                <a16:creationId xmlns:a16="http://schemas.microsoft.com/office/drawing/2014/main" id="{31B502A3-E455-4EF2-9723-7412D640F5A1}"/>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756">
            <a:extLst>
              <a:ext uri="{FF2B5EF4-FFF2-40B4-BE49-F238E27FC236}">
                <a16:creationId xmlns:a16="http://schemas.microsoft.com/office/drawing/2014/main" id="{6A28D096-0121-47FB-8C64-4CDB6352BB7E}"/>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757">
            <a:extLst>
              <a:ext uri="{FF2B5EF4-FFF2-40B4-BE49-F238E27FC236}">
                <a16:creationId xmlns:a16="http://schemas.microsoft.com/office/drawing/2014/main" id="{5787F6E4-6F0F-4D71-B765-F04219EF81F4}"/>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758">
            <a:extLst>
              <a:ext uri="{FF2B5EF4-FFF2-40B4-BE49-F238E27FC236}">
                <a16:creationId xmlns:a16="http://schemas.microsoft.com/office/drawing/2014/main" id="{0E125629-E709-4251-BC73-A85D6BB1FCF0}"/>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759">
            <a:extLst>
              <a:ext uri="{FF2B5EF4-FFF2-40B4-BE49-F238E27FC236}">
                <a16:creationId xmlns:a16="http://schemas.microsoft.com/office/drawing/2014/main" id="{A0170BD0-3F5C-421F-BB5F-BEBE83E98A35}"/>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760">
            <a:extLst>
              <a:ext uri="{FF2B5EF4-FFF2-40B4-BE49-F238E27FC236}">
                <a16:creationId xmlns:a16="http://schemas.microsoft.com/office/drawing/2014/main" id="{3FC8AF90-95BE-4682-B906-84DBDC0DCF10}"/>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761">
            <a:extLst>
              <a:ext uri="{FF2B5EF4-FFF2-40B4-BE49-F238E27FC236}">
                <a16:creationId xmlns:a16="http://schemas.microsoft.com/office/drawing/2014/main" id="{5380BE99-E96E-4AB6-BF5C-B252B7059D94}"/>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SERVICE &amp; EDUCATION</a:t>
            </a:r>
          </a:p>
        </p:txBody>
      </p:sp>
      <p:sp>
        <p:nvSpPr>
          <p:cNvPr id="30" name="text-762">
            <a:extLst>
              <a:ext uri="{FF2B5EF4-FFF2-40B4-BE49-F238E27FC236}">
                <a16:creationId xmlns:a16="http://schemas.microsoft.com/office/drawing/2014/main" id="{FD5C3F58-0A31-43F1-ABEE-06A6FA2ABECB}"/>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Q26 / 49</a:t>
            </a:r>
          </a:p>
        </p:txBody>
      </p:sp>
    </p:spTree>
    <p:extLst>
      <p:ext uri="{BB962C8B-B14F-4D97-AF65-F5344CB8AC3E}">
        <p14:creationId xmlns:p14="http://schemas.microsoft.com/office/powerpoint/2010/main" val="452708347"/>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763">
            <a:extLst>
              <a:ext uri="{FF2B5EF4-FFF2-40B4-BE49-F238E27FC236}">
                <a16:creationId xmlns:a16="http://schemas.microsoft.com/office/drawing/2014/main" id="{B99AA7E6-3183-43AF-BFB6-B4AF0AEB751B}"/>
              </a:ext>
            </a:extLst>
          </p:cNvPr>
          <p:cNvSpPr>
            <a:spLocks noGrp="1"/>
          </p:cNvSpPr>
          <p:nvPr/>
        </p:nvSpPr>
        <p:spPr>
          <a:xfrm>
            <a:off x="647700" y="438150"/>
            <a:ext cx="104775" cy="247650"/>
          </a:xfrm>
          <a:prstGeom prst="rect">
            <a:avLst/>
          </a:prstGeom>
          <a:solidFill>
            <a:srgbClr val="B87333"/>
          </a:solidFill>
          <a:ln w="0">
            <a:noFill/>
            <a:prstDash val="solid"/>
          </a:ln>
        </p:spPr>
        <p:txBody>
          <a:bodyPr/>
          <a:lstStyle/>
          <a:p>
            <a:endParaRPr lang="en-US"/>
          </a:p>
        </p:txBody>
      </p:sp>
      <p:sp>
        <p:nvSpPr>
          <p:cNvPr id="3" name="text-764">
            <a:extLst>
              <a:ext uri="{FF2B5EF4-FFF2-40B4-BE49-F238E27FC236}">
                <a16:creationId xmlns:a16="http://schemas.microsoft.com/office/drawing/2014/main" id="{992EB086-B80E-436E-BE68-2811D0CD2C12}"/>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SERVICE &amp; EDUCATION</a:t>
            </a:r>
          </a:p>
        </p:txBody>
      </p:sp>
      <p:sp>
        <p:nvSpPr>
          <p:cNvPr id="4" name="text-765">
            <a:extLst>
              <a:ext uri="{FF2B5EF4-FFF2-40B4-BE49-F238E27FC236}">
                <a16:creationId xmlns:a16="http://schemas.microsoft.com/office/drawing/2014/main" id="{CEDD5DCD-7EA8-4C5F-8926-A10FFF75CE32}"/>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Q27</a:t>
            </a:r>
          </a:p>
        </p:txBody>
      </p:sp>
      <p:sp>
        <p:nvSpPr>
          <p:cNvPr id="5" name="text-766">
            <a:extLst>
              <a:ext uri="{FF2B5EF4-FFF2-40B4-BE49-F238E27FC236}">
                <a16:creationId xmlns:a16="http://schemas.microsoft.com/office/drawing/2014/main" id="{D7999FE1-7890-40A9-8BC8-F8CAC69BFB1F}"/>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Who should authorize order cancellation?</a:t>
            </a:r>
          </a:p>
        </p:txBody>
      </p:sp>
      <p:sp>
        <p:nvSpPr>
          <p:cNvPr id="6" name="text-767">
            <a:extLst>
              <a:ext uri="{FF2B5EF4-FFF2-40B4-BE49-F238E27FC236}">
                <a16:creationId xmlns:a16="http://schemas.microsoft.com/office/drawing/2014/main" id="{D54A60D7-36FF-49DC-8437-601D99F8B7D7}"/>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B87333"/>
                </a:solidFill>
                <a:latin typeface="Bahnschrift"/>
                <a:ea typeface="Bahnschrift"/>
                <a:cs typeface="Bahnschrift"/>
              </a:defRPr>
            </a:pPr>
            <a:r>
              <a:rPr sz="1050" b="1">
                <a:solidFill>
                  <a:srgbClr val="B87333"/>
                </a:solidFill>
                <a:latin typeface="Bahnschrift"/>
                <a:ea typeface="Bahnschrift"/>
                <a:cs typeface="Bahnschrift"/>
              </a:rPr>
              <a:t>SYSTEM IMPACT</a:t>
            </a:r>
          </a:p>
        </p:txBody>
      </p:sp>
      <p:sp>
        <p:nvSpPr>
          <p:cNvPr id="7" name="text-768">
            <a:extLst>
              <a:ext uri="{FF2B5EF4-FFF2-40B4-BE49-F238E27FC236}">
                <a16:creationId xmlns:a16="http://schemas.microsoft.com/office/drawing/2014/main" id="{9505D776-0DB8-4544-AFE3-2DEFB365A2F6}"/>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fulfilment coordination and refund consistency.</a:t>
            </a:r>
          </a:p>
        </p:txBody>
      </p:sp>
      <p:sp>
        <p:nvSpPr>
          <p:cNvPr id="8" name="rect-769">
            <a:extLst>
              <a:ext uri="{FF2B5EF4-FFF2-40B4-BE49-F238E27FC236}">
                <a16:creationId xmlns:a16="http://schemas.microsoft.com/office/drawing/2014/main" id="{D0D37CD3-9DB8-49DD-9632-896A481EF358}"/>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770">
            <a:extLst>
              <a:ext uri="{FF2B5EF4-FFF2-40B4-BE49-F238E27FC236}">
                <a16:creationId xmlns:a16="http://schemas.microsoft.com/office/drawing/2014/main" id="{577B0E9B-F716-42A0-92EF-ACB09D8346B4}"/>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771">
            <a:extLst>
              <a:ext uri="{FF2B5EF4-FFF2-40B4-BE49-F238E27FC236}">
                <a16:creationId xmlns:a16="http://schemas.microsoft.com/office/drawing/2014/main" id="{7820BE41-B1D4-4742-9EB0-7B782252E79B}"/>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772">
            <a:extLst>
              <a:ext uri="{FF2B5EF4-FFF2-40B4-BE49-F238E27FC236}">
                <a16:creationId xmlns:a16="http://schemas.microsoft.com/office/drawing/2014/main" id="{F6B2BAC8-4C1A-4B49-928A-F1223CE81910}"/>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Support approves cancellations</a:t>
            </a:r>
          </a:p>
        </p:txBody>
      </p:sp>
      <p:sp>
        <p:nvSpPr>
          <p:cNvPr id="12" name="text-773">
            <a:extLst>
              <a:ext uri="{FF2B5EF4-FFF2-40B4-BE49-F238E27FC236}">
                <a16:creationId xmlns:a16="http://schemas.microsoft.com/office/drawing/2014/main" id="{FF472DCC-7098-426F-A63A-3651D4A12C7D}"/>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774">
            <a:extLst>
              <a:ext uri="{FF2B5EF4-FFF2-40B4-BE49-F238E27FC236}">
                <a16:creationId xmlns:a16="http://schemas.microsoft.com/office/drawing/2014/main" id="{41CFED59-2AA0-4C79-A317-F60C561DB9ED}"/>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775">
            <a:extLst>
              <a:ext uri="{FF2B5EF4-FFF2-40B4-BE49-F238E27FC236}">
                <a16:creationId xmlns:a16="http://schemas.microsoft.com/office/drawing/2014/main" id="{70C43175-5C65-4D4D-9907-859C3DC3680E}"/>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776">
            <a:extLst>
              <a:ext uri="{FF2B5EF4-FFF2-40B4-BE49-F238E27FC236}">
                <a16:creationId xmlns:a16="http://schemas.microsoft.com/office/drawing/2014/main" id="{82B83294-1D79-4E93-9997-509DB9479EBB}"/>
              </a:ext>
            </a:extLst>
          </p:cNvPr>
          <p:cNvSpPr>
            <a:spLocks noGrp="1"/>
          </p:cNvSpPr>
          <p:nvPr/>
        </p:nvSpPr>
        <p:spPr>
          <a:xfrm>
            <a:off x="647700" y="3219450"/>
            <a:ext cx="114300" cy="800100"/>
          </a:xfrm>
          <a:prstGeom prst="rect">
            <a:avLst/>
          </a:prstGeom>
          <a:solidFill>
            <a:srgbClr val="B87333"/>
          </a:solidFill>
          <a:ln w="0">
            <a:noFill/>
            <a:prstDash val="solid"/>
          </a:ln>
        </p:spPr>
        <p:txBody>
          <a:bodyPr/>
          <a:lstStyle/>
          <a:p>
            <a:endParaRPr lang="en-US"/>
          </a:p>
        </p:txBody>
      </p:sp>
      <p:sp>
        <p:nvSpPr>
          <p:cNvPr id="16" name="text-777">
            <a:extLst>
              <a:ext uri="{FF2B5EF4-FFF2-40B4-BE49-F238E27FC236}">
                <a16:creationId xmlns:a16="http://schemas.microsoft.com/office/drawing/2014/main" id="{38590BE7-9E13-4449-A329-3BA99021A977}"/>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778">
            <a:extLst>
              <a:ext uri="{FF2B5EF4-FFF2-40B4-BE49-F238E27FC236}">
                <a16:creationId xmlns:a16="http://schemas.microsoft.com/office/drawing/2014/main" id="{E9037BE1-6D12-40EE-80B1-5FC08536CA7B}"/>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Customers may cancel before fulfilment</a:t>
            </a:r>
          </a:p>
        </p:txBody>
      </p:sp>
      <p:sp>
        <p:nvSpPr>
          <p:cNvPr id="18" name="text-779">
            <a:extLst>
              <a:ext uri="{FF2B5EF4-FFF2-40B4-BE49-F238E27FC236}">
                <a16:creationId xmlns:a16="http://schemas.microsoft.com/office/drawing/2014/main" id="{75B1CD94-9196-45B9-A439-DF0BFA21FA23}"/>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780">
            <a:extLst>
              <a:ext uri="{FF2B5EF4-FFF2-40B4-BE49-F238E27FC236}">
                <a16:creationId xmlns:a16="http://schemas.microsoft.com/office/drawing/2014/main" id="{A378D5C7-6C54-4CF4-9C3D-0BC6E78EDE4B}"/>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781">
            <a:extLst>
              <a:ext uri="{FF2B5EF4-FFF2-40B4-BE49-F238E27FC236}">
                <a16:creationId xmlns:a16="http://schemas.microsoft.com/office/drawing/2014/main" id="{5B3793B4-F9A5-4FE1-BECA-D189F2BF6DC0}"/>
              </a:ext>
            </a:extLst>
          </p:cNvPr>
          <p:cNvSpPr>
            <a:spLocks noGrp="1"/>
          </p:cNvSpPr>
          <p:nvPr/>
        </p:nvSpPr>
        <p:spPr>
          <a:xfrm>
            <a:off x="647700" y="4171950"/>
            <a:ext cx="114300" cy="800100"/>
          </a:xfrm>
          <a:prstGeom prst="rect">
            <a:avLst/>
          </a:prstGeom>
          <a:solidFill>
            <a:srgbClr val="B87333"/>
          </a:solidFill>
          <a:ln w="0">
            <a:noFill/>
            <a:prstDash val="solid"/>
          </a:ln>
        </p:spPr>
        <p:txBody>
          <a:bodyPr/>
          <a:lstStyle/>
          <a:p>
            <a:endParaRPr lang="en-US"/>
          </a:p>
        </p:txBody>
      </p:sp>
      <p:sp>
        <p:nvSpPr>
          <p:cNvPr id="21" name="text-782">
            <a:extLst>
              <a:ext uri="{FF2B5EF4-FFF2-40B4-BE49-F238E27FC236}">
                <a16:creationId xmlns:a16="http://schemas.microsoft.com/office/drawing/2014/main" id="{748B8886-DDCE-45FC-98A0-46C0AAC69116}"/>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783">
            <a:extLst>
              <a:ext uri="{FF2B5EF4-FFF2-40B4-BE49-F238E27FC236}">
                <a16:creationId xmlns:a16="http://schemas.microsoft.com/office/drawing/2014/main" id="{37B2660F-1BD4-4000-9983-99E890A78B18}"/>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Do not allow cancellations</a:t>
            </a:r>
          </a:p>
        </p:txBody>
      </p:sp>
      <p:sp>
        <p:nvSpPr>
          <p:cNvPr id="23" name="text-784">
            <a:extLst>
              <a:ext uri="{FF2B5EF4-FFF2-40B4-BE49-F238E27FC236}">
                <a16:creationId xmlns:a16="http://schemas.microsoft.com/office/drawing/2014/main" id="{B7EF26BE-21E0-4C6E-B765-712965EF245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785">
            <a:extLst>
              <a:ext uri="{FF2B5EF4-FFF2-40B4-BE49-F238E27FC236}">
                <a16:creationId xmlns:a16="http://schemas.microsoft.com/office/drawing/2014/main" id="{136CC073-C937-409E-B27F-831F0B326460}"/>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786">
            <a:extLst>
              <a:ext uri="{FF2B5EF4-FFF2-40B4-BE49-F238E27FC236}">
                <a16:creationId xmlns:a16="http://schemas.microsoft.com/office/drawing/2014/main" id="{69257518-5619-4029-9302-824D56E15C2A}"/>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787">
            <a:extLst>
              <a:ext uri="{FF2B5EF4-FFF2-40B4-BE49-F238E27FC236}">
                <a16:creationId xmlns:a16="http://schemas.microsoft.com/office/drawing/2014/main" id="{D3D2D646-5D2F-4009-8A25-030D5D24313F}"/>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788">
            <a:extLst>
              <a:ext uri="{FF2B5EF4-FFF2-40B4-BE49-F238E27FC236}">
                <a16:creationId xmlns:a16="http://schemas.microsoft.com/office/drawing/2014/main" id="{AD189945-CB47-409C-8C40-5E6F3AF39AD3}"/>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789">
            <a:extLst>
              <a:ext uri="{FF2B5EF4-FFF2-40B4-BE49-F238E27FC236}">
                <a16:creationId xmlns:a16="http://schemas.microsoft.com/office/drawing/2014/main" id="{28393812-B6E5-4E51-BE32-2628C8C37716}"/>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790">
            <a:extLst>
              <a:ext uri="{FF2B5EF4-FFF2-40B4-BE49-F238E27FC236}">
                <a16:creationId xmlns:a16="http://schemas.microsoft.com/office/drawing/2014/main" id="{57B30F93-CF85-4181-9B0F-5C87AE2B059C}"/>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SERVICE &amp; EDUCATION</a:t>
            </a:r>
          </a:p>
        </p:txBody>
      </p:sp>
      <p:sp>
        <p:nvSpPr>
          <p:cNvPr id="30" name="text-791">
            <a:extLst>
              <a:ext uri="{FF2B5EF4-FFF2-40B4-BE49-F238E27FC236}">
                <a16:creationId xmlns:a16="http://schemas.microsoft.com/office/drawing/2014/main" id="{0806A8DB-48CD-4F94-9869-F29DDD4BE480}"/>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Q27 / 49</a:t>
            </a:r>
          </a:p>
        </p:txBody>
      </p:sp>
    </p:spTree>
    <p:extLst>
      <p:ext uri="{BB962C8B-B14F-4D97-AF65-F5344CB8AC3E}">
        <p14:creationId xmlns:p14="http://schemas.microsoft.com/office/powerpoint/2010/main" val="175689352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792">
            <a:extLst>
              <a:ext uri="{FF2B5EF4-FFF2-40B4-BE49-F238E27FC236}">
                <a16:creationId xmlns:a16="http://schemas.microsoft.com/office/drawing/2014/main" id="{491253FC-6ACC-4782-BFD0-BA19B4A16982}"/>
              </a:ext>
            </a:extLst>
          </p:cNvPr>
          <p:cNvSpPr>
            <a:spLocks noGrp="1"/>
          </p:cNvSpPr>
          <p:nvPr/>
        </p:nvSpPr>
        <p:spPr>
          <a:xfrm>
            <a:off x="647700" y="438150"/>
            <a:ext cx="104775" cy="247650"/>
          </a:xfrm>
          <a:prstGeom prst="rect">
            <a:avLst/>
          </a:prstGeom>
          <a:solidFill>
            <a:srgbClr val="B87333"/>
          </a:solidFill>
          <a:ln w="0">
            <a:noFill/>
            <a:prstDash val="solid"/>
          </a:ln>
        </p:spPr>
        <p:txBody>
          <a:bodyPr/>
          <a:lstStyle/>
          <a:p>
            <a:endParaRPr lang="en-US"/>
          </a:p>
        </p:txBody>
      </p:sp>
      <p:sp>
        <p:nvSpPr>
          <p:cNvPr id="3" name="text-793">
            <a:extLst>
              <a:ext uri="{FF2B5EF4-FFF2-40B4-BE49-F238E27FC236}">
                <a16:creationId xmlns:a16="http://schemas.microsoft.com/office/drawing/2014/main" id="{A7937610-B8E0-4C79-BCE1-BFAA09AEF3FD}"/>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SERVICE &amp; EDUCATION</a:t>
            </a:r>
          </a:p>
        </p:txBody>
      </p:sp>
      <p:sp>
        <p:nvSpPr>
          <p:cNvPr id="4" name="text-794">
            <a:extLst>
              <a:ext uri="{FF2B5EF4-FFF2-40B4-BE49-F238E27FC236}">
                <a16:creationId xmlns:a16="http://schemas.microsoft.com/office/drawing/2014/main" id="{EC71D7C3-AE2E-4AD1-8D99-C27D2490442B}"/>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Q28</a:t>
            </a:r>
          </a:p>
        </p:txBody>
      </p:sp>
      <p:sp>
        <p:nvSpPr>
          <p:cNvPr id="5" name="text-795">
            <a:extLst>
              <a:ext uri="{FF2B5EF4-FFF2-40B4-BE49-F238E27FC236}">
                <a16:creationId xmlns:a16="http://schemas.microsoft.com/office/drawing/2014/main" id="{A07201FE-EF4B-4C71-9ACD-05B77C9E3936}"/>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education surface belongs in v1?</a:t>
            </a:r>
          </a:p>
        </p:txBody>
      </p:sp>
      <p:sp>
        <p:nvSpPr>
          <p:cNvPr id="6" name="text-796">
            <a:extLst>
              <a:ext uri="{FF2B5EF4-FFF2-40B4-BE49-F238E27FC236}">
                <a16:creationId xmlns:a16="http://schemas.microsoft.com/office/drawing/2014/main" id="{47D57D2D-093B-4703-8F5C-2429C7F5ADAE}"/>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B87333"/>
                </a:solidFill>
                <a:latin typeface="Bahnschrift"/>
                <a:ea typeface="Bahnschrift"/>
                <a:cs typeface="Bahnschrift"/>
              </a:defRPr>
            </a:pPr>
            <a:r>
              <a:rPr sz="1050" b="1">
                <a:solidFill>
                  <a:srgbClr val="B87333"/>
                </a:solidFill>
                <a:latin typeface="Bahnschrift"/>
                <a:ea typeface="Bahnschrift"/>
                <a:cs typeface="Bahnschrift"/>
              </a:rPr>
              <a:t>SYSTEM IMPACT</a:t>
            </a:r>
          </a:p>
        </p:txBody>
      </p:sp>
      <p:sp>
        <p:nvSpPr>
          <p:cNvPr id="7" name="text-797">
            <a:extLst>
              <a:ext uri="{FF2B5EF4-FFF2-40B4-BE49-F238E27FC236}">
                <a16:creationId xmlns:a16="http://schemas.microsoft.com/office/drawing/2014/main" id="{874CD07E-750B-4337-A7E1-DD2FEEC31D4D}"/>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reusable approved content outside individual product pages.</a:t>
            </a:r>
          </a:p>
        </p:txBody>
      </p:sp>
      <p:sp>
        <p:nvSpPr>
          <p:cNvPr id="8" name="rect-798">
            <a:extLst>
              <a:ext uri="{FF2B5EF4-FFF2-40B4-BE49-F238E27FC236}">
                <a16:creationId xmlns:a16="http://schemas.microsoft.com/office/drawing/2014/main" id="{21C9CE6C-1722-4C83-8F26-09D0C0A89663}"/>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799">
            <a:extLst>
              <a:ext uri="{FF2B5EF4-FFF2-40B4-BE49-F238E27FC236}">
                <a16:creationId xmlns:a16="http://schemas.microsoft.com/office/drawing/2014/main" id="{ABFD6080-0579-4DB0-8D09-7D69A96DB7D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800">
            <a:extLst>
              <a:ext uri="{FF2B5EF4-FFF2-40B4-BE49-F238E27FC236}">
                <a16:creationId xmlns:a16="http://schemas.microsoft.com/office/drawing/2014/main" id="{15CC693C-93DA-4175-B962-21046A7E10E3}"/>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801">
            <a:extLst>
              <a:ext uri="{FF2B5EF4-FFF2-40B4-BE49-F238E27FC236}">
                <a16:creationId xmlns:a16="http://schemas.microsoft.com/office/drawing/2014/main" id="{0E8CC432-2C33-4BEA-B660-1775D042AAF1}"/>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Ingredient and proof library</a:t>
            </a:r>
          </a:p>
        </p:txBody>
      </p:sp>
      <p:sp>
        <p:nvSpPr>
          <p:cNvPr id="12" name="text-802">
            <a:extLst>
              <a:ext uri="{FF2B5EF4-FFF2-40B4-BE49-F238E27FC236}">
                <a16:creationId xmlns:a16="http://schemas.microsoft.com/office/drawing/2014/main" id="{F1571335-726C-4218-AB1B-CC07D71E026D}"/>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803">
            <a:extLst>
              <a:ext uri="{FF2B5EF4-FFF2-40B4-BE49-F238E27FC236}">
                <a16:creationId xmlns:a16="http://schemas.microsoft.com/office/drawing/2014/main" id="{D256BCF3-581C-4654-A5A7-B928A2D4B5C1}"/>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804">
            <a:extLst>
              <a:ext uri="{FF2B5EF4-FFF2-40B4-BE49-F238E27FC236}">
                <a16:creationId xmlns:a16="http://schemas.microsoft.com/office/drawing/2014/main" id="{04ED5D0D-3105-4E60-8C22-05A7BB79C392}"/>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805">
            <a:extLst>
              <a:ext uri="{FF2B5EF4-FFF2-40B4-BE49-F238E27FC236}">
                <a16:creationId xmlns:a16="http://schemas.microsoft.com/office/drawing/2014/main" id="{B16D40F2-64BB-4074-BB0F-DA742F153B41}"/>
              </a:ext>
            </a:extLst>
          </p:cNvPr>
          <p:cNvSpPr>
            <a:spLocks noGrp="1"/>
          </p:cNvSpPr>
          <p:nvPr/>
        </p:nvSpPr>
        <p:spPr>
          <a:xfrm>
            <a:off x="647700" y="3219450"/>
            <a:ext cx="114300" cy="800100"/>
          </a:xfrm>
          <a:prstGeom prst="rect">
            <a:avLst/>
          </a:prstGeom>
          <a:solidFill>
            <a:srgbClr val="B87333"/>
          </a:solidFill>
          <a:ln w="0">
            <a:noFill/>
            <a:prstDash val="solid"/>
          </a:ln>
        </p:spPr>
        <p:txBody>
          <a:bodyPr/>
          <a:lstStyle/>
          <a:p>
            <a:endParaRPr lang="en-US"/>
          </a:p>
        </p:txBody>
      </p:sp>
      <p:sp>
        <p:nvSpPr>
          <p:cNvPr id="16" name="text-806">
            <a:extLst>
              <a:ext uri="{FF2B5EF4-FFF2-40B4-BE49-F238E27FC236}">
                <a16:creationId xmlns:a16="http://schemas.microsoft.com/office/drawing/2014/main" id="{8136EE84-B30C-460A-925C-3F33C50E91B5}"/>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807">
            <a:extLst>
              <a:ext uri="{FF2B5EF4-FFF2-40B4-BE49-F238E27FC236}">
                <a16:creationId xmlns:a16="http://schemas.microsoft.com/office/drawing/2014/main" id="{464CFF42-19AA-4309-B9AF-C88B425E10F8}"/>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Full editorial content hub</a:t>
            </a:r>
          </a:p>
        </p:txBody>
      </p:sp>
      <p:sp>
        <p:nvSpPr>
          <p:cNvPr id="18" name="text-808">
            <a:extLst>
              <a:ext uri="{FF2B5EF4-FFF2-40B4-BE49-F238E27FC236}">
                <a16:creationId xmlns:a16="http://schemas.microsoft.com/office/drawing/2014/main" id="{1165E26D-2CFC-4448-B26D-DD595EAA5AEC}"/>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809">
            <a:extLst>
              <a:ext uri="{FF2B5EF4-FFF2-40B4-BE49-F238E27FC236}">
                <a16:creationId xmlns:a16="http://schemas.microsoft.com/office/drawing/2014/main" id="{C785568D-4629-49FF-BF85-22BA070777A4}"/>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810">
            <a:extLst>
              <a:ext uri="{FF2B5EF4-FFF2-40B4-BE49-F238E27FC236}">
                <a16:creationId xmlns:a16="http://schemas.microsoft.com/office/drawing/2014/main" id="{6FFEF1E0-564A-412F-A058-426F07992530}"/>
              </a:ext>
            </a:extLst>
          </p:cNvPr>
          <p:cNvSpPr>
            <a:spLocks noGrp="1"/>
          </p:cNvSpPr>
          <p:nvPr/>
        </p:nvSpPr>
        <p:spPr>
          <a:xfrm>
            <a:off x="647700" y="4171950"/>
            <a:ext cx="114300" cy="800100"/>
          </a:xfrm>
          <a:prstGeom prst="rect">
            <a:avLst/>
          </a:prstGeom>
          <a:solidFill>
            <a:srgbClr val="B87333"/>
          </a:solidFill>
          <a:ln w="0">
            <a:noFill/>
            <a:prstDash val="solid"/>
          </a:ln>
        </p:spPr>
        <p:txBody>
          <a:bodyPr/>
          <a:lstStyle/>
          <a:p>
            <a:endParaRPr lang="en-US"/>
          </a:p>
        </p:txBody>
      </p:sp>
      <p:sp>
        <p:nvSpPr>
          <p:cNvPr id="21" name="text-811">
            <a:extLst>
              <a:ext uri="{FF2B5EF4-FFF2-40B4-BE49-F238E27FC236}">
                <a16:creationId xmlns:a16="http://schemas.microsoft.com/office/drawing/2014/main" id="{E4339011-430B-4286-9069-B274FAC3E4AE}"/>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812">
            <a:extLst>
              <a:ext uri="{FF2B5EF4-FFF2-40B4-BE49-F238E27FC236}">
                <a16:creationId xmlns:a16="http://schemas.microsoft.com/office/drawing/2014/main" id="{CBAD5B24-9906-446C-AC7D-4E849BAF3330}"/>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Product-page education only</a:t>
            </a:r>
          </a:p>
        </p:txBody>
      </p:sp>
      <p:sp>
        <p:nvSpPr>
          <p:cNvPr id="23" name="text-813">
            <a:extLst>
              <a:ext uri="{FF2B5EF4-FFF2-40B4-BE49-F238E27FC236}">
                <a16:creationId xmlns:a16="http://schemas.microsoft.com/office/drawing/2014/main" id="{ED3591D0-AC46-4855-8563-0BA61E90C411}"/>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814">
            <a:extLst>
              <a:ext uri="{FF2B5EF4-FFF2-40B4-BE49-F238E27FC236}">
                <a16:creationId xmlns:a16="http://schemas.microsoft.com/office/drawing/2014/main" id="{BB13F72B-9E88-4C03-90CC-BA22CC23B77B}"/>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815">
            <a:extLst>
              <a:ext uri="{FF2B5EF4-FFF2-40B4-BE49-F238E27FC236}">
                <a16:creationId xmlns:a16="http://schemas.microsoft.com/office/drawing/2014/main" id="{8A159082-FC6C-4964-95E2-5A17347987B6}"/>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816">
            <a:extLst>
              <a:ext uri="{FF2B5EF4-FFF2-40B4-BE49-F238E27FC236}">
                <a16:creationId xmlns:a16="http://schemas.microsoft.com/office/drawing/2014/main" id="{CCFBB746-566B-4457-B27C-DB1E9D4EFA00}"/>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817">
            <a:extLst>
              <a:ext uri="{FF2B5EF4-FFF2-40B4-BE49-F238E27FC236}">
                <a16:creationId xmlns:a16="http://schemas.microsoft.com/office/drawing/2014/main" id="{565F2B39-D4ED-4EF5-B4FE-84A2CF28D179}"/>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818">
            <a:extLst>
              <a:ext uri="{FF2B5EF4-FFF2-40B4-BE49-F238E27FC236}">
                <a16:creationId xmlns:a16="http://schemas.microsoft.com/office/drawing/2014/main" id="{EC61BC33-4F6D-4056-A892-28DED7B6EA59}"/>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819">
            <a:extLst>
              <a:ext uri="{FF2B5EF4-FFF2-40B4-BE49-F238E27FC236}">
                <a16:creationId xmlns:a16="http://schemas.microsoft.com/office/drawing/2014/main" id="{C4772BDD-B0CE-4521-89C8-8912817682DD}"/>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SERVICE &amp; EDUCATION</a:t>
            </a:r>
          </a:p>
        </p:txBody>
      </p:sp>
      <p:sp>
        <p:nvSpPr>
          <p:cNvPr id="30" name="text-820">
            <a:extLst>
              <a:ext uri="{FF2B5EF4-FFF2-40B4-BE49-F238E27FC236}">
                <a16:creationId xmlns:a16="http://schemas.microsoft.com/office/drawing/2014/main" id="{9463903C-D9DA-43D1-A790-F10E286BAF15}"/>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Q28 / 49</a:t>
            </a:r>
          </a:p>
        </p:txBody>
      </p:sp>
    </p:spTree>
    <p:extLst>
      <p:ext uri="{BB962C8B-B14F-4D97-AF65-F5344CB8AC3E}">
        <p14:creationId xmlns:p14="http://schemas.microsoft.com/office/powerpoint/2010/main" val="1969646349"/>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821">
            <a:extLst>
              <a:ext uri="{FF2B5EF4-FFF2-40B4-BE49-F238E27FC236}">
                <a16:creationId xmlns:a16="http://schemas.microsoft.com/office/drawing/2014/main" id="{21666049-2546-4540-9F6C-CFA4A648BFA6}"/>
              </a:ext>
            </a:extLst>
          </p:cNvPr>
          <p:cNvSpPr>
            <a:spLocks noGrp="1"/>
          </p:cNvSpPr>
          <p:nvPr/>
        </p:nvSpPr>
        <p:spPr>
          <a:xfrm>
            <a:off x="647700" y="438150"/>
            <a:ext cx="104775" cy="247650"/>
          </a:xfrm>
          <a:prstGeom prst="rect">
            <a:avLst/>
          </a:prstGeom>
          <a:solidFill>
            <a:srgbClr val="000080"/>
          </a:solidFill>
          <a:ln w="0">
            <a:noFill/>
            <a:prstDash val="solid"/>
          </a:ln>
        </p:spPr>
        <p:txBody>
          <a:bodyPr/>
          <a:lstStyle/>
          <a:p>
            <a:endParaRPr lang="en-US"/>
          </a:p>
        </p:txBody>
      </p:sp>
      <p:sp>
        <p:nvSpPr>
          <p:cNvPr id="3" name="text-822">
            <a:extLst>
              <a:ext uri="{FF2B5EF4-FFF2-40B4-BE49-F238E27FC236}">
                <a16:creationId xmlns:a16="http://schemas.microsoft.com/office/drawing/2014/main" id="{81E76E1C-9DD0-4721-9E0A-D8FCEF7BD666}"/>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ADMINISTRATION &amp; GOVERNANCE</a:t>
            </a:r>
          </a:p>
        </p:txBody>
      </p:sp>
      <p:sp>
        <p:nvSpPr>
          <p:cNvPr id="4" name="text-823">
            <a:extLst>
              <a:ext uri="{FF2B5EF4-FFF2-40B4-BE49-F238E27FC236}">
                <a16:creationId xmlns:a16="http://schemas.microsoft.com/office/drawing/2014/main" id="{FCA7B41C-2603-4220-9502-B5BDE4C0A7B7}"/>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Q29</a:t>
            </a:r>
          </a:p>
        </p:txBody>
      </p:sp>
      <p:sp>
        <p:nvSpPr>
          <p:cNvPr id="5" name="text-824">
            <a:extLst>
              <a:ext uri="{FF2B5EF4-FFF2-40B4-BE49-F238E27FC236}">
                <a16:creationId xmlns:a16="http://schemas.microsoft.com/office/drawing/2014/main" id="{55A2E9EE-B435-4084-84B8-1DEE29B58DD0}"/>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broad should the internal admin portal be?</a:t>
            </a:r>
          </a:p>
        </p:txBody>
      </p:sp>
      <p:sp>
        <p:nvSpPr>
          <p:cNvPr id="6" name="text-825">
            <a:extLst>
              <a:ext uri="{FF2B5EF4-FFF2-40B4-BE49-F238E27FC236}">
                <a16:creationId xmlns:a16="http://schemas.microsoft.com/office/drawing/2014/main" id="{28CAD11D-6271-4AE4-A873-F0F1A284A49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000080"/>
                </a:solidFill>
                <a:latin typeface="Bahnschrift"/>
                <a:ea typeface="Bahnschrift"/>
                <a:cs typeface="Bahnschrift"/>
              </a:defRPr>
            </a:pPr>
            <a:r>
              <a:rPr sz="1050" b="1">
                <a:solidFill>
                  <a:srgbClr val="000080"/>
                </a:solidFill>
                <a:latin typeface="Bahnschrift"/>
                <a:ea typeface="Bahnschrift"/>
                <a:cs typeface="Bahnschrift"/>
              </a:rPr>
              <a:t>SYSTEM IMPACT</a:t>
            </a:r>
          </a:p>
        </p:txBody>
      </p:sp>
      <p:sp>
        <p:nvSpPr>
          <p:cNvPr id="7" name="text-826">
            <a:extLst>
              <a:ext uri="{FF2B5EF4-FFF2-40B4-BE49-F238E27FC236}">
                <a16:creationId xmlns:a16="http://schemas.microsoft.com/office/drawing/2014/main" id="{A4ED2568-7C05-4776-BE73-E944C835269D}"/>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which operational domains remain under company control.</a:t>
            </a:r>
          </a:p>
        </p:txBody>
      </p:sp>
      <p:sp>
        <p:nvSpPr>
          <p:cNvPr id="8" name="rect-827">
            <a:extLst>
              <a:ext uri="{FF2B5EF4-FFF2-40B4-BE49-F238E27FC236}">
                <a16:creationId xmlns:a16="http://schemas.microsoft.com/office/drawing/2014/main" id="{E007150E-E9DF-4295-99FA-3ECE32CD4CA9}"/>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828">
            <a:extLst>
              <a:ext uri="{FF2B5EF4-FFF2-40B4-BE49-F238E27FC236}">
                <a16:creationId xmlns:a16="http://schemas.microsoft.com/office/drawing/2014/main" id="{B8B5A6DA-4296-4FCC-8855-3A1BE0AB69E6}"/>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829">
            <a:extLst>
              <a:ext uri="{FF2B5EF4-FFF2-40B4-BE49-F238E27FC236}">
                <a16:creationId xmlns:a16="http://schemas.microsoft.com/office/drawing/2014/main" id="{EB3FEBAD-1D2C-4334-9B6B-A69D64768FC1}"/>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830">
            <a:extLst>
              <a:ext uri="{FF2B5EF4-FFF2-40B4-BE49-F238E27FC236}">
                <a16:creationId xmlns:a16="http://schemas.microsoft.com/office/drawing/2014/main" id="{B4153B3E-D848-4B87-AC84-292380D9EFC0}"/>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Full operational core</a:t>
            </a:r>
          </a:p>
        </p:txBody>
      </p:sp>
      <p:sp>
        <p:nvSpPr>
          <p:cNvPr id="12" name="text-831">
            <a:extLst>
              <a:ext uri="{FF2B5EF4-FFF2-40B4-BE49-F238E27FC236}">
                <a16:creationId xmlns:a16="http://schemas.microsoft.com/office/drawing/2014/main" id="{974A8CCB-CEE4-4E96-B7BC-AB078FF3068A}"/>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832">
            <a:extLst>
              <a:ext uri="{FF2B5EF4-FFF2-40B4-BE49-F238E27FC236}">
                <a16:creationId xmlns:a16="http://schemas.microsoft.com/office/drawing/2014/main" id="{28B89356-8194-4028-8FED-3EA44E90C7F1}"/>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833">
            <a:extLst>
              <a:ext uri="{FF2B5EF4-FFF2-40B4-BE49-F238E27FC236}">
                <a16:creationId xmlns:a16="http://schemas.microsoft.com/office/drawing/2014/main" id="{8C1E52B3-B511-4094-B5C2-55FECD08C324}"/>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834">
            <a:extLst>
              <a:ext uri="{FF2B5EF4-FFF2-40B4-BE49-F238E27FC236}">
                <a16:creationId xmlns:a16="http://schemas.microsoft.com/office/drawing/2014/main" id="{62AE10ED-0ACA-49D4-87A5-DBEAE8EA8C34}"/>
              </a:ext>
            </a:extLst>
          </p:cNvPr>
          <p:cNvSpPr>
            <a:spLocks noGrp="1"/>
          </p:cNvSpPr>
          <p:nvPr/>
        </p:nvSpPr>
        <p:spPr>
          <a:xfrm>
            <a:off x="647700" y="3219450"/>
            <a:ext cx="114300" cy="800100"/>
          </a:xfrm>
          <a:prstGeom prst="rect">
            <a:avLst/>
          </a:prstGeom>
          <a:solidFill>
            <a:srgbClr val="000080"/>
          </a:solidFill>
          <a:ln w="0">
            <a:noFill/>
            <a:prstDash val="solid"/>
          </a:ln>
        </p:spPr>
        <p:txBody>
          <a:bodyPr/>
          <a:lstStyle/>
          <a:p>
            <a:endParaRPr lang="en-US"/>
          </a:p>
        </p:txBody>
      </p:sp>
      <p:sp>
        <p:nvSpPr>
          <p:cNvPr id="16" name="text-835">
            <a:extLst>
              <a:ext uri="{FF2B5EF4-FFF2-40B4-BE49-F238E27FC236}">
                <a16:creationId xmlns:a16="http://schemas.microsoft.com/office/drawing/2014/main" id="{C5CC4FF8-2BF3-4082-914C-C96C6585FC18}"/>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836">
            <a:extLst>
              <a:ext uri="{FF2B5EF4-FFF2-40B4-BE49-F238E27FC236}">
                <a16:creationId xmlns:a16="http://schemas.microsoft.com/office/drawing/2014/main" id="{8C3C62CC-1A1C-4B9B-B929-1D0F632FD0AC}"/>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Orders and fulfilment only</a:t>
            </a:r>
          </a:p>
        </p:txBody>
      </p:sp>
      <p:sp>
        <p:nvSpPr>
          <p:cNvPr id="18" name="text-837">
            <a:extLst>
              <a:ext uri="{FF2B5EF4-FFF2-40B4-BE49-F238E27FC236}">
                <a16:creationId xmlns:a16="http://schemas.microsoft.com/office/drawing/2014/main" id="{1DAA6802-3257-4519-98B0-688506562CF6}"/>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838">
            <a:extLst>
              <a:ext uri="{FF2B5EF4-FFF2-40B4-BE49-F238E27FC236}">
                <a16:creationId xmlns:a16="http://schemas.microsoft.com/office/drawing/2014/main" id="{D523CA98-4CEC-4CD4-AFAE-9C7B9E3F8C5C}"/>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839">
            <a:extLst>
              <a:ext uri="{FF2B5EF4-FFF2-40B4-BE49-F238E27FC236}">
                <a16:creationId xmlns:a16="http://schemas.microsoft.com/office/drawing/2014/main" id="{F99CEC27-4985-44D5-97EF-843DD6530758}"/>
              </a:ext>
            </a:extLst>
          </p:cNvPr>
          <p:cNvSpPr>
            <a:spLocks noGrp="1"/>
          </p:cNvSpPr>
          <p:nvPr/>
        </p:nvSpPr>
        <p:spPr>
          <a:xfrm>
            <a:off x="647700" y="4171950"/>
            <a:ext cx="114300" cy="800100"/>
          </a:xfrm>
          <a:prstGeom prst="rect">
            <a:avLst/>
          </a:prstGeom>
          <a:solidFill>
            <a:srgbClr val="000080"/>
          </a:solidFill>
          <a:ln w="0">
            <a:noFill/>
            <a:prstDash val="solid"/>
          </a:ln>
        </p:spPr>
        <p:txBody>
          <a:bodyPr/>
          <a:lstStyle/>
          <a:p>
            <a:endParaRPr lang="en-US"/>
          </a:p>
        </p:txBody>
      </p:sp>
      <p:sp>
        <p:nvSpPr>
          <p:cNvPr id="21" name="text-840">
            <a:extLst>
              <a:ext uri="{FF2B5EF4-FFF2-40B4-BE49-F238E27FC236}">
                <a16:creationId xmlns:a16="http://schemas.microsoft.com/office/drawing/2014/main" id="{45F7A7E9-F146-4BB1-8A89-BF43F7B479DE}"/>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841">
            <a:extLst>
              <a:ext uri="{FF2B5EF4-FFF2-40B4-BE49-F238E27FC236}">
                <a16:creationId xmlns:a16="http://schemas.microsoft.com/office/drawing/2014/main" id="{895C7262-584C-45FE-B59A-2E983EA285EB}"/>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Rely on vendor dashboards</a:t>
            </a:r>
          </a:p>
        </p:txBody>
      </p:sp>
      <p:sp>
        <p:nvSpPr>
          <p:cNvPr id="23" name="text-842">
            <a:extLst>
              <a:ext uri="{FF2B5EF4-FFF2-40B4-BE49-F238E27FC236}">
                <a16:creationId xmlns:a16="http://schemas.microsoft.com/office/drawing/2014/main" id="{FE38272D-1A03-4A78-A143-3F42F3FBC8C5}"/>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843">
            <a:extLst>
              <a:ext uri="{FF2B5EF4-FFF2-40B4-BE49-F238E27FC236}">
                <a16:creationId xmlns:a16="http://schemas.microsoft.com/office/drawing/2014/main" id="{01A5118F-1017-49B4-A31E-DCE5A79D1222}"/>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844">
            <a:extLst>
              <a:ext uri="{FF2B5EF4-FFF2-40B4-BE49-F238E27FC236}">
                <a16:creationId xmlns:a16="http://schemas.microsoft.com/office/drawing/2014/main" id="{34597496-179F-4480-A370-2A281CDDAE56}"/>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845">
            <a:extLst>
              <a:ext uri="{FF2B5EF4-FFF2-40B4-BE49-F238E27FC236}">
                <a16:creationId xmlns:a16="http://schemas.microsoft.com/office/drawing/2014/main" id="{E6DB3DA7-728A-429A-993C-984C4127EEAB}"/>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846">
            <a:extLst>
              <a:ext uri="{FF2B5EF4-FFF2-40B4-BE49-F238E27FC236}">
                <a16:creationId xmlns:a16="http://schemas.microsoft.com/office/drawing/2014/main" id="{0684A1D2-7CA2-4C34-A89B-2BAD6ADF8911}"/>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847">
            <a:extLst>
              <a:ext uri="{FF2B5EF4-FFF2-40B4-BE49-F238E27FC236}">
                <a16:creationId xmlns:a16="http://schemas.microsoft.com/office/drawing/2014/main" id="{9AFFD5DB-B648-44E5-8FF6-ACC9696D027D}"/>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848">
            <a:extLst>
              <a:ext uri="{FF2B5EF4-FFF2-40B4-BE49-F238E27FC236}">
                <a16:creationId xmlns:a16="http://schemas.microsoft.com/office/drawing/2014/main" id="{E18DE557-B453-4F5C-A5D5-07637889DC54}"/>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ADMINISTRATION &amp; GOVERNANCE</a:t>
            </a:r>
          </a:p>
        </p:txBody>
      </p:sp>
      <p:sp>
        <p:nvSpPr>
          <p:cNvPr id="30" name="text-849">
            <a:extLst>
              <a:ext uri="{FF2B5EF4-FFF2-40B4-BE49-F238E27FC236}">
                <a16:creationId xmlns:a16="http://schemas.microsoft.com/office/drawing/2014/main" id="{328C7E27-03D3-4834-A29E-159ADAED4316}"/>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Q29 / 49</a:t>
            </a:r>
          </a:p>
        </p:txBody>
      </p:sp>
    </p:spTree>
    <p:extLst>
      <p:ext uri="{BB962C8B-B14F-4D97-AF65-F5344CB8AC3E}">
        <p14:creationId xmlns:p14="http://schemas.microsoft.com/office/powerpoint/2010/main" val="166920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850">
            <a:extLst>
              <a:ext uri="{FF2B5EF4-FFF2-40B4-BE49-F238E27FC236}">
                <a16:creationId xmlns:a16="http://schemas.microsoft.com/office/drawing/2014/main" id="{A93F4EAC-9860-4EE9-9FDD-01BE993788C1}"/>
              </a:ext>
            </a:extLst>
          </p:cNvPr>
          <p:cNvSpPr>
            <a:spLocks noGrp="1"/>
          </p:cNvSpPr>
          <p:nvPr/>
        </p:nvSpPr>
        <p:spPr>
          <a:xfrm>
            <a:off x="647700" y="438150"/>
            <a:ext cx="104775" cy="247650"/>
          </a:xfrm>
          <a:prstGeom prst="rect">
            <a:avLst/>
          </a:prstGeom>
          <a:solidFill>
            <a:srgbClr val="000080"/>
          </a:solidFill>
          <a:ln w="0">
            <a:noFill/>
            <a:prstDash val="solid"/>
          </a:ln>
        </p:spPr>
        <p:txBody>
          <a:bodyPr/>
          <a:lstStyle/>
          <a:p>
            <a:endParaRPr lang="en-US"/>
          </a:p>
        </p:txBody>
      </p:sp>
      <p:sp>
        <p:nvSpPr>
          <p:cNvPr id="3" name="text-851">
            <a:extLst>
              <a:ext uri="{FF2B5EF4-FFF2-40B4-BE49-F238E27FC236}">
                <a16:creationId xmlns:a16="http://schemas.microsoft.com/office/drawing/2014/main" id="{531AC9E5-4120-4329-B608-76B67A695536}"/>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ADMINISTRATION &amp; GOVERNANCE</a:t>
            </a:r>
          </a:p>
        </p:txBody>
      </p:sp>
      <p:sp>
        <p:nvSpPr>
          <p:cNvPr id="4" name="text-852">
            <a:extLst>
              <a:ext uri="{FF2B5EF4-FFF2-40B4-BE49-F238E27FC236}">
                <a16:creationId xmlns:a16="http://schemas.microsoft.com/office/drawing/2014/main" id="{58E07599-9184-4FAC-B7AF-6E894E96A06D}"/>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Q30</a:t>
            </a:r>
          </a:p>
        </p:txBody>
      </p:sp>
      <p:sp>
        <p:nvSpPr>
          <p:cNvPr id="5" name="text-853">
            <a:extLst>
              <a:ext uri="{FF2B5EF4-FFF2-40B4-BE49-F238E27FC236}">
                <a16:creationId xmlns:a16="http://schemas.microsoft.com/office/drawing/2014/main" id="{6140A97F-FE05-496D-AECF-44C424502D9A}"/>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system should own inventory truth?</a:t>
            </a:r>
          </a:p>
        </p:txBody>
      </p:sp>
      <p:sp>
        <p:nvSpPr>
          <p:cNvPr id="6" name="text-854">
            <a:extLst>
              <a:ext uri="{FF2B5EF4-FFF2-40B4-BE49-F238E27FC236}">
                <a16:creationId xmlns:a16="http://schemas.microsoft.com/office/drawing/2014/main" id="{218AC108-EDA2-4036-8D33-8FBF66E67D7E}"/>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000080"/>
                </a:solidFill>
                <a:latin typeface="Bahnschrift"/>
                <a:ea typeface="Bahnschrift"/>
                <a:cs typeface="Bahnschrift"/>
              </a:defRPr>
            </a:pPr>
            <a:r>
              <a:rPr sz="1050" b="1">
                <a:solidFill>
                  <a:srgbClr val="000080"/>
                </a:solidFill>
                <a:latin typeface="Bahnschrift"/>
                <a:ea typeface="Bahnschrift"/>
                <a:cs typeface="Bahnschrift"/>
              </a:rPr>
              <a:t>SYSTEM IMPACT</a:t>
            </a:r>
          </a:p>
        </p:txBody>
      </p:sp>
      <p:sp>
        <p:nvSpPr>
          <p:cNvPr id="7" name="text-855">
            <a:extLst>
              <a:ext uri="{FF2B5EF4-FFF2-40B4-BE49-F238E27FC236}">
                <a16:creationId xmlns:a16="http://schemas.microsoft.com/office/drawing/2014/main" id="{ED00C19B-F16D-436D-AB12-BCBFEACF7DFD}"/>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Determines oversell prevention, reconciliation and auditability.</a:t>
            </a:r>
          </a:p>
        </p:txBody>
      </p:sp>
      <p:sp>
        <p:nvSpPr>
          <p:cNvPr id="8" name="rect-856">
            <a:extLst>
              <a:ext uri="{FF2B5EF4-FFF2-40B4-BE49-F238E27FC236}">
                <a16:creationId xmlns:a16="http://schemas.microsoft.com/office/drawing/2014/main" id="{8A546B22-54F2-492C-8B1B-FADC010B184E}"/>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857">
            <a:extLst>
              <a:ext uri="{FF2B5EF4-FFF2-40B4-BE49-F238E27FC236}">
                <a16:creationId xmlns:a16="http://schemas.microsoft.com/office/drawing/2014/main" id="{A4E1FD3F-9895-411A-9C89-306A2D7D2E46}"/>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858">
            <a:extLst>
              <a:ext uri="{FF2B5EF4-FFF2-40B4-BE49-F238E27FC236}">
                <a16:creationId xmlns:a16="http://schemas.microsoft.com/office/drawing/2014/main" id="{F437027B-2FE8-4D19-802E-7AD000344CCF}"/>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859">
            <a:extLst>
              <a:ext uri="{FF2B5EF4-FFF2-40B4-BE49-F238E27FC236}">
                <a16:creationId xmlns:a16="http://schemas.microsoft.com/office/drawing/2014/main" id="{3FA14510-A928-4987-A205-C6DEDA35CE84}"/>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The internal inventory ledger</a:t>
            </a:r>
          </a:p>
        </p:txBody>
      </p:sp>
      <p:sp>
        <p:nvSpPr>
          <p:cNvPr id="12" name="text-860">
            <a:extLst>
              <a:ext uri="{FF2B5EF4-FFF2-40B4-BE49-F238E27FC236}">
                <a16:creationId xmlns:a16="http://schemas.microsoft.com/office/drawing/2014/main" id="{129F7D94-55EA-4FD1-AF51-2F23A1CD3669}"/>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861">
            <a:extLst>
              <a:ext uri="{FF2B5EF4-FFF2-40B4-BE49-F238E27FC236}">
                <a16:creationId xmlns:a16="http://schemas.microsoft.com/office/drawing/2014/main" id="{BC0292C3-8652-4E4D-8B41-0E049DD301E4}"/>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862">
            <a:extLst>
              <a:ext uri="{FF2B5EF4-FFF2-40B4-BE49-F238E27FC236}">
                <a16:creationId xmlns:a16="http://schemas.microsoft.com/office/drawing/2014/main" id="{CB99D75E-CEA1-462F-A482-CB0DCF1031A8}"/>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863">
            <a:extLst>
              <a:ext uri="{FF2B5EF4-FFF2-40B4-BE49-F238E27FC236}">
                <a16:creationId xmlns:a16="http://schemas.microsoft.com/office/drawing/2014/main" id="{5CA60619-77FB-4BF6-AF2F-EC3F84F6EACE}"/>
              </a:ext>
            </a:extLst>
          </p:cNvPr>
          <p:cNvSpPr>
            <a:spLocks noGrp="1"/>
          </p:cNvSpPr>
          <p:nvPr/>
        </p:nvSpPr>
        <p:spPr>
          <a:xfrm>
            <a:off x="647700" y="3219450"/>
            <a:ext cx="114300" cy="800100"/>
          </a:xfrm>
          <a:prstGeom prst="rect">
            <a:avLst/>
          </a:prstGeom>
          <a:solidFill>
            <a:srgbClr val="000080"/>
          </a:solidFill>
          <a:ln w="0">
            <a:noFill/>
            <a:prstDash val="solid"/>
          </a:ln>
        </p:spPr>
        <p:txBody>
          <a:bodyPr/>
          <a:lstStyle/>
          <a:p>
            <a:endParaRPr lang="en-US"/>
          </a:p>
        </p:txBody>
      </p:sp>
      <p:sp>
        <p:nvSpPr>
          <p:cNvPr id="16" name="text-864">
            <a:extLst>
              <a:ext uri="{FF2B5EF4-FFF2-40B4-BE49-F238E27FC236}">
                <a16:creationId xmlns:a16="http://schemas.microsoft.com/office/drawing/2014/main" id="{408448F4-A5A1-46A2-BFE6-1DFDDB190DD5}"/>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865">
            <a:extLst>
              <a:ext uri="{FF2B5EF4-FFF2-40B4-BE49-F238E27FC236}">
                <a16:creationId xmlns:a16="http://schemas.microsoft.com/office/drawing/2014/main" id="{0B0F52A6-8B77-46CA-A95B-7F5C57FDDF24}"/>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The shipping provider warehouse</a:t>
            </a:r>
          </a:p>
        </p:txBody>
      </p:sp>
      <p:sp>
        <p:nvSpPr>
          <p:cNvPr id="18" name="text-866">
            <a:extLst>
              <a:ext uri="{FF2B5EF4-FFF2-40B4-BE49-F238E27FC236}">
                <a16:creationId xmlns:a16="http://schemas.microsoft.com/office/drawing/2014/main" id="{B737A283-D379-4D91-844D-352B254E6F2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867">
            <a:extLst>
              <a:ext uri="{FF2B5EF4-FFF2-40B4-BE49-F238E27FC236}">
                <a16:creationId xmlns:a16="http://schemas.microsoft.com/office/drawing/2014/main" id="{5CC038F1-39FD-4D71-8D43-1C4C3D3D68F5}"/>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868">
            <a:extLst>
              <a:ext uri="{FF2B5EF4-FFF2-40B4-BE49-F238E27FC236}">
                <a16:creationId xmlns:a16="http://schemas.microsoft.com/office/drawing/2014/main" id="{860FFA0D-E8C8-436E-80B5-059E9DF07315}"/>
              </a:ext>
            </a:extLst>
          </p:cNvPr>
          <p:cNvSpPr>
            <a:spLocks noGrp="1"/>
          </p:cNvSpPr>
          <p:nvPr/>
        </p:nvSpPr>
        <p:spPr>
          <a:xfrm>
            <a:off x="647700" y="4171950"/>
            <a:ext cx="114300" cy="800100"/>
          </a:xfrm>
          <a:prstGeom prst="rect">
            <a:avLst/>
          </a:prstGeom>
          <a:solidFill>
            <a:srgbClr val="000080"/>
          </a:solidFill>
          <a:ln w="0">
            <a:noFill/>
            <a:prstDash val="solid"/>
          </a:ln>
        </p:spPr>
        <p:txBody>
          <a:bodyPr/>
          <a:lstStyle/>
          <a:p>
            <a:endParaRPr lang="en-US"/>
          </a:p>
        </p:txBody>
      </p:sp>
      <p:sp>
        <p:nvSpPr>
          <p:cNvPr id="21" name="text-869">
            <a:extLst>
              <a:ext uri="{FF2B5EF4-FFF2-40B4-BE49-F238E27FC236}">
                <a16:creationId xmlns:a16="http://schemas.microsoft.com/office/drawing/2014/main" id="{284EA35F-B109-4F33-B845-3899FDC33635}"/>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870">
            <a:extLst>
              <a:ext uri="{FF2B5EF4-FFF2-40B4-BE49-F238E27FC236}">
                <a16:creationId xmlns:a16="http://schemas.microsoft.com/office/drawing/2014/main" id="{0E1657A4-5E75-477D-A306-17C674C604BA}"/>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Manually maintained quantities</a:t>
            </a:r>
          </a:p>
        </p:txBody>
      </p:sp>
      <p:sp>
        <p:nvSpPr>
          <p:cNvPr id="23" name="text-871">
            <a:extLst>
              <a:ext uri="{FF2B5EF4-FFF2-40B4-BE49-F238E27FC236}">
                <a16:creationId xmlns:a16="http://schemas.microsoft.com/office/drawing/2014/main" id="{5688A579-20B3-46B7-BB70-48ECB7733C8D}"/>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872">
            <a:extLst>
              <a:ext uri="{FF2B5EF4-FFF2-40B4-BE49-F238E27FC236}">
                <a16:creationId xmlns:a16="http://schemas.microsoft.com/office/drawing/2014/main" id="{FE7F84E4-46D7-4137-B204-3060B657EDFF}"/>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873">
            <a:extLst>
              <a:ext uri="{FF2B5EF4-FFF2-40B4-BE49-F238E27FC236}">
                <a16:creationId xmlns:a16="http://schemas.microsoft.com/office/drawing/2014/main" id="{C356CF3F-0699-4186-97C1-EA72CEDB22AE}"/>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874">
            <a:extLst>
              <a:ext uri="{FF2B5EF4-FFF2-40B4-BE49-F238E27FC236}">
                <a16:creationId xmlns:a16="http://schemas.microsoft.com/office/drawing/2014/main" id="{C776B05C-7C8D-44CA-8A60-2E1BE370A5AA}"/>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875">
            <a:extLst>
              <a:ext uri="{FF2B5EF4-FFF2-40B4-BE49-F238E27FC236}">
                <a16:creationId xmlns:a16="http://schemas.microsoft.com/office/drawing/2014/main" id="{299E25D5-4B61-42AF-947B-4949F2E3DD18}"/>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876">
            <a:extLst>
              <a:ext uri="{FF2B5EF4-FFF2-40B4-BE49-F238E27FC236}">
                <a16:creationId xmlns:a16="http://schemas.microsoft.com/office/drawing/2014/main" id="{8C9B2144-0757-48B8-B224-52FA82B8D430}"/>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877">
            <a:extLst>
              <a:ext uri="{FF2B5EF4-FFF2-40B4-BE49-F238E27FC236}">
                <a16:creationId xmlns:a16="http://schemas.microsoft.com/office/drawing/2014/main" id="{1E565E6D-B300-48C8-931C-982640663DAC}"/>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ADMINISTRATION &amp; GOVERNANCE</a:t>
            </a:r>
          </a:p>
        </p:txBody>
      </p:sp>
      <p:sp>
        <p:nvSpPr>
          <p:cNvPr id="30" name="text-878">
            <a:extLst>
              <a:ext uri="{FF2B5EF4-FFF2-40B4-BE49-F238E27FC236}">
                <a16:creationId xmlns:a16="http://schemas.microsoft.com/office/drawing/2014/main" id="{E2D64894-830F-4DEC-B2BA-093D52E0DDBF}"/>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Q30 / 49</a:t>
            </a:r>
          </a:p>
        </p:txBody>
      </p:sp>
    </p:spTree>
    <p:extLst>
      <p:ext uri="{BB962C8B-B14F-4D97-AF65-F5344CB8AC3E}">
        <p14:creationId xmlns:p14="http://schemas.microsoft.com/office/powerpoint/2010/main" val="1018846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879">
            <a:extLst>
              <a:ext uri="{FF2B5EF4-FFF2-40B4-BE49-F238E27FC236}">
                <a16:creationId xmlns:a16="http://schemas.microsoft.com/office/drawing/2014/main" id="{7757824E-A998-4A79-B456-3933E7AAE82D}"/>
              </a:ext>
            </a:extLst>
          </p:cNvPr>
          <p:cNvSpPr>
            <a:spLocks noGrp="1"/>
          </p:cNvSpPr>
          <p:nvPr/>
        </p:nvSpPr>
        <p:spPr>
          <a:xfrm>
            <a:off x="647700" y="438150"/>
            <a:ext cx="104775" cy="247650"/>
          </a:xfrm>
          <a:prstGeom prst="rect">
            <a:avLst/>
          </a:prstGeom>
          <a:solidFill>
            <a:srgbClr val="000080"/>
          </a:solidFill>
          <a:ln w="0">
            <a:noFill/>
            <a:prstDash val="solid"/>
          </a:ln>
        </p:spPr>
        <p:txBody>
          <a:bodyPr/>
          <a:lstStyle/>
          <a:p>
            <a:endParaRPr lang="en-US"/>
          </a:p>
        </p:txBody>
      </p:sp>
      <p:sp>
        <p:nvSpPr>
          <p:cNvPr id="3" name="text-880">
            <a:extLst>
              <a:ext uri="{FF2B5EF4-FFF2-40B4-BE49-F238E27FC236}">
                <a16:creationId xmlns:a16="http://schemas.microsoft.com/office/drawing/2014/main" id="{DA225BD9-34CC-4C1C-AF97-EB176D00346C}"/>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ADMINISTRATION &amp; GOVERNANCE</a:t>
            </a:r>
          </a:p>
        </p:txBody>
      </p:sp>
      <p:sp>
        <p:nvSpPr>
          <p:cNvPr id="4" name="text-881">
            <a:extLst>
              <a:ext uri="{FF2B5EF4-FFF2-40B4-BE49-F238E27FC236}">
                <a16:creationId xmlns:a16="http://schemas.microsoft.com/office/drawing/2014/main" id="{78F3C040-8BF2-4295-AC5A-6983B5535CB0}"/>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Q31</a:t>
            </a:r>
          </a:p>
        </p:txBody>
      </p:sp>
      <p:sp>
        <p:nvSpPr>
          <p:cNvPr id="5" name="text-882">
            <a:extLst>
              <a:ext uri="{FF2B5EF4-FFF2-40B4-BE49-F238E27FC236}">
                <a16:creationId xmlns:a16="http://schemas.microsoft.com/office/drawing/2014/main" id="{4F8C4C6C-3FE6-4046-BD74-7593FD62256A}"/>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internal access model should v1 use?</a:t>
            </a:r>
          </a:p>
        </p:txBody>
      </p:sp>
      <p:sp>
        <p:nvSpPr>
          <p:cNvPr id="6" name="text-883">
            <a:extLst>
              <a:ext uri="{FF2B5EF4-FFF2-40B4-BE49-F238E27FC236}">
                <a16:creationId xmlns:a16="http://schemas.microsoft.com/office/drawing/2014/main" id="{B5528549-45D6-4D46-BC12-B8A2B3C7C2B3}"/>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000080"/>
                </a:solidFill>
                <a:latin typeface="Bahnschrift"/>
                <a:ea typeface="Bahnschrift"/>
                <a:cs typeface="Bahnschrift"/>
              </a:defRPr>
            </a:pPr>
            <a:r>
              <a:rPr sz="1050" b="1">
                <a:solidFill>
                  <a:srgbClr val="000080"/>
                </a:solidFill>
                <a:latin typeface="Bahnschrift"/>
                <a:ea typeface="Bahnschrift"/>
                <a:cs typeface="Bahnschrift"/>
              </a:rPr>
              <a:t>SYSTEM IMPACT</a:t>
            </a:r>
          </a:p>
        </p:txBody>
      </p:sp>
      <p:sp>
        <p:nvSpPr>
          <p:cNvPr id="7" name="text-884">
            <a:extLst>
              <a:ext uri="{FF2B5EF4-FFF2-40B4-BE49-F238E27FC236}">
                <a16:creationId xmlns:a16="http://schemas.microsoft.com/office/drawing/2014/main" id="{55E1E31E-A78B-4DD9-B887-C0BEC7EF6E42}"/>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authorization scope while keeping the first release maintainable.</a:t>
            </a:r>
          </a:p>
        </p:txBody>
      </p:sp>
      <p:sp>
        <p:nvSpPr>
          <p:cNvPr id="8" name="rect-885">
            <a:extLst>
              <a:ext uri="{FF2B5EF4-FFF2-40B4-BE49-F238E27FC236}">
                <a16:creationId xmlns:a16="http://schemas.microsoft.com/office/drawing/2014/main" id="{C222B2F2-4AB2-49D3-8DF5-FD85951B929D}"/>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886">
            <a:extLst>
              <a:ext uri="{FF2B5EF4-FFF2-40B4-BE49-F238E27FC236}">
                <a16:creationId xmlns:a16="http://schemas.microsoft.com/office/drawing/2014/main" id="{FFB94E96-DE89-4C26-8E06-FD11C64ABFE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887">
            <a:extLst>
              <a:ext uri="{FF2B5EF4-FFF2-40B4-BE49-F238E27FC236}">
                <a16:creationId xmlns:a16="http://schemas.microsoft.com/office/drawing/2014/main" id="{7DABBBB4-42DA-4D0B-B4A2-76557BE0A37F}"/>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888">
            <a:extLst>
              <a:ext uri="{FF2B5EF4-FFF2-40B4-BE49-F238E27FC236}">
                <a16:creationId xmlns:a16="http://schemas.microsoft.com/office/drawing/2014/main" id="{9432F26B-28A0-4DEF-B46A-3D685C609B82}"/>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Admin and read-only Viewer</a:t>
            </a:r>
          </a:p>
        </p:txBody>
      </p:sp>
      <p:sp>
        <p:nvSpPr>
          <p:cNvPr id="12" name="text-889">
            <a:extLst>
              <a:ext uri="{FF2B5EF4-FFF2-40B4-BE49-F238E27FC236}">
                <a16:creationId xmlns:a16="http://schemas.microsoft.com/office/drawing/2014/main" id="{4A71470F-B9FF-4659-9989-2156142E5A5B}"/>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890">
            <a:extLst>
              <a:ext uri="{FF2B5EF4-FFF2-40B4-BE49-F238E27FC236}">
                <a16:creationId xmlns:a16="http://schemas.microsoft.com/office/drawing/2014/main" id="{7A786C9A-FFE6-4A1C-AF04-6DD6BE21CD7D}"/>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891">
            <a:extLst>
              <a:ext uri="{FF2B5EF4-FFF2-40B4-BE49-F238E27FC236}">
                <a16:creationId xmlns:a16="http://schemas.microsoft.com/office/drawing/2014/main" id="{956752AD-7C8E-4C43-AB26-5B07011B41B7}"/>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892">
            <a:extLst>
              <a:ext uri="{FF2B5EF4-FFF2-40B4-BE49-F238E27FC236}">
                <a16:creationId xmlns:a16="http://schemas.microsoft.com/office/drawing/2014/main" id="{36C4960E-F5FB-4B45-ADAF-D3B3D178E6FA}"/>
              </a:ext>
            </a:extLst>
          </p:cNvPr>
          <p:cNvSpPr>
            <a:spLocks noGrp="1"/>
          </p:cNvSpPr>
          <p:nvPr/>
        </p:nvSpPr>
        <p:spPr>
          <a:xfrm>
            <a:off x="647700" y="3219450"/>
            <a:ext cx="114300" cy="800100"/>
          </a:xfrm>
          <a:prstGeom prst="rect">
            <a:avLst/>
          </a:prstGeom>
          <a:solidFill>
            <a:srgbClr val="000080"/>
          </a:solidFill>
          <a:ln w="0">
            <a:noFill/>
            <a:prstDash val="solid"/>
          </a:ln>
        </p:spPr>
        <p:txBody>
          <a:bodyPr/>
          <a:lstStyle/>
          <a:p>
            <a:endParaRPr lang="en-US"/>
          </a:p>
        </p:txBody>
      </p:sp>
      <p:sp>
        <p:nvSpPr>
          <p:cNvPr id="16" name="text-893">
            <a:extLst>
              <a:ext uri="{FF2B5EF4-FFF2-40B4-BE49-F238E27FC236}">
                <a16:creationId xmlns:a16="http://schemas.microsoft.com/office/drawing/2014/main" id="{80FC745B-C5BE-4806-B6C8-44804025F3F3}"/>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894">
            <a:extLst>
              <a:ext uri="{FF2B5EF4-FFF2-40B4-BE49-F238E27FC236}">
                <a16:creationId xmlns:a16="http://schemas.microsoft.com/office/drawing/2014/main" id="{0AE347B0-1B7E-4C70-994B-FC447738365F}"/>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Several named functional roles</a:t>
            </a:r>
          </a:p>
        </p:txBody>
      </p:sp>
      <p:sp>
        <p:nvSpPr>
          <p:cNvPr id="18" name="text-895">
            <a:extLst>
              <a:ext uri="{FF2B5EF4-FFF2-40B4-BE49-F238E27FC236}">
                <a16:creationId xmlns:a16="http://schemas.microsoft.com/office/drawing/2014/main" id="{435A6BC8-1AFB-482A-B4AB-218DF1690B8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896">
            <a:extLst>
              <a:ext uri="{FF2B5EF4-FFF2-40B4-BE49-F238E27FC236}">
                <a16:creationId xmlns:a16="http://schemas.microsoft.com/office/drawing/2014/main" id="{635B76FB-4BAF-4570-929D-867782E07D7D}"/>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897">
            <a:extLst>
              <a:ext uri="{FF2B5EF4-FFF2-40B4-BE49-F238E27FC236}">
                <a16:creationId xmlns:a16="http://schemas.microsoft.com/office/drawing/2014/main" id="{E1DFD3B5-ACAD-47E1-AF27-EEF6130809B2}"/>
              </a:ext>
            </a:extLst>
          </p:cNvPr>
          <p:cNvSpPr>
            <a:spLocks noGrp="1"/>
          </p:cNvSpPr>
          <p:nvPr/>
        </p:nvSpPr>
        <p:spPr>
          <a:xfrm>
            <a:off x="647700" y="4171950"/>
            <a:ext cx="114300" cy="800100"/>
          </a:xfrm>
          <a:prstGeom prst="rect">
            <a:avLst/>
          </a:prstGeom>
          <a:solidFill>
            <a:srgbClr val="000080"/>
          </a:solidFill>
          <a:ln w="0">
            <a:noFill/>
            <a:prstDash val="solid"/>
          </a:ln>
        </p:spPr>
        <p:txBody>
          <a:bodyPr/>
          <a:lstStyle/>
          <a:p>
            <a:endParaRPr lang="en-US"/>
          </a:p>
        </p:txBody>
      </p:sp>
      <p:sp>
        <p:nvSpPr>
          <p:cNvPr id="21" name="text-898">
            <a:extLst>
              <a:ext uri="{FF2B5EF4-FFF2-40B4-BE49-F238E27FC236}">
                <a16:creationId xmlns:a16="http://schemas.microsoft.com/office/drawing/2014/main" id="{5B20C0C1-5A74-4DF8-987E-3B7276384E98}"/>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899">
            <a:extLst>
              <a:ext uri="{FF2B5EF4-FFF2-40B4-BE49-F238E27FC236}">
                <a16:creationId xmlns:a16="http://schemas.microsoft.com/office/drawing/2014/main" id="{A2AB4146-B875-4D7A-93E6-C839D4723BAC}"/>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Fully configurable custom roles</a:t>
            </a:r>
          </a:p>
        </p:txBody>
      </p:sp>
      <p:sp>
        <p:nvSpPr>
          <p:cNvPr id="23" name="text-900">
            <a:extLst>
              <a:ext uri="{FF2B5EF4-FFF2-40B4-BE49-F238E27FC236}">
                <a16:creationId xmlns:a16="http://schemas.microsoft.com/office/drawing/2014/main" id="{18CCD943-710F-4CCF-B658-54F85A754B71}"/>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901">
            <a:extLst>
              <a:ext uri="{FF2B5EF4-FFF2-40B4-BE49-F238E27FC236}">
                <a16:creationId xmlns:a16="http://schemas.microsoft.com/office/drawing/2014/main" id="{BEABD2F6-7B98-46DC-A56E-DF52AD3BB4D7}"/>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902">
            <a:extLst>
              <a:ext uri="{FF2B5EF4-FFF2-40B4-BE49-F238E27FC236}">
                <a16:creationId xmlns:a16="http://schemas.microsoft.com/office/drawing/2014/main" id="{9318EBA0-B1E1-41C2-9780-3FBFC3E9A0A1}"/>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903">
            <a:extLst>
              <a:ext uri="{FF2B5EF4-FFF2-40B4-BE49-F238E27FC236}">
                <a16:creationId xmlns:a16="http://schemas.microsoft.com/office/drawing/2014/main" id="{130AB17D-0B67-44DB-B454-84C8FF6A6363}"/>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904">
            <a:extLst>
              <a:ext uri="{FF2B5EF4-FFF2-40B4-BE49-F238E27FC236}">
                <a16:creationId xmlns:a16="http://schemas.microsoft.com/office/drawing/2014/main" id="{5FF4AF66-6363-4D14-B52A-A7F73DD7190E}"/>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905">
            <a:extLst>
              <a:ext uri="{FF2B5EF4-FFF2-40B4-BE49-F238E27FC236}">
                <a16:creationId xmlns:a16="http://schemas.microsoft.com/office/drawing/2014/main" id="{610D9ACE-A283-451E-A1B5-0E1FC9E307D2}"/>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906">
            <a:extLst>
              <a:ext uri="{FF2B5EF4-FFF2-40B4-BE49-F238E27FC236}">
                <a16:creationId xmlns:a16="http://schemas.microsoft.com/office/drawing/2014/main" id="{81E04585-6BB3-4CEF-BF4E-847ED2E65421}"/>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ADMINISTRATION &amp; GOVERNANCE</a:t>
            </a:r>
          </a:p>
        </p:txBody>
      </p:sp>
      <p:sp>
        <p:nvSpPr>
          <p:cNvPr id="30" name="text-907">
            <a:extLst>
              <a:ext uri="{FF2B5EF4-FFF2-40B4-BE49-F238E27FC236}">
                <a16:creationId xmlns:a16="http://schemas.microsoft.com/office/drawing/2014/main" id="{B26099FB-ADEF-4637-8FF5-146704B2F8A8}"/>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Q31 / 49</a:t>
            </a:r>
          </a:p>
        </p:txBody>
      </p:sp>
    </p:spTree>
    <p:extLst>
      <p:ext uri="{BB962C8B-B14F-4D97-AF65-F5344CB8AC3E}">
        <p14:creationId xmlns:p14="http://schemas.microsoft.com/office/powerpoint/2010/main" val="420811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908">
            <a:extLst>
              <a:ext uri="{FF2B5EF4-FFF2-40B4-BE49-F238E27FC236}">
                <a16:creationId xmlns:a16="http://schemas.microsoft.com/office/drawing/2014/main" id="{EE1BD2D8-17FD-42EF-A62E-0F9C81F5798C}"/>
              </a:ext>
            </a:extLst>
          </p:cNvPr>
          <p:cNvSpPr>
            <a:spLocks noGrp="1"/>
          </p:cNvSpPr>
          <p:nvPr/>
        </p:nvSpPr>
        <p:spPr>
          <a:xfrm>
            <a:off x="647700" y="438150"/>
            <a:ext cx="104775" cy="247650"/>
          </a:xfrm>
          <a:prstGeom prst="rect">
            <a:avLst/>
          </a:prstGeom>
          <a:solidFill>
            <a:srgbClr val="000080"/>
          </a:solidFill>
          <a:ln w="0">
            <a:noFill/>
            <a:prstDash val="solid"/>
          </a:ln>
        </p:spPr>
        <p:txBody>
          <a:bodyPr/>
          <a:lstStyle/>
          <a:p>
            <a:endParaRPr lang="en-US"/>
          </a:p>
        </p:txBody>
      </p:sp>
      <p:sp>
        <p:nvSpPr>
          <p:cNvPr id="3" name="text-909">
            <a:extLst>
              <a:ext uri="{FF2B5EF4-FFF2-40B4-BE49-F238E27FC236}">
                <a16:creationId xmlns:a16="http://schemas.microsoft.com/office/drawing/2014/main" id="{89B5EE36-456B-4B2E-B5C6-45962764C3F9}"/>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ADMINISTRATION &amp; GOVERNANCE</a:t>
            </a:r>
          </a:p>
        </p:txBody>
      </p:sp>
      <p:sp>
        <p:nvSpPr>
          <p:cNvPr id="4" name="text-910">
            <a:extLst>
              <a:ext uri="{FF2B5EF4-FFF2-40B4-BE49-F238E27FC236}">
                <a16:creationId xmlns:a16="http://schemas.microsoft.com/office/drawing/2014/main" id="{2D5B22F8-D41A-4314-B7B7-B95798B2E6A7}"/>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Q32</a:t>
            </a:r>
          </a:p>
        </p:txBody>
      </p:sp>
      <p:sp>
        <p:nvSpPr>
          <p:cNvPr id="5" name="text-911">
            <a:extLst>
              <a:ext uri="{FF2B5EF4-FFF2-40B4-BE49-F238E27FC236}">
                <a16:creationId xmlns:a16="http://schemas.microsoft.com/office/drawing/2014/main" id="{2D79865C-A4C8-4E17-B65E-9BE9A68C9350}"/>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changes require a second-person approval?</a:t>
            </a:r>
          </a:p>
        </p:txBody>
      </p:sp>
      <p:sp>
        <p:nvSpPr>
          <p:cNvPr id="6" name="text-912">
            <a:extLst>
              <a:ext uri="{FF2B5EF4-FFF2-40B4-BE49-F238E27FC236}">
                <a16:creationId xmlns:a16="http://schemas.microsoft.com/office/drawing/2014/main" id="{173B75C7-7D40-49EE-BE7F-5E1BA914B42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000080"/>
                </a:solidFill>
                <a:latin typeface="Bahnschrift"/>
                <a:ea typeface="Bahnschrift"/>
                <a:cs typeface="Bahnschrift"/>
              </a:defRPr>
            </a:pPr>
            <a:r>
              <a:rPr sz="1050" b="1">
                <a:solidFill>
                  <a:srgbClr val="000080"/>
                </a:solidFill>
                <a:latin typeface="Bahnschrift"/>
                <a:ea typeface="Bahnschrift"/>
                <a:cs typeface="Bahnschrift"/>
              </a:rPr>
              <a:t>SYSTEM IMPACT</a:t>
            </a:r>
          </a:p>
        </p:txBody>
      </p:sp>
      <p:sp>
        <p:nvSpPr>
          <p:cNvPr id="7" name="text-913">
            <a:extLst>
              <a:ext uri="{FF2B5EF4-FFF2-40B4-BE49-F238E27FC236}">
                <a16:creationId xmlns:a16="http://schemas.microsoft.com/office/drawing/2014/main" id="{5DE8F5D1-D876-4BA8-B86E-99A2DCC80D6B}"/>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governance for high-risk operational mutations.</a:t>
            </a:r>
          </a:p>
        </p:txBody>
      </p:sp>
      <p:sp>
        <p:nvSpPr>
          <p:cNvPr id="8" name="rect-914">
            <a:extLst>
              <a:ext uri="{FF2B5EF4-FFF2-40B4-BE49-F238E27FC236}">
                <a16:creationId xmlns:a16="http://schemas.microsoft.com/office/drawing/2014/main" id="{8791E0A9-98C4-42F3-818C-2EC1FF87BF06}"/>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915">
            <a:extLst>
              <a:ext uri="{FF2B5EF4-FFF2-40B4-BE49-F238E27FC236}">
                <a16:creationId xmlns:a16="http://schemas.microsoft.com/office/drawing/2014/main" id="{47833F53-C763-4A8F-B59C-3462A47483C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916">
            <a:extLst>
              <a:ext uri="{FF2B5EF4-FFF2-40B4-BE49-F238E27FC236}">
                <a16:creationId xmlns:a16="http://schemas.microsoft.com/office/drawing/2014/main" id="{7068A313-F783-4B47-99A9-33AEA6C39783}"/>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917">
            <a:extLst>
              <a:ext uri="{FF2B5EF4-FFF2-40B4-BE49-F238E27FC236}">
                <a16:creationId xmlns:a16="http://schemas.microsoft.com/office/drawing/2014/main" id="{D204C8E0-7894-436F-AB2E-9AA91B89C0D6}"/>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All defined critical changes</a:t>
            </a:r>
          </a:p>
        </p:txBody>
      </p:sp>
      <p:sp>
        <p:nvSpPr>
          <p:cNvPr id="12" name="text-918">
            <a:extLst>
              <a:ext uri="{FF2B5EF4-FFF2-40B4-BE49-F238E27FC236}">
                <a16:creationId xmlns:a16="http://schemas.microsoft.com/office/drawing/2014/main" id="{B76336F9-912E-418F-ADB8-5E86CDD95D93}"/>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919">
            <a:extLst>
              <a:ext uri="{FF2B5EF4-FFF2-40B4-BE49-F238E27FC236}">
                <a16:creationId xmlns:a16="http://schemas.microsoft.com/office/drawing/2014/main" id="{697F1823-AD34-4422-A9F5-778D20EE1D16}"/>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920">
            <a:extLst>
              <a:ext uri="{FF2B5EF4-FFF2-40B4-BE49-F238E27FC236}">
                <a16:creationId xmlns:a16="http://schemas.microsoft.com/office/drawing/2014/main" id="{92BF7293-6EA7-44AB-A508-42F6BB7FD0AA}"/>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921">
            <a:extLst>
              <a:ext uri="{FF2B5EF4-FFF2-40B4-BE49-F238E27FC236}">
                <a16:creationId xmlns:a16="http://schemas.microsoft.com/office/drawing/2014/main" id="{63473320-F206-40F3-93EA-F4229DE3E79F}"/>
              </a:ext>
            </a:extLst>
          </p:cNvPr>
          <p:cNvSpPr>
            <a:spLocks noGrp="1"/>
          </p:cNvSpPr>
          <p:nvPr/>
        </p:nvSpPr>
        <p:spPr>
          <a:xfrm>
            <a:off x="647700" y="3219450"/>
            <a:ext cx="114300" cy="800100"/>
          </a:xfrm>
          <a:prstGeom prst="rect">
            <a:avLst/>
          </a:prstGeom>
          <a:solidFill>
            <a:srgbClr val="000080"/>
          </a:solidFill>
          <a:ln w="0">
            <a:noFill/>
            <a:prstDash val="solid"/>
          </a:ln>
        </p:spPr>
        <p:txBody>
          <a:bodyPr/>
          <a:lstStyle/>
          <a:p>
            <a:endParaRPr lang="en-US"/>
          </a:p>
        </p:txBody>
      </p:sp>
      <p:sp>
        <p:nvSpPr>
          <p:cNvPr id="16" name="text-922">
            <a:extLst>
              <a:ext uri="{FF2B5EF4-FFF2-40B4-BE49-F238E27FC236}">
                <a16:creationId xmlns:a16="http://schemas.microsoft.com/office/drawing/2014/main" id="{F77D1917-4D9C-4449-AA06-CDD7FC69033F}"/>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923">
            <a:extLst>
              <a:ext uri="{FF2B5EF4-FFF2-40B4-BE49-F238E27FC236}">
                <a16:creationId xmlns:a16="http://schemas.microsoft.com/office/drawing/2014/main" id="{9DA8851C-E17F-4F2A-9B9C-DD15D26B5441}"/>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Claims, proof and batches only</a:t>
            </a:r>
          </a:p>
        </p:txBody>
      </p:sp>
      <p:sp>
        <p:nvSpPr>
          <p:cNvPr id="18" name="text-924">
            <a:extLst>
              <a:ext uri="{FF2B5EF4-FFF2-40B4-BE49-F238E27FC236}">
                <a16:creationId xmlns:a16="http://schemas.microsoft.com/office/drawing/2014/main" id="{03C62227-86D5-446A-8701-4F434B861A39}"/>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925">
            <a:extLst>
              <a:ext uri="{FF2B5EF4-FFF2-40B4-BE49-F238E27FC236}">
                <a16:creationId xmlns:a16="http://schemas.microsoft.com/office/drawing/2014/main" id="{ECABCF6C-2AA9-4139-9C98-D9E745079D69}"/>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926">
            <a:extLst>
              <a:ext uri="{FF2B5EF4-FFF2-40B4-BE49-F238E27FC236}">
                <a16:creationId xmlns:a16="http://schemas.microsoft.com/office/drawing/2014/main" id="{C9EFECFF-4B7E-4112-8BDF-0510FC44C799}"/>
              </a:ext>
            </a:extLst>
          </p:cNvPr>
          <p:cNvSpPr>
            <a:spLocks noGrp="1"/>
          </p:cNvSpPr>
          <p:nvPr/>
        </p:nvSpPr>
        <p:spPr>
          <a:xfrm>
            <a:off x="647700" y="4171950"/>
            <a:ext cx="114300" cy="800100"/>
          </a:xfrm>
          <a:prstGeom prst="rect">
            <a:avLst/>
          </a:prstGeom>
          <a:solidFill>
            <a:srgbClr val="000080"/>
          </a:solidFill>
          <a:ln w="0">
            <a:noFill/>
            <a:prstDash val="solid"/>
          </a:ln>
        </p:spPr>
        <p:txBody>
          <a:bodyPr/>
          <a:lstStyle/>
          <a:p>
            <a:endParaRPr lang="en-US"/>
          </a:p>
        </p:txBody>
      </p:sp>
      <p:sp>
        <p:nvSpPr>
          <p:cNvPr id="21" name="text-927">
            <a:extLst>
              <a:ext uri="{FF2B5EF4-FFF2-40B4-BE49-F238E27FC236}">
                <a16:creationId xmlns:a16="http://schemas.microsoft.com/office/drawing/2014/main" id="{FB490040-09E0-4CDA-8618-308C48624480}"/>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928">
            <a:extLst>
              <a:ext uri="{FF2B5EF4-FFF2-40B4-BE49-F238E27FC236}">
                <a16:creationId xmlns:a16="http://schemas.microsoft.com/office/drawing/2014/main" id="{2A74901C-D6FE-4ABD-A0C6-F2E1B735561E}"/>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No approvals; retain audit history only</a:t>
            </a:r>
          </a:p>
        </p:txBody>
      </p:sp>
      <p:sp>
        <p:nvSpPr>
          <p:cNvPr id="23" name="text-929">
            <a:extLst>
              <a:ext uri="{FF2B5EF4-FFF2-40B4-BE49-F238E27FC236}">
                <a16:creationId xmlns:a16="http://schemas.microsoft.com/office/drawing/2014/main" id="{3E876B9E-9998-44C9-B222-65DF2F6EE26A}"/>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930">
            <a:extLst>
              <a:ext uri="{FF2B5EF4-FFF2-40B4-BE49-F238E27FC236}">
                <a16:creationId xmlns:a16="http://schemas.microsoft.com/office/drawing/2014/main" id="{515E6292-1FAE-49F1-AA25-FBE157EFB126}"/>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931">
            <a:extLst>
              <a:ext uri="{FF2B5EF4-FFF2-40B4-BE49-F238E27FC236}">
                <a16:creationId xmlns:a16="http://schemas.microsoft.com/office/drawing/2014/main" id="{3416A89F-B00E-466A-B612-4A3A1A1BD6B7}"/>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932">
            <a:extLst>
              <a:ext uri="{FF2B5EF4-FFF2-40B4-BE49-F238E27FC236}">
                <a16:creationId xmlns:a16="http://schemas.microsoft.com/office/drawing/2014/main" id="{3E2CE034-B9BE-461E-B82E-50A4C967E36C}"/>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933">
            <a:extLst>
              <a:ext uri="{FF2B5EF4-FFF2-40B4-BE49-F238E27FC236}">
                <a16:creationId xmlns:a16="http://schemas.microsoft.com/office/drawing/2014/main" id="{626E3D97-C7D9-4E2A-AAAF-C4F095B71BA1}"/>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934">
            <a:extLst>
              <a:ext uri="{FF2B5EF4-FFF2-40B4-BE49-F238E27FC236}">
                <a16:creationId xmlns:a16="http://schemas.microsoft.com/office/drawing/2014/main" id="{3300E7B4-5CC3-4B84-9EF6-75A58DCAE5ED}"/>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935">
            <a:extLst>
              <a:ext uri="{FF2B5EF4-FFF2-40B4-BE49-F238E27FC236}">
                <a16:creationId xmlns:a16="http://schemas.microsoft.com/office/drawing/2014/main" id="{33CA2F42-BA6E-46F7-832A-2EC19C227419}"/>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ADMINISTRATION &amp; GOVERNANCE</a:t>
            </a:r>
          </a:p>
        </p:txBody>
      </p:sp>
      <p:sp>
        <p:nvSpPr>
          <p:cNvPr id="30" name="text-936">
            <a:extLst>
              <a:ext uri="{FF2B5EF4-FFF2-40B4-BE49-F238E27FC236}">
                <a16:creationId xmlns:a16="http://schemas.microsoft.com/office/drawing/2014/main" id="{A7670A54-EC1D-45DE-A05C-C1D0862259F7}"/>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Q32 / 49</a:t>
            </a:r>
          </a:p>
        </p:txBody>
      </p:sp>
    </p:spTree>
    <p:extLst>
      <p:ext uri="{BB962C8B-B14F-4D97-AF65-F5344CB8AC3E}">
        <p14:creationId xmlns:p14="http://schemas.microsoft.com/office/powerpoint/2010/main" val="2146001843"/>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937">
            <a:extLst>
              <a:ext uri="{FF2B5EF4-FFF2-40B4-BE49-F238E27FC236}">
                <a16:creationId xmlns:a16="http://schemas.microsoft.com/office/drawing/2014/main" id="{414F5B49-1F95-43E5-974B-D5A79C3D9EE6}"/>
              </a:ext>
            </a:extLst>
          </p:cNvPr>
          <p:cNvSpPr>
            <a:spLocks noGrp="1"/>
          </p:cNvSpPr>
          <p:nvPr/>
        </p:nvSpPr>
        <p:spPr>
          <a:xfrm>
            <a:off x="647700" y="438150"/>
            <a:ext cx="104775" cy="247650"/>
          </a:xfrm>
          <a:prstGeom prst="rect">
            <a:avLst/>
          </a:prstGeom>
          <a:solidFill>
            <a:srgbClr val="000080"/>
          </a:solidFill>
          <a:ln w="0">
            <a:noFill/>
            <a:prstDash val="solid"/>
          </a:ln>
        </p:spPr>
        <p:txBody>
          <a:bodyPr/>
          <a:lstStyle/>
          <a:p>
            <a:endParaRPr lang="en-US"/>
          </a:p>
        </p:txBody>
      </p:sp>
      <p:sp>
        <p:nvSpPr>
          <p:cNvPr id="3" name="text-938">
            <a:extLst>
              <a:ext uri="{FF2B5EF4-FFF2-40B4-BE49-F238E27FC236}">
                <a16:creationId xmlns:a16="http://schemas.microsoft.com/office/drawing/2014/main" id="{AEB43AC9-63C6-4FD9-A618-4EF5A7988E32}"/>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ADMINISTRATION &amp; GOVERNANCE</a:t>
            </a:r>
          </a:p>
        </p:txBody>
      </p:sp>
      <p:sp>
        <p:nvSpPr>
          <p:cNvPr id="4" name="text-939">
            <a:extLst>
              <a:ext uri="{FF2B5EF4-FFF2-40B4-BE49-F238E27FC236}">
                <a16:creationId xmlns:a16="http://schemas.microsoft.com/office/drawing/2014/main" id="{96551907-1BC8-4A7D-A36D-671BF41E7B63}"/>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Q33</a:t>
            </a:r>
          </a:p>
        </p:txBody>
      </p:sp>
      <p:sp>
        <p:nvSpPr>
          <p:cNvPr id="5" name="text-940">
            <a:extLst>
              <a:ext uri="{FF2B5EF4-FFF2-40B4-BE49-F238E27FC236}">
                <a16:creationId xmlns:a16="http://schemas.microsoft.com/office/drawing/2014/main" id="{83D6B316-07FE-4921-ABE2-0A85B055495D}"/>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Who may approve a critical change?</a:t>
            </a:r>
          </a:p>
        </p:txBody>
      </p:sp>
      <p:sp>
        <p:nvSpPr>
          <p:cNvPr id="6" name="text-941">
            <a:extLst>
              <a:ext uri="{FF2B5EF4-FFF2-40B4-BE49-F238E27FC236}">
                <a16:creationId xmlns:a16="http://schemas.microsoft.com/office/drawing/2014/main" id="{C95BE90F-21C5-4181-9797-46E782769BFF}"/>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000080"/>
                </a:solidFill>
                <a:latin typeface="Bahnschrift"/>
                <a:ea typeface="Bahnschrift"/>
                <a:cs typeface="Bahnschrift"/>
              </a:defRPr>
            </a:pPr>
            <a:r>
              <a:rPr sz="1050" b="1">
                <a:solidFill>
                  <a:srgbClr val="000080"/>
                </a:solidFill>
                <a:latin typeface="Bahnschrift"/>
                <a:ea typeface="Bahnschrift"/>
                <a:cs typeface="Bahnschrift"/>
              </a:rPr>
              <a:t>SYSTEM IMPACT</a:t>
            </a:r>
          </a:p>
        </p:txBody>
      </p:sp>
      <p:sp>
        <p:nvSpPr>
          <p:cNvPr id="7" name="text-942">
            <a:extLst>
              <a:ext uri="{FF2B5EF4-FFF2-40B4-BE49-F238E27FC236}">
                <a16:creationId xmlns:a16="http://schemas.microsoft.com/office/drawing/2014/main" id="{08B47BFE-EFCB-4B6C-BB6B-E53638ADBE56}"/>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Controls separation of duties and operational availability.</a:t>
            </a:r>
          </a:p>
        </p:txBody>
      </p:sp>
      <p:sp>
        <p:nvSpPr>
          <p:cNvPr id="8" name="rect-943">
            <a:extLst>
              <a:ext uri="{FF2B5EF4-FFF2-40B4-BE49-F238E27FC236}">
                <a16:creationId xmlns:a16="http://schemas.microsoft.com/office/drawing/2014/main" id="{830C6C1A-431B-4610-A6A3-9AE68147F8C1}"/>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944">
            <a:extLst>
              <a:ext uri="{FF2B5EF4-FFF2-40B4-BE49-F238E27FC236}">
                <a16:creationId xmlns:a16="http://schemas.microsoft.com/office/drawing/2014/main" id="{ED0A88E0-178E-48CC-BAF4-15DD78C9988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945">
            <a:extLst>
              <a:ext uri="{FF2B5EF4-FFF2-40B4-BE49-F238E27FC236}">
                <a16:creationId xmlns:a16="http://schemas.microsoft.com/office/drawing/2014/main" id="{AD62856D-E458-461F-B5E8-BC0B7633BB6D}"/>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946">
            <a:extLst>
              <a:ext uri="{FF2B5EF4-FFF2-40B4-BE49-F238E27FC236}">
                <a16:creationId xmlns:a16="http://schemas.microsoft.com/office/drawing/2014/main" id="{9EDBFB78-5A04-4BD8-A850-9BD0F095D476}"/>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Any other Admin</a:t>
            </a:r>
          </a:p>
        </p:txBody>
      </p:sp>
      <p:sp>
        <p:nvSpPr>
          <p:cNvPr id="12" name="text-947">
            <a:extLst>
              <a:ext uri="{FF2B5EF4-FFF2-40B4-BE49-F238E27FC236}">
                <a16:creationId xmlns:a16="http://schemas.microsoft.com/office/drawing/2014/main" id="{44F6C72E-D309-4115-84A7-8E668568E720}"/>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948">
            <a:extLst>
              <a:ext uri="{FF2B5EF4-FFF2-40B4-BE49-F238E27FC236}">
                <a16:creationId xmlns:a16="http://schemas.microsoft.com/office/drawing/2014/main" id="{728F0BF9-C962-4A39-91ED-1DFC44CDCF1C}"/>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949">
            <a:extLst>
              <a:ext uri="{FF2B5EF4-FFF2-40B4-BE49-F238E27FC236}">
                <a16:creationId xmlns:a16="http://schemas.microsoft.com/office/drawing/2014/main" id="{DE29EF92-CA02-4E8C-A6C8-E0567103B086}"/>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950">
            <a:extLst>
              <a:ext uri="{FF2B5EF4-FFF2-40B4-BE49-F238E27FC236}">
                <a16:creationId xmlns:a16="http://schemas.microsoft.com/office/drawing/2014/main" id="{2A3A0F39-3170-4A13-A569-104CF62BB5A1}"/>
              </a:ext>
            </a:extLst>
          </p:cNvPr>
          <p:cNvSpPr>
            <a:spLocks noGrp="1"/>
          </p:cNvSpPr>
          <p:nvPr/>
        </p:nvSpPr>
        <p:spPr>
          <a:xfrm>
            <a:off x="647700" y="3219450"/>
            <a:ext cx="114300" cy="800100"/>
          </a:xfrm>
          <a:prstGeom prst="rect">
            <a:avLst/>
          </a:prstGeom>
          <a:solidFill>
            <a:srgbClr val="000080"/>
          </a:solidFill>
          <a:ln w="0">
            <a:noFill/>
            <a:prstDash val="solid"/>
          </a:ln>
        </p:spPr>
        <p:txBody>
          <a:bodyPr/>
          <a:lstStyle/>
          <a:p>
            <a:endParaRPr lang="en-US"/>
          </a:p>
        </p:txBody>
      </p:sp>
      <p:sp>
        <p:nvSpPr>
          <p:cNvPr id="16" name="text-951">
            <a:extLst>
              <a:ext uri="{FF2B5EF4-FFF2-40B4-BE49-F238E27FC236}">
                <a16:creationId xmlns:a16="http://schemas.microsoft.com/office/drawing/2014/main" id="{2DA91CBF-8EEE-4D99-B8EC-1F03C2F39464}"/>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952">
            <a:extLst>
              <a:ext uri="{FF2B5EF4-FFF2-40B4-BE49-F238E27FC236}">
                <a16:creationId xmlns:a16="http://schemas.microsoft.com/office/drawing/2014/main" id="{46AC2546-0ECE-4E77-BEF6-206A00ADB93A}"/>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 designated Approver role</a:t>
            </a:r>
          </a:p>
        </p:txBody>
      </p:sp>
      <p:sp>
        <p:nvSpPr>
          <p:cNvPr id="18" name="text-953">
            <a:extLst>
              <a:ext uri="{FF2B5EF4-FFF2-40B4-BE49-F238E27FC236}">
                <a16:creationId xmlns:a16="http://schemas.microsoft.com/office/drawing/2014/main" id="{6F2DE4B9-51CF-4860-8C13-E301E2CD8F20}"/>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954">
            <a:extLst>
              <a:ext uri="{FF2B5EF4-FFF2-40B4-BE49-F238E27FC236}">
                <a16:creationId xmlns:a16="http://schemas.microsoft.com/office/drawing/2014/main" id="{70188FA8-726D-4817-A156-FD9C03CCAB32}"/>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955">
            <a:extLst>
              <a:ext uri="{FF2B5EF4-FFF2-40B4-BE49-F238E27FC236}">
                <a16:creationId xmlns:a16="http://schemas.microsoft.com/office/drawing/2014/main" id="{6880EB04-E8A4-4C63-8DB2-CDA72206F83F}"/>
              </a:ext>
            </a:extLst>
          </p:cNvPr>
          <p:cNvSpPr>
            <a:spLocks noGrp="1"/>
          </p:cNvSpPr>
          <p:nvPr/>
        </p:nvSpPr>
        <p:spPr>
          <a:xfrm>
            <a:off x="647700" y="4171950"/>
            <a:ext cx="114300" cy="800100"/>
          </a:xfrm>
          <a:prstGeom prst="rect">
            <a:avLst/>
          </a:prstGeom>
          <a:solidFill>
            <a:srgbClr val="000080"/>
          </a:solidFill>
          <a:ln w="0">
            <a:noFill/>
            <a:prstDash val="solid"/>
          </a:ln>
        </p:spPr>
        <p:txBody>
          <a:bodyPr/>
          <a:lstStyle/>
          <a:p>
            <a:endParaRPr lang="en-US"/>
          </a:p>
        </p:txBody>
      </p:sp>
      <p:sp>
        <p:nvSpPr>
          <p:cNvPr id="21" name="text-956">
            <a:extLst>
              <a:ext uri="{FF2B5EF4-FFF2-40B4-BE49-F238E27FC236}">
                <a16:creationId xmlns:a16="http://schemas.microsoft.com/office/drawing/2014/main" id="{802E8276-BD26-4120-8B21-D6C2DC7474F8}"/>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957">
            <a:extLst>
              <a:ext uri="{FF2B5EF4-FFF2-40B4-BE49-F238E27FC236}">
                <a16:creationId xmlns:a16="http://schemas.microsoft.com/office/drawing/2014/main" id="{03ADD24C-0F90-41AE-8080-2713D5AA4089}"/>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The founder only</a:t>
            </a:r>
          </a:p>
        </p:txBody>
      </p:sp>
      <p:sp>
        <p:nvSpPr>
          <p:cNvPr id="23" name="text-958">
            <a:extLst>
              <a:ext uri="{FF2B5EF4-FFF2-40B4-BE49-F238E27FC236}">
                <a16:creationId xmlns:a16="http://schemas.microsoft.com/office/drawing/2014/main" id="{C98D2E3B-652F-484D-84E6-52174F3AA13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959">
            <a:extLst>
              <a:ext uri="{FF2B5EF4-FFF2-40B4-BE49-F238E27FC236}">
                <a16:creationId xmlns:a16="http://schemas.microsoft.com/office/drawing/2014/main" id="{2046EA13-5234-4905-A534-1F992BDFD8A3}"/>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960">
            <a:extLst>
              <a:ext uri="{FF2B5EF4-FFF2-40B4-BE49-F238E27FC236}">
                <a16:creationId xmlns:a16="http://schemas.microsoft.com/office/drawing/2014/main" id="{FF574AF1-8DF7-4047-A603-95D06E4283F3}"/>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961">
            <a:extLst>
              <a:ext uri="{FF2B5EF4-FFF2-40B4-BE49-F238E27FC236}">
                <a16:creationId xmlns:a16="http://schemas.microsoft.com/office/drawing/2014/main" id="{E763EF2D-3621-405A-9B0B-7F456EA0AB8E}"/>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962">
            <a:extLst>
              <a:ext uri="{FF2B5EF4-FFF2-40B4-BE49-F238E27FC236}">
                <a16:creationId xmlns:a16="http://schemas.microsoft.com/office/drawing/2014/main" id="{33C4938B-DC14-4864-954C-841AA997C101}"/>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963">
            <a:extLst>
              <a:ext uri="{FF2B5EF4-FFF2-40B4-BE49-F238E27FC236}">
                <a16:creationId xmlns:a16="http://schemas.microsoft.com/office/drawing/2014/main" id="{393D6FB7-2703-42DB-8E78-6751C212B674}"/>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964">
            <a:extLst>
              <a:ext uri="{FF2B5EF4-FFF2-40B4-BE49-F238E27FC236}">
                <a16:creationId xmlns:a16="http://schemas.microsoft.com/office/drawing/2014/main" id="{F84A45F9-A4CF-4C45-8672-A601D5ABF9BB}"/>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ADMINISTRATION &amp; GOVERNANCE</a:t>
            </a:r>
          </a:p>
        </p:txBody>
      </p:sp>
      <p:sp>
        <p:nvSpPr>
          <p:cNvPr id="30" name="text-965">
            <a:extLst>
              <a:ext uri="{FF2B5EF4-FFF2-40B4-BE49-F238E27FC236}">
                <a16:creationId xmlns:a16="http://schemas.microsoft.com/office/drawing/2014/main" id="{9703DD1C-F477-460E-AB83-C73FE50A1D19}"/>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Q33 / 49</a:t>
            </a:r>
          </a:p>
        </p:txBody>
      </p:sp>
    </p:spTree>
    <p:extLst>
      <p:ext uri="{BB962C8B-B14F-4D97-AF65-F5344CB8AC3E}">
        <p14:creationId xmlns:p14="http://schemas.microsoft.com/office/powerpoint/2010/main" val="1440900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966">
            <a:extLst>
              <a:ext uri="{FF2B5EF4-FFF2-40B4-BE49-F238E27FC236}">
                <a16:creationId xmlns:a16="http://schemas.microsoft.com/office/drawing/2014/main" id="{94EF9561-CFB9-47E2-A9C3-A79728D95867}"/>
              </a:ext>
            </a:extLst>
          </p:cNvPr>
          <p:cNvSpPr>
            <a:spLocks noGrp="1"/>
          </p:cNvSpPr>
          <p:nvPr/>
        </p:nvSpPr>
        <p:spPr>
          <a:xfrm>
            <a:off x="647700" y="438150"/>
            <a:ext cx="104775" cy="247650"/>
          </a:xfrm>
          <a:prstGeom prst="rect">
            <a:avLst/>
          </a:prstGeom>
          <a:solidFill>
            <a:srgbClr val="000080"/>
          </a:solidFill>
          <a:ln w="0">
            <a:noFill/>
            <a:prstDash val="solid"/>
          </a:ln>
        </p:spPr>
        <p:txBody>
          <a:bodyPr/>
          <a:lstStyle/>
          <a:p>
            <a:endParaRPr lang="en-US"/>
          </a:p>
        </p:txBody>
      </p:sp>
      <p:sp>
        <p:nvSpPr>
          <p:cNvPr id="3" name="text-967">
            <a:extLst>
              <a:ext uri="{FF2B5EF4-FFF2-40B4-BE49-F238E27FC236}">
                <a16:creationId xmlns:a16="http://schemas.microsoft.com/office/drawing/2014/main" id="{CC5F8EE1-4744-4FDA-878B-9F56F582DAA5}"/>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ADMINISTRATION &amp; GOVERNANCE</a:t>
            </a:r>
          </a:p>
        </p:txBody>
      </p:sp>
      <p:sp>
        <p:nvSpPr>
          <p:cNvPr id="4" name="text-968">
            <a:extLst>
              <a:ext uri="{FF2B5EF4-FFF2-40B4-BE49-F238E27FC236}">
                <a16:creationId xmlns:a16="http://schemas.microsoft.com/office/drawing/2014/main" id="{00E8B348-AE92-4650-A386-5FA35120FF59}"/>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Q34</a:t>
            </a:r>
          </a:p>
        </p:txBody>
      </p:sp>
      <p:sp>
        <p:nvSpPr>
          <p:cNvPr id="5" name="text-969">
            <a:extLst>
              <a:ext uri="{FF2B5EF4-FFF2-40B4-BE49-F238E27FC236}">
                <a16:creationId xmlns:a16="http://schemas.microsoft.com/office/drawing/2014/main" id="{3ECA0051-FE03-4B2E-AF01-865A1E21910E}"/>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internal users authenticate?</a:t>
            </a:r>
          </a:p>
        </p:txBody>
      </p:sp>
      <p:sp>
        <p:nvSpPr>
          <p:cNvPr id="6" name="text-970">
            <a:extLst>
              <a:ext uri="{FF2B5EF4-FFF2-40B4-BE49-F238E27FC236}">
                <a16:creationId xmlns:a16="http://schemas.microsoft.com/office/drawing/2014/main" id="{D0DD2482-6060-4D19-AE78-0D9D470D50F9}"/>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000080"/>
                </a:solidFill>
                <a:latin typeface="Bahnschrift"/>
                <a:ea typeface="Bahnschrift"/>
                <a:cs typeface="Bahnschrift"/>
              </a:defRPr>
            </a:pPr>
            <a:r>
              <a:rPr sz="1050" b="1">
                <a:solidFill>
                  <a:srgbClr val="000080"/>
                </a:solidFill>
                <a:latin typeface="Bahnschrift"/>
                <a:ea typeface="Bahnschrift"/>
                <a:cs typeface="Bahnschrift"/>
              </a:rPr>
              <a:t>SYSTEM IMPACT</a:t>
            </a:r>
          </a:p>
        </p:txBody>
      </p:sp>
      <p:sp>
        <p:nvSpPr>
          <p:cNvPr id="7" name="text-971">
            <a:extLst>
              <a:ext uri="{FF2B5EF4-FFF2-40B4-BE49-F238E27FC236}">
                <a16:creationId xmlns:a16="http://schemas.microsoft.com/office/drawing/2014/main" id="{08407E45-C5E5-4AAB-ACDD-00BA918C0271}"/>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enterprise identity, MFA and offboarding controls.</a:t>
            </a:r>
          </a:p>
        </p:txBody>
      </p:sp>
      <p:sp>
        <p:nvSpPr>
          <p:cNvPr id="8" name="rect-972">
            <a:extLst>
              <a:ext uri="{FF2B5EF4-FFF2-40B4-BE49-F238E27FC236}">
                <a16:creationId xmlns:a16="http://schemas.microsoft.com/office/drawing/2014/main" id="{A3E183D1-E1C8-4A64-8042-7A741C1FA367}"/>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973">
            <a:extLst>
              <a:ext uri="{FF2B5EF4-FFF2-40B4-BE49-F238E27FC236}">
                <a16:creationId xmlns:a16="http://schemas.microsoft.com/office/drawing/2014/main" id="{10CCFEA6-A866-4BA9-9DF5-29F24B92419E}"/>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974">
            <a:extLst>
              <a:ext uri="{FF2B5EF4-FFF2-40B4-BE49-F238E27FC236}">
                <a16:creationId xmlns:a16="http://schemas.microsoft.com/office/drawing/2014/main" id="{53922BF4-420E-4748-A620-1FC37A37C1D1}"/>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975">
            <a:extLst>
              <a:ext uri="{FF2B5EF4-FFF2-40B4-BE49-F238E27FC236}">
                <a16:creationId xmlns:a16="http://schemas.microsoft.com/office/drawing/2014/main" id="{55C56FAF-E924-4A3B-A70F-134B905383EF}"/>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Microsoft organizational SSO with MFA</a:t>
            </a:r>
          </a:p>
        </p:txBody>
      </p:sp>
      <p:sp>
        <p:nvSpPr>
          <p:cNvPr id="12" name="text-976">
            <a:extLst>
              <a:ext uri="{FF2B5EF4-FFF2-40B4-BE49-F238E27FC236}">
                <a16:creationId xmlns:a16="http://schemas.microsoft.com/office/drawing/2014/main" id="{FA586077-9556-482F-9A5F-888491DCC94D}"/>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977">
            <a:extLst>
              <a:ext uri="{FF2B5EF4-FFF2-40B4-BE49-F238E27FC236}">
                <a16:creationId xmlns:a16="http://schemas.microsoft.com/office/drawing/2014/main" id="{620BE53B-837E-4BE7-B46F-4057DEB75A1B}"/>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978">
            <a:extLst>
              <a:ext uri="{FF2B5EF4-FFF2-40B4-BE49-F238E27FC236}">
                <a16:creationId xmlns:a16="http://schemas.microsoft.com/office/drawing/2014/main" id="{47D8D3ED-0708-46D9-9FCC-DC7A427FDE0A}"/>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979">
            <a:extLst>
              <a:ext uri="{FF2B5EF4-FFF2-40B4-BE49-F238E27FC236}">
                <a16:creationId xmlns:a16="http://schemas.microsoft.com/office/drawing/2014/main" id="{5064A876-3896-4211-AEA3-4BAD7A7825D9}"/>
              </a:ext>
            </a:extLst>
          </p:cNvPr>
          <p:cNvSpPr>
            <a:spLocks noGrp="1"/>
          </p:cNvSpPr>
          <p:nvPr/>
        </p:nvSpPr>
        <p:spPr>
          <a:xfrm>
            <a:off x="647700" y="3219450"/>
            <a:ext cx="114300" cy="800100"/>
          </a:xfrm>
          <a:prstGeom prst="rect">
            <a:avLst/>
          </a:prstGeom>
          <a:solidFill>
            <a:srgbClr val="000080"/>
          </a:solidFill>
          <a:ln w="0">
            <a:noFill/>
            <a:prstDash val="solid"/>
          </a:ln>
        </p:spPr>
        <p:txBody>
          <a:bodyPr/>
          <a:lstStyle/>
          <a:p>
            <a:endParaRPr lang="en-US"/>
          </a:p>
        </p:txBody>
      </p:sp>
      <p:sp>
        <p:nvSpPr>
          <p:cNvPr id="16" name="text-980">
            <a:extLst>
              <a:ext uri="{FF2B5EF4-FFF2-40B4-BE49-F238E27FC236}">
                <a16:creationId xmlns:a16="http://schemas.microsoft.com/office/drawing/2014/main" id="{4DCFD57A-5A60-4ECE-827D-C7B25A446E9A}"/>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981">
            <a:extLst>
              <a:ext uri="{FF2B5EF4-FFF2-40B4-BE49-F238E27FC236}">
                <a16:creationId xmlns:a16="http://schemas.microsoft.com/office/drawing/2014/main" id="{86998D63-D8E9-4260-A556-68B7A232DD1E}"/>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Email login with MFA</a:t>
            </a:r>
          </a:p>
        </p:txBody>
      </p:sp>
      <p:sp>
        <p:nvSpPr>
          <p:cNvPr id="18" name="text-982">
            <a:extLst>
              <a:ext uri="{FF2B5EF4-FFF2-40B4-BE49-F238E27FC236}">
                <a16:creationId xmlns:a16="http://schemas.microsoft.com/office/drawing/2014/main" id="{873656D4-C3E3-4B14-8D84-355A4DBF34FE}"/>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983">
            <a:extLst>
              <a:ext uri="{FF2B5EF4-FFF2-40B4-BE49-F238E27FC236}">
                <a16:creationId xmlns:a16="http://schemas.microsoft.com/office/drawing/2014/main" id="{4D36E811-2677-4A78-9C4E-A823F7146219}"/>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984">
            <a:extLst>
              <a:ext uri="{FF2B5EF4-FFF2-40B4-BE49-F238E27FC236}">
                <a16:creationId xmlns:a16="http://schemas.microsoft.com/office/drawing/2014/main" id="{86DFD929-95EB-4308-8585-A7BE3976D937}"/>
              </a:ext>
            </a:extLst>
          </p:cNvPr>
          <p:cNvSpPr>
            <a:spLocks noGrp="1"/>
          </p:cNvSpPr>
          <p:nvPr/>
        </p:nvSpPr>
        <p:spPr>
          <a:xfrm>
            <a:off x="647700" y="4171950"/>
            <a:ext cx="114300" cy="800100"/>
          </a:xfrm>
          <a:prstGeom prst="rect">
            <a:avLst/>
          </a:prstGeom>
          <a:solidFill>
            <a:srgbClr val="000080"/>
          </a:solidFill>
          <a:ln w="0">
            <a:noFill/>
            <a:prstDash val="solid"/>
          </a:ln>
        </p:spPr>
        <p:txBody>
          <a:bodyPr/>
          <a:lstStyle/>
          <a:p>
            <a:endParaRPr lang="en-US"/>
          </a:p>
        </p:txBody>
      </p:sp>
      <p:sp>
        <p:nvSpPr>
          <p:cNvPr id="21" name="text-985">
            <a:extLst>
              <a:ext uri="{FF2B5EF4-FFF2-40B4-BE49-F238E27FC236}">
                <a16:creationId xmlns:a16="http://schemas.microsoft.com/office/drawing/2014/main" id="{CD1F32B8-FD74-46AA-8BC3-1370079A83E7}"/>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986">
            <a:extLst>
              <a:ext uri="{FF2B5EF4-FFF2-40B4-BE49-F238E27FC236}">
                <a16:creationId xmlns:a16="http://schemas.microsoft.com/office/drawing/2014/main" id="{30484B1C-6AAA-4812-8D27-8B37BE63729B}"/>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Password-only login</a:t>
            </a:r>
          </a:p>
        </p:txBody>
      </p:sp>
      <p:sp>
        <p:nvSpPr>
          <p:cNvPr id="23" name="text-987">
            <a:extLst>
              <a:ext uri="{FF2B5EF4-FFF2-40B4-BE49-F238E27FC236}">
                <a16:creationId xmlns:a16="http://schemas.microsoft.com/office/drawing/2014/main" id="{0B317CC2-FD4A-4FEB-846E-CF879C8E77D0}"/>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988">
            <a:extLst>
              <a:ext uri="{FF2B5EF4-FFF2-40B4-BE49-F238E27FC236}">
                <a16:creationId xmlns:a16="http://schemas.microsoft.com/office/drawing/2014/main" id="{809AE9C6-9F1A-47FC-8B9B-42538FAA9A30}"/>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989">
            <a:extLst>
              <a:ext uri="{FF2B5EF4-FFF2-40B4-BE49-F238E27FC236}">
                <a16:creationId xmlns:a16="http://schemas.microsoft.com/office/drawing/2014/main" id="{624A1F73-369D-4D5C-8C6A-ABF0D9709383}"/>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990">
            <a:extLst>
              <a:ext uri="{FF2B5EF4-FFF2-40B4-BE49-F238E27FC236}">
                <a16:creationId xmlns:a16="http://schemas.microsoft.com/office/drawing/2014/main" id="{BAD62529-3F36-4474-BEC1-488740C5F0E8}"/>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991">
            <a:extLst>
              <a:ext uri="{FF2B5EF4-FFF2-40B4-BE49-F238E27FC236}">
                <a16:creationId xmlns:a16="http://schemas.microsoft.com/office/drawing/2014/main" id="{494E6301-F8C0-489E-AF41-BAB7B75248E1}"/>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992">
            <a:extLst>
              <a:ext uri="{FF2B5EF4-FFF2-40B4-BE49-F238E27FC236}">
                <a16:creationId xmlns:a16="http://schemas.microsoft.com/office/drawing/2014/main" id="{76AF1067-DE7C-43A8-AD77-2E631A169B4D}"/>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993">
            <a:extLst>
              <a:ext uri="{FF2B5EF4-FFF2-40B4-BE49-F238E27FC236}">
                <a16:creationId xmlns:a16="http://schemas.microsoft.com/office/drawing/2014/main" id="{2C0CF190-A5A2-43F3-8BBE-146DEFCBB38B}"/>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ADMINISTRATION &amp; GOVERNANCE</a:t>
            </a:r>
          </a:p>
        </p:txBody>
      </p:sp>
      <p:sp>
        <p:nvSpPr>
          <p:cNvPr id="30" name="text-994">
            <a:extLst>
              <a:ext uri="{FF2B5EF4-FFF2-40B4-BE49-F238E27FC236}">
                <a16:creationId xmlns:a16="http://schemas.microsoft.com/office/drawing/2014/main" id="{8FD29745-995D-4503-8E31-5C21D22410B2}"/>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Q34 / 49</a:t>
            </a:r>
          </a:p>
        </p:txBody>
      </p:sp>
    </p:spTree>
    <p:extLst>
      <p:ext uri="{BB962C8B-B14F-4D97-AF65-F5344CB8AC3E}">
        <p14:creationId xmlns:p14="http://schemas.microsoft.com/office/powerpoint/2010/main" val="1851291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995">
            <a:extLst>
              <a:ext uri="{FF2B5EF4-FFF2-40B4-BE49-F238E27FC236}">
                <a16:creationId xmlns:a16="http://schemas.microsoft.com/office/drawing/2014/main" id="{7BCE4151-355E-4866-B692-4070122EA26D}"/>
              </a:ext>
            </a:extLst>
          </p:cNvPr>
          <p:cNvSpPr>
            <a:spLocks noGrp="1"/>
          </p:cNvSpPr>
          <p:nvPr/>
        </p:nvSpPr>
        <p:spPr>
          <a:xfrm>
            <a:off x="647700" y="438150"/>
            <a:ext cx="104775" cy="247650"/>
          </a:xfrm>
          <a:prstGeom prst="rect">
            <a:avLst/>
          </a:prstGeom>
          <a:solidFill>
            <a:srgbClr val="9A9F90"/>
          </a:solidFill>
          <a:ln w="0">
            <a:noFill/>
            <a:prstDash val="solid"/>
          </a:ln>
        </p:spPr>
        <p:txBody>
          <a:bodyPr/>
          <a:lstStyle/>
          <a:p>
            <a:endParaRPr lang="en-US"/>
          </a:p>
        </p:txBody>
      </p:sp>
      <p:sp>
        <p:nvSpPr>
          <p:cNvPr id="3" name="text-996">
            <a:extLst>
              <a:ext uri="{FF2B5EF4-FFF2-40B4-BE49-F238E27FC236}">
                <a16:creationId xmlns:a16="http://schemas.microsoft.com/office/drawing/2014/main" id="{C38672CA-8410-473F-A456-40E88ABE7CFC}"/>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FULFILMENT &amp; LOGISTICS</a:t>
            </a:r>
          </a:p>
        </p:txBody>
      </p:sp>
      <p:sp>
        <p:nvSpPr>
          <p:cNvPr id="4" name="text-997">
            <a:extLst>
              <a:ext uri="{FF2B5EF4-FFF2-40B4-BE49-F238E27FC236}">
                <a16:creationId xmlns:a16="http://schemas.microsoft.com/office/drawing/2014/main" id="{C373D9B8-5ADC-470B-881C-EF9D2D57BC8A}"/>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Q35</a:t>
            </a:r>
          </a:p>
        </p:txBody>
      </p:sp>
      <p:sp>
        <p:nvSpPr>
          <p:cNvPr id="5" name="text-998">
            <a:extLst>
              <a:ext uri="{FF2B5EF4-FFF2-40B4-BE49-F238E27FC236}">
                <a16:creationId xmlns:a16="http://schemas.microsoft.com/office/drawing/2014/main" id="{00CFE85B-C14F-433F-8200-748FB3925E1E}"/>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shipping-provider selection work at launch?</a:t>
            </a:r>
          </a:p>
        </p:txBody>
      </p:sp>
      <p:sp>
        <p:nvSpPr>
          <p:cNvPr id="6" name="text-999">
            <a:extLst>
              <a:ext uri="{FF2B5EF4-FFF2-40B4-BE49-F238E27FC236}">
                <a16:creationId xmlns:a16="http://schemas.microsoft.com/office/drawing/2014/main" id="{7A8B0D47-EC18-4634-934F-E6FC2CE75545}"/>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9A9F90"/>
                </a:solidFill>
                <a:latin typeface="Bahnschrift"/>
                <a:ea typeface="Bahnschrift"/>
                <a:cs typeface="Bahnschrift"/>
              </a:defRPr>
            </a:pPr>
            <a:r>
              <a:rPr sz="1050" b="1">
                <a:solidFill>
                  <a:srgbClr val="9A9F90"/>
                </a:solidFill>
                <a:latin typeface="Bahnschrift"/>
                <a:ea typeface="Bahnschrift"/>
                <a:cs typeface="Bahnschrift"/>
              </a:rPr>
              <a:t>SYSTEM IMPACT</a:t>
            </a:r>
          </a:p>
        </p:txBody>
      </p:sp>
      <p:sp>
        <p:nvSpPr>
          <p:cNvPr id="7" name="text-1000">
            <a:extLst>
              <a:ext uri="{FF2B5EF4-FFF2-40B4-BE49-F238E27FC236}">
                <a16:creationId xmlns:a16="http://schemas.microsoft.com/office/drawing/2014/main" id="{D8235AA0-F855-4C8C-A06E-A66FE77D57E3}"/>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integration scope and the evidence needed for procurement decisions.</a:t>
            </a:r>
          </a:p>
        </p:txBody>
      </p:sp>
      <p:sp>
        <p:nvSpPr>
          <p:cNvPr id="8" name="rect-1001">
            <a:extLst>
              <a:ext uri="{FF2B5EF4-FFF2-40B4-BE49-F238E27FC236}">
                <a16:creationId xmlns:a16="http://schemas.microsoft.com/office/drawing/2014/main" id="{06A37159-6C84-4FA9-BB33-DB468A2DF052}"/>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002">
            <a:extLst>
              <a:ext uri="{FF2B5EF4-FFF2-40B4-BE49-F238E27FC236}">
                <a16:creationId xmlns:a16="http://schemas.microsoft.com/office/drawing/2014/main" id="{24B1F97A-1F10-438E-A12D-8B492CD19C9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003">
            <a:extLst>
              <a:ext uri="{FF2B5EF4-FFF2-40B4-BE49-F238E27FC236}">
                <a16:creationId xmlns:a16="http://schemas.microsoft.com/office/drawing/2014/main" id="{3DEF6336-A71D-4C0F-9290-A28F1B049CF4}"/>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004">
            <a:extLst>
              <a:ext uri="{FF2B5EF4-FFF2-40B4-BE49-F238E27FC236}">
                <a16:creationId xmlns:a16="http://schemas.microsoft.com/office/drawing/2014/main" id="{BDED21FA-FD81-4960-9D39-D4846B13DCA2}"/>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Run a controlled two-provider experiment</a:t>
            </a:r>
          </a:p>
        </p:txBody>
      </p:sp>
      <p:sp>
        <p:nvSpPr>
          <p:cNvPr id="12" name="text-1005">
            <a:extLst>
              <a:ext uri="{FF2B5EF4-FFF2-40B4-BE49-F238E27FC236}">
                <a16:creationId xmlns:a16="http://schemas.microsoft.com/office/drawing/2014/main" id="{660D8FF1-A6E4-45DE-AC10-1879D80120F9}"/>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006">
            <a:extLst>
              <a:ext uri="{FF2B5EF4-FFF2-40B4-BE49-F238E27FC236}">
                <a16:creationId xmlns:a16="http://schemas.microsoft.com/office/drawing/2014/main" id="{99673AA9-56B8-4B30-901A-6848B2B10BA9}"/>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007">
            <a:extLst>
              <a:ext uri="{FF2B5EF4-FFF2-40B4-BE49-F238E27FC236}">
                <a16:creationId xmlns:a16="http://schemas.microsoft.com/office/drawing/2014/main" id="{FD9C3448-4AF7-4207-80E1-FED34E40CCCE}"/>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008">
            <a:extLst>
              <a:ext uri="{FF2B5EF4-FFF2-40B4-BE49-F238E27FC236}">
                <a16:creationId xmlns:a16="http://schemas.microsoft.com/office/drawing/2014/main" id="{1EB73408-44B8-44FF-BF18-95E218519798}"/>
              </a:ext>
            </a:extLst>
          </p:cNvPr>
          <p:cNvSpPr>
            <a:spLocks noGrp="1"/>
          </p:cNvSpPr>
          <p:nvPr/>
        </p:nvSpPr>
        <p:spPr>
          <a:xfrm>
            <a:off x="647700" y="3219450"/>
            <a:ext cx="114300" cy="800100"/>
          </a:xfrm>
          <a:prstGeom prst="rect">
            <a:avLst/>
          </a:prstGeom>
          <a:solidFill>
            <a:srgbClr val="9A9F90"/>
          </a:solidFill>
          <a:ln w="0">
            <a:noFill/>
            <a:prstDash val="solid"/>
          </a:ln>
        </p:spPr>
        <p:txBody>
          <a:bodyPr/>
          <a:lstStyle/>
          <a:p>
            <a:endParaRPr lang="en-US"/>
          </a:p>
        </p:txBody>
      </p:sp>
      <p:sp>
        <p:nvSpPr>
          <p:cNvPr id="16" name="text-1009">
            <a:extLst>
              <a:ext uri="{FF2B5EF4-FFF2-40B4-BE49-F238E27FC236}">
                <a16:creationId xmlns:a16="http://schemas.microsoft.com/office/drawing/2014/main" id="{1C473182-8934-4EFC-8EEC-5BBC051E56F1}"/>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010">
            <a:extLst>
              <a:ext uri="{FF2B5EF4-FFF2-40B4-BE49-F238E27FC236}">
                <a16:creationId xmlns:a16="http://schemas.microsoft.com/office/drawing/2014/main" id="{7BE0B2C1-F3F3-4053-9C87-B81BBB1383F4}"/>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Use one provider behind an abstraction</a:t>
            </a:r>
          </a:p>
        </p:txBody>
      </p:sp>
      <p:sp>
        <p:nvSpPr>
          <p:cNvPr id="18" name="text-1011">
            <a:extLst>
              <a:ext uri="{FF2B5EF4-FFF2-40B4-BE49-F238E27FC236}">
                <a16:creationId xmlns:a16="http://schemas.microsoft.com/office/drawing/2014/main" id="{64F14F32-F157-42F6-B235-6FAD8F64A9C4}"/>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012">
            <a:extLst>
              <a:ext uri="{FF2B5EF4-FFF2-40B4-BE49-F238E27FC236}">
                <a16:creationId xmlns:a16="http://schemas.microsoft.com/office/drawing/2014/main" id="{C20D05AA-5260-47B6-832E-FCA9F78A02F5}"/>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013">
            <a:extLst>
              <a:ext uri="{FF2B5EF4-FFF2-40B4-BE49-F238E27FC236}">
                <a16:creationId xmlns:a16="http://schemas.microsoft.com/office/drawing/2014/main" id="{B5CBDEF3-C3F8-4148-B4C9-AFB59D930390}"/>
              </a:ext>
            </a:extLst>
          </p:cNvPr>
          <p:cNvSpPr>
            <a:spLocks noGrp="1"/>
          </p:cNvSpPr>
          <p:nvPr/>
        </p:nvSpPr>
        <p:spPr>
          <a:xfrm>
            <a:off x="647700" y="4171950"/>
            <a:ext cx="114300" cy="800100"/>
          </a:xfrm>
          <a:prstGeom prst="rect">
            <a:avLst/>
          </a:prstGeom>
          <a:solidFill>
            <a:srgbClr val="9A9F90"/>
          </a:solidFill>
          <a:ln w="0">
            <a:noFill/>
            <a:prstDash val="solid"/>
          </a:ln>
        </p:spPr>
        <p:txBody>
          <a:bodyPr/>
          <a:lstStyle/>
          <a:p>
            <a:endParaRPr lang="en-US"/>
          </a:p>
        </p:txBody>
      </p:sp>
      <p:sp>
        <p:nvSpPr>
          <p:cNvPr id="21" name="text-1014">
            <a:extLst>
              <a:ext uri="{FF2B5EF4-FFF2-40B4-BE49-F238E27FC236}">
                <a16:creationId xmlns:a16="http://schemas.microsoft.com/office/drawing/2014/main" id="{4891C17C-33D6-4515-92DE-6F0F72B41E1E}"/>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015">
            <a:extLst>
              <a:ext uri="{FF2B5EF4-FFF2-40B4-BE49-F238E27FC236}">
                <a16:creationId xmlns:a16="http://schemas.microsoft.com/office/drawing/2014/main" id="{A5234B0E-12EB-484A-9A6F-8B7C9D7208CD}"/>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Start with manual shipment booking</a:t>
            </a:r>
          </a:p>
        </p:txBody>
      </p:sp>
      <p:sp>
        <p:nvSpPr>
          <p:cNvPr id="23" name="text-1016">
            <a:extLst>
              <a:ext uri="{FF2B5EF4-FFF2-40B4-BE49-F238E27FC236}">
                <a16:creationId xmlns:a16="http://schemas.microsoft.com/office/drawing/2014/main" id="{70ECFF3E-B3D3-4D1B-BF23-72B2DFA3AF43}"/>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017">
            <a:extLst>
              <a:ext uri="{FF2B5EF4-FFF2-40B4-BE49-F238E27FC236}">
                <a16:creationId xmlns:a16="http://schemas.microsoft.com/office/drawing/2014/main" id="{DC24269E-30CE-48C5-8431-E7CE328875EB}"/>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018">
            <a:extLst>
              <a:ext uri="{FF2B5EF4-FFF2-40B4-BE49-F238E27FC236}">
                <a16:creationId xmlns:a16="http://schemas.microsoft.com/office/drawing/2014/main" id="{4A0373B7-FDE2-4332-BC45-E395670B443A}"/>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019">
            <a:extLst>
              <a:ext uri="{FF2B5EF4-FFF2-40B4-BE49-F238E27FC236}">
                <a16:creationId xmlns:a16="http://schemas.microsoft.com/office/drawing/2014/main" id="{65D7E603-F7FD-43B2-AA46-3F2106FCD2B2}"/>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020">
            <a:extLst>
              <a:ext uri="{FF2B5EF4-FFF2-40B4-BE49-F238E27FC236}">
                <a16:creationId xmlns:a16="http://schemas.microsoft.com/office/drawing/2014/main" id="{5730C9EB-B45E-4565-883C-E907C543083B}"/>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021">
            <a:extLst>
              <a:ext uri="{FF2B5EF4-FFF2-40B4-BE49-F238E27FC236}">
                <a16:creationId xmlns:a16="http://schemas.microsoft.com/office/drawing/2014/main" id="{D589B3DC-9F46-40E9-AB80-4EC484E1072B}"/>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022">
            <a:extLst>
              <a:ext uri="{FF2B5EF4-FFF2-40B4-BE49-F238E27FC236}">
                <a16:creationId xmlns:a16="http://schemas.microsoft.com/office/drawing/2014/main" id="{20F96A91-88CD-4D46-A208-1FD91F740D95}"/>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FULFILMENT &amp; LOGISTICS</a:t>
            </a:r>
          </a:p>
        </p:txBody>
      </p:sp>
      <p:sp>
        <p:nvSpPr>
          <p:cNvPr id="30" name="text-1023">
            <a:extLst>
              <a:ext uri="{FF2B5EF4-FFF2-40B4-BE49-F238E27FC236}">
                <a16:creationId xmlns:a16="http://schemas.microsoft.com/office/drawing/2014/main" id="{1600402E-DCC2-437F-BEF8-8BDC8425B316}"/>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Q35 / 49</a:t>
            </a:r>
          </a:p>
        </p:txBody>
      </p:sp>
    </p:spTree>
    <p:extLst>
      <p:ext uri="{BB962C8B-B14F-4D97-AF65-F5344CB8AC3E}">
        <p14:creationId xmlns:p14="http://schemas.microsoft.com/office/powerpoint/2010/main" val="654190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024">
            <a:extLst>
              <a:ext uri="{FF2B5EF4-FFF2-40B4-BE49-F238E27FC236}">
                <a16:creationId xmlns:a16="http://schemas.microsoft.com/office/drawing/2014/main" id="{CDE8BFF2-EBD6-46FB-8B14-3A1C1F376E34}"/>
              </a:ext>
            </a:extLst>
          </p:cNvPr>
          <p:cNvSpPr>
            <a:spLocks noGrp="1"/>
          </p:cNvSpPr>
          <p:nvPr/>
        </p:nvSpPr>
        <p:spPr>
          <a:xfrm>
            <a:off x="647700" y="438150"/>
            <a:ext cx="104775" cy="247650"/>
          </a:xfrm>
          <a:prstGeom prst="rect">
            <a:avLst/>
          </a:prstGeom>
          <a:solidFill>
            <a:srgbClr val="9A9F90"/>
          </a:solidFill>
          <a:ln w="0">
            <a:noFill/>
            <a:prstDash val="solid"/>
          </a:ln>
        </p:spPr>
        <p:txBody>
          <a:bodyPr/>
          <a:lstStyle/>
          <a:p>
            <a:endParaRPr lang="en-US"/>
          </a:p>
        </p:txBody>
      </p:sp>
      <p:sp>
        <p:nvSpPr>
          <p:cNvPr id="3" name="text-1025">
            <a:extLst>
              <a:ext uri="{FF2B5EF4-FFF2-40B4-BE49-F238E27FC236}">
                <a16:creationId xmlns:a16="http://schemas.microsoft.com/office/drawing/2014/main" id="{23C5D4C1-151B-49E6-9A95-1DE457D7B389}"/>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FULFILMENT &amp; LOGISTICS</a:t>
            </a:r>
          </a:p>
        </p:txBody>
      </p:sp>
      <p:sp>
        <p:nvSpPr>
          <p:cNvPr id="4" name="text-1026">
            <a:extLst>
              <a:ext uri="{FF2B5EF4-FFF2-40B4-BE49-F238E27FC236}">
                <a16:creationId xmlns:a16="http://schemas.microsoft.com/office/drawing/2014/main" id="{7B24DD67-58F6-44B9-A8D5-6B060F6F72BB}"/>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Q36</a:t>
            </a:r>
          </a:p>
        </p:txBody>
      </p:sp>
      <p:sp>
        <p:nvSpPr>
          <p:cNvPr id="5" name="text-1027">
            <a:extLst>
              <a:ext uri="{FF2B5EF4-FFF2-40B4-BE49-F238E27FC236}">
                <a16:creationId xmlns:a16="http://schemas.microsoft.com/office/drawing/2014/main" id="{8F9C00BE-E3E2-4D1B-B5AA-1BF81D45EF02}"/>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courier vendors be represented in the system?</a:t>
            </a:r>
          </a:p>
        </p:txBody>
      </p:sp>
      <p:sp>
        <p:nvSpPr>
          <p:cNvPr id="6" name="text-1028">
            <a:extLst>
              <a:ext uri="{FF2B5EF4-FFF2-40B4-BE49-F238E27FC236}">
                <a16:creationId xmlns:a16="http://schemas.microsoft.com/office/drawing/2014/main" id="{5F6A5344-4398-46CB-A526-C7F39BBABF11}"/>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9A9F90"/>
                </a:solidFill>
                <a:latin typeface="Bahnschrift"/>
                <a:ea typeface="Bahnschrift"/>
                <a:cs typeface="Bahnschrift"/>
              </a:defRPr>
            </a:pPr>
            <a:r>
              <a:rPr sz="1050" b="1">
                <a:solidFill>
                  <a:srgbClr val="9A9F90"/>
                </a:solidFill>
                <a:latin typeface="Bahnschrift"/>
                <a:ea typeface="Bahnschrift"/>
                <a:cs typeface="Bahnschrift"/>
              </a:rPr>
              <a:t>SYSTEM IMPACT</a:t>
            </a:r>
          </a:p>
        </p:txBody>
      </p:sp>
      <p:sp>
        <p:nvSpPr>
          <p:cNvPr id="7" name="text-1029">
            <a:extLst>
              <a:ext uri="{FF2B5EF4-FFF2-40B4-BE49-F238E27FC236}">
                <a16:creationId xmlns:a16="http://schemas.microsoft.com/office/drawing/2014/main" id="{E72EBBF7-D9AA-4F92-A1A1-7FC835871329}"/>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Separates the integration contract from the final vendor choice.</a:t>
            </a:r>
          </a:p>
        </p:txBody>
      </p:sp>
      <p:sp>
        <p:nvSpPr>
          <p:cNvPr id="8" name="rect-1030">
            <a:extLst>
              <a:ext uri="{FF2B5EF4-FFF2-40B4-BE49-F238E27FC236}">
                <a16:creationId xmlns:a16="http://schemas.microsoft.com/office/drawing/2014/main" id="{DAD7E0FE-1C2C-4F4C-A9C3-34A56C7A6D26}"/>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031">
            <a:extLst>
              <a:ext uri="{FF2B5EF4-FFF2-40B4-BE49-F238E27FC236}">
                <a16:creationId xmlns:a16="http://schemas.microsoft.com/office/drawing/2014/main" id="{256E3B80-1CA3-4309-917A-986363391B2E}"/>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032">
            <a:extLst>
              <a:ext uri="{FF2B5EF4-FFF2-40B4-BE49-F238E27FC236}">
                <a16:creationId xmlns:a16="http://schemas.microsoft.com/office/drawing/2014/main" id="{DF5A096C-9BA7-4FF8-BB7C-5A52DE2E11A1}"/>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033">
            <a:extLst>
              <a:ext uri="{FF2B5EF4-FFF2-40B4-BE49-F238E27FC236}">
                <a16:creationId xmlns:a16="http://schemas.microsoft.com/office/drawing/2014/main" id="{A90955B5-3EB9-4E3A-AECA-9EA78F4B2E5F}"/>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Two configurable provider slots</a:t>
            </a:r>
          </a:p>
        </p:txBody>
      </p:sp>
      <p:sp>
        <p:nvSpPr>
          <p:cNvPr id="12" name="text-1034">
            <a:extLst>
              <a:ext uri="{FF2B5EF4-FFF2-40B4-BE49-F238E27FC236}">
                <a16:creationId xmlns:a16="http://schemas.microsoft.com/office/drawing/2014/main" id="{E3C21B0A-46BF-4274-812C-6F5127A2A002}"/>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035">
            <a:extLst>
              <a:ext uri="{FF2B5EF4-FFF2-40B4-BE49-F238E27FC236}">
                <a16:creationId xmlns:a16="http://schemas.microsoft.com/office/drawing/2014/main" id="{7B1B329C-9BB0-4A07-9FEB-7665241BB636}"/>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036">
            <a:extLst>
              <a:ext uri="{FF2B5EF4-FFF2-40B4-BE49-F238E27FC236}">
                <a16:creationId xmlns:a16="http://schemas.microsoft.com/office/drawing/2014/main" id="{2BA9E4F6-5CD4-4170-9813-9BB5B579E904}"/>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037">
            <a:extLst>
              <a:ext uri="{FF2B5EF4-FFF2-40B4-BE49-F238E27FC236}">
                <a16:creationId xmlns:a16="http://schemas.microsoft.com/office/drawing/2014/main" id="{CB76F0FB-04BB-464A-BEE1-F166E6C605D8}"/>
              </a:ext>
            </a:extLst>
          </p:cNvPr>
          <p:cNvSpPr>
            <a:spLocks noGrp="1"/>
          </p:cNvSpPr>
          <p:nvPr/>
        </p:nvSpPr>
        <p:spPr>
          <a:xfrm>
            <a:off x="647700" y="3219450"/>
            <a:ext cx="114300" cy="800100"/>
          </a:xfrm>
          <a:prstGeom prst="rect">
            <a:avLst/>
          </a:prstGeom>
          <a:solidFill>
            <a:srgbClr val="9A9F90"/>
          </a:solidFill>
          <a:ln w="0">
            <a:noFill/>
            <a:prstDash val="solid"/>
          </a:ln>
        </p:spPr>
        <p:txBody>
          <a:bodyPr/>
          <a:lstStyle/>
          <a:p>
            <a:endParaRPr lang="en-US"/>
          </a:p>
        </p:txBody>
      </p:sp>
      <p:sp>
        <p:nvSpPr>
          <p:cNvPr id="16" name="text-1038">
            <a:extLst>
              <a:ext uri="{FF2B5EF4-FFF2-40B4-BE49-F238E27FC236}">
                <a16:creationId xmlns:a16="http://schemas.microsoft.com/office/drawing/2014/main" id="{106D0BF7-BBD2-4FCD-830D-9C1B869B718F}"/>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039">
            <a:extLst>
              <a:ext uri="{FF2B5EF4-FFF2-40B4-BE49-F238E27FC236}">
                <a16:creationId xmlns:a16="http://schemas.microsoft.com/office/drawing/2014/main" id="{67B98F73-F08D-4253-92E5-6FDA197A6C51}"/>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Hard-code Shiprocket and Delhivery</a:t>
            </a:r>
          </a:p>
        </p:txBody>
      </p:sp>
      <p:sp>
        <p:nvSpPr>
          <p:cNvPr id="18" name="text-1040">
            <a:extLst>
              <a:ext uri="{FF2B5EF4-FFF2-40B4-BE49-F238E27FC236}">
                <a16:creationId xmlns:a16="http://schemas.microsoft.com/office/drawing/2014/main" id="{035C7577-1A53-41A7-8B57-D2B6ACB93F53}"/>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041">
            <a:extLst>
              <a:ext uri="{FF2B5EF4-FFF2-40B4-BE49-F238E27FC236}">
                <a16:creationId xmlns:a16="http://schemas.microsoft.com/office/drawing/2014/main" id="{5AF10D21-1C31-44B1-8F9A-4EBB34B7B5A8}"/>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042">
            <a:extLst>
              <a:ext uri="{FF2B5EF4-FFF2-40B4-BE49-F238E27FC236}">
                <a16:creationId xmlns:a16="http://schemas.microsoft.com/office/drawing/2014/main" id="{5707A9C6-57A7-46CF-BF98-D615D1586FE7}"/>
              </a:ext>
            </a:extLst>
          </p:cNvPr>
          <p:cNvSpPr>
            <a:spLocks noGrp="1"/>
          </p:cNvSpPr>
          <p:nvPr/>
        </p:nvSpPr>
        <p:spPr>
          <a:xfrm>
            <a:off x="647700" y="4171950"/>
            <a:ext cx="114300" cy="800100"/>
          </a:xfrm>
          <a:prstGeom prst="rect">
            <a:avLst/>
          </a:prstGeom>
          <a:solidFill>
            <a:srgbClr val="9A9F90"/>
          </a:solidFill>
          <a:ln w="0">
            <a:noFill/>
            <a:prstDash val="solid"/>
          </a:ln>
        </p:spPr>
        <p:txBody>
          <a:bodyPr/>
          <a:lstStyle/>
          <a:p>
            <a:endParaRPr lang="en-US"/>
          </a:p>
        </p:txBody>
      </p:sp>
      <p:sp>
        <p:nvSpPr>
          <p:cNvPr id="21" name="text-1043">
            <a:extLst>
              <a:ext uri="{FF2B5EF4-FFF2-40B4-BE49-F238E27FC236}">
                <a16:creationId xmlns:a16="http://schemas.microsoft.com/office/drawing/2014/main" id="{B2BC2D8D-AC93-4D5F-8DCA-5493D3BD2EA7}"/>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044">
            <a:extLst>
              <a:ext uri="{FF2B5EF4-FFF2-40B4-BE49-F238E27FC236}">
                <a16:creationId xmlns:a16="http://schemas.microsoft.com/office/drawing/2014/main" id="{1F3A0D10-CCCE-4877-B174-6E1ABF4FC09B}"/>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Hard-code Shiprocket and Shipneer</a:t>
            </a:r>
          </a:p>
        </p:txBody>
      </p:sp>
      <p:sp>
        <p:nvSpPr>
          <p:cNvPr id="23" name="text-1045">
            <a:extLst>
              <a:ext uri="{FF2B5EF4-FFF2-40B4-BE49-F238E27FC236}">
                <a16:creationId xmlns:a16="http://schemas.microsoft.com/office/drawing/2014/main" id="{CCB003E6-1900-415F-9178-B0D2C23F64F9}"/>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046">
            <a:extLst>
              <a:ext uri="{FF2B5EF4-FFF2-40B4-BE49-F238E27FC236}">
                <a16:creationId xmlns:a16="http://schemas.microsoft.com/office/drawing/2014/main" id="{385BD5B9-4F0B-4B39-8D6E-6384630DB1A1}"/>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047">
            <a:extLst>
              <a:ext uri="{FF2B5EF4-FFF2-40B4-BE49-F238E27FC236}">
                <a16:creationId xmlns:a16="http://schemas.microsoft.com/office/drawing/2014/main" id="{84F9E1DC-13CD-4685-B864-4AE5E0FFAEA7}"/>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048">
            <a:extLst>
              <a:ext uri="{FF2B5EF4-FFF2-40B4-BE49-F238E27FC236}">
                <a16:creationId xmlns:a16="http://schemas.microsoft.com/office/drawing/2014/main" id="{309637F4-91D5-40BB-BB52-42C9D50F1EA4}"/>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049">
            <a:extLst>
              <a:ext uri="{FF2B5EF4-FFF2-40B4-BE49-F238E27FC236}">
                <a16:creationId xmlns:a16="http://schemas.microsoft.com/office/drawing/2014/main" id="{CDB840CA-0F57-4B5F-9860-AFEE25773F06}"/>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050">
            <a:extLst>
              <a:ext uri="{FF2B5EF4-FFF2-40B4-BE49-F238E27FC236}">
                <a16:creationId xmlns:a16="http://schemas.microsoft.com/office/drawing/2014/main" id="{C8D746B9-A657-45FE-9664-73B865A9543E}"/>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051">
            <a:extLst>
              <a:ext uri="{FF2B5EF4-FFF2-40B4-BE49-F238E27FC236}">
                <a16:creationId xmlns:a16="http://schemas.microsoft.com/office/drawing/2014/main" id="{75636012-A1F2-4574-939A-4B26A7FE0950}"/>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FULFILMENT &amp; LOGISTICS</a:t>
            </a:r>
          </a:p>
        </p:txBody>
      </p:sp>
      <p:sp>
        <p:nvSpPr>
          <p:cNvPr id="30" name="text-1052">
            <a:extLst>
              <a:ext uri="{FF2B5EF4-FFF2-40B4-BE49-F238E27FC236}">
                <a16:creationId xmlns:a16="http://schemas.microsoft.com/office/drawing/2014/main" id="{544AD77C-CD8F-49DF-90A2-B7D7EEDB8A66}"/>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Q36 / 49</a:t>
            </a:r>
          </a:p>
        </p:txBody>
      </p:sp>
    </p:spTree>
    <p:extLst>
      <p:ext uri="{BB962C8B-B14F-4D97-AF65-F5344CB8AC3E}">
        <p14:creationId xmlns:p14="http://schemas.microsoft.com/office/powerpoint/2010/main" val="382068156"/>
      </p:ext>
    </p:extLst>
  </p:cSld>
  <p:clrMapOvr>
    <a:masterClrMapping/>
  </p:clrMapOvr>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1053">
            <a:extLst>
              <a:ext uri="{FF2B5EF4-FFF2-40B4-BE49-F238E27FC236}">
                <a16:creationId xmlns:a16="http://schemas.microsoft.com/office/drawing/2014/main" id="{E3F75DCD-03CC-4116-81CA-10F6122F2FC0}"/>
              </a:ext>
            </a:extLst>
          </p:cNvPr>
          <p:cNvSpPr>
            <a:spLocks noGrp="1"/>
          </p:cNvSpPr>
          <p:nvPr/>
        </p:nvSpPr>
        <p:spPr>
          <a:xfrm>
            <a:off x="647700" y="438150"/>
            <a:ext cx="104775" cy="247650"/>
          </a:xfrm>
          <a:prstGeom prst="rect">
            <a:avLst/>
          </a:prstGeom>
          <a:solidFill>
            <a:srgbClr val="9A9F90"/>
          </a:solidFill>
          <a:ln w="0">
            <a:noFill/>
            <a:prstDash val="solid"/>
          </a:ln>
        </p:spPr>
        <p:txBody>
          <a:bodyPr/>
          <a:lstStyle/>
          <a:p>
            <a:endParaRPr lang="en-US"/>
          </a:p>
        </p:txBody>
      </p:sp>
      <p:sp>
        <p:nvSpPr>
          <p:cNvPr id="3" name="text-1054">
            <a:extLst>
              <a:ext uri="{FF2B5EF4-FFF2-40B4-BE49-F238E27FC236}">
                <a16:creationId xmlns:a16="http://schemas.microsoft.com/office/drawing/2014/main" id="{29FD68E1-547C-4E7C-AD57-DBB8EA2AD301}"/>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FULFILMENT &amp; LOGISTICS</a:t>
            </a:r>
          </a:p>
        </p:txBody>
      </p:sp>
      <p:sp>
        <p:nvSpPr>
          <p:cNvPr id="4" name="text-1055">
            <a:extLst>
              <a:ext uri="{FF2B5EF4-FFF2-40B4-BE49-F238E27FC236}">
                <a16:creationId xmlns:a16="http://schemas.microsoft.com/office/drawing/2014/main" id="{E1C4246E-6AA4-46AC-9529-002C94BC8140}"/>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Q37</a:t>
            </a:r>
          </a:p>
        </p:txBody>
      </p:sp>
      <p:sp>
        <p:nvSpPr>
          <p:cNvPr id="5" name="text-1056">
            <a:extLst>
              <a:ext uri="{FF2B5EF4-FFF2-40B4-BE49-F238E27FC236}">
                <a16:creationId xmlns:a16="http://schemas.microsoft.com/office/drawing/2014/main" id="{90FC3B1F-DBE9-41E3-BA01-CB59E29881F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2625" b="1">
                <a:solidFill>
                  <a:srgbClr val="141414"/>
                </a:solidFill>
                <a:latin typeface="Bahnschrift"/>
                <a:ea typeface="Bahnschrift"/>
                <a:cs typeface="Bahnschrift"/>
              </a:defRPr>
            </a:pPr>
            <a:r>
              <a:rPr sz="2625" b="1">
                <a:solidFill>
                  <a:srgbClr val="141414"/>
                </a:solidFill>
                <a:latin typeface="Bahnschrift"/>
                <a:ea typeface="Bahnschrift"/>
                <a:cs typeface="Bahnschrift"/>
              </a:rPr>
              <a:t>How should eligible shipments be allocated between providers?</a:t>
            </a:r>
          </a:p>
        </p:txBody>
      </p:sp>
      <p:sp>
        <p:nvSpPr>
          <p:cNvPr id="6" name="text-1057">
            <a:extLst>
              <a:ext uri="{FF2B5EF4-FFF2-40B4-BE49-F238E27FC236}">
                <a16:creationId xmlns:a16="http://schemas.microsoft.com/office/drawing/2014/main" id="{F60643C5-1943-4513-B5FA-897BEA70F682}"/>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9A9F90"/>
                </a:solidFill>
                <a:latin typeface="Bahnschrift"/>
                <a:ea typeface="Bahnschrift"/>
                <a:cs typeface="Bahnschrift"/>
              </a:defRPr>
            </a:pPr>
            <a:r>
              <a:rPr sz="1050" b="1">
                <a:solidFill>
                  <a:srgbClr val="9A9F90"/>
                </a:solidFill>
                <a:latin typeface="Bahnschrift"/>
                <a:ea typeface="Bahnschrift"/>
                <a:cs typeface="Bahnschrift"/>
              </a:rPr>
              <a:t>SYSTEM IMPACT</a:t>
            </a:r>
          </a:p>
        </p:txBody>
      </p:sp>
      <p:sp>
        <p:nvSpPr>
          <p:cNvPr id="7" name="text-1058">
            <a:extLst>
              <a:ext uri="{FF2B5EF4-FFF2-40B4-BE49-F238E27FC236}">
                <a16:creationId xmlns:a16="http://schemas.microsoft.com/office/drawing/2014/main" id="{364B0A19-E155-4DB8-83EF-9CD662918E53}"/>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Determines whether courier performance comparisons are valid.</a:t>
            </a:r>
          </a:p>
        </p:txBody>
      </p:sp>
      <p:sp>
        <p:nvSpPr>
          <p:cNvPr id="8" name="rect-1059">
            <a:extLst>
              <a:ext uri="{FF2B5EF4-FFF2-40B4-BE49-F238E27FC236}">
                <a16:creationId xmlns:a16="http://schemas.microsoft.com/office/drawing/2014/main" id="{76F9A4A2-3B64-4E48-B398-2F54DD140372}"/>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060">
            <a:extLst>
              <a:ext uri="{FF2B5EF4-FFF2-40B4-BE49-F238E27FC236}">
                <a16:creationId xmlns:a16="http://schemas.microsoft.com/office/drawing/2014/main" id="{A2BE9EE1-E7F9-4073-AAF0-1202A05D6AE5}"/>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061">
            <a:extLst>
              <a:ext uri="{FF2B5EF4-FFF2-40B4-BE49-F238E27FC236}">
                <a16:creationId xmlns:a16="http://schemas.microsoft.com/office/drawing/2014/main" id="{CCD5B434-2EF1-4E62-9659-1DDC593AA5F4}"/>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062">
            <a:extLst>
              <a:ext uri="{FF2B5EF4-FFF2-40B4-BE49-F238E27FC236}">
                <a16:creationId xmlns:a16="http://schemas.microsoft.com/office/drawing/2014/main" id="{F51253AC-CC0D-479B-8FC2-80EE84CE492C}"/>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Deterministic stratified 50/50 assignment</a:t>
            </a:r>
          </a:p>
        </p:txBody>
      </p:sp>
      <p:sp>
        <p:nvSpPr>
          <p:cNvPr id="12" name="text-1063">
            <a:extLst>
              <a:ext uri="{FF2B5EF4-FFF2-40B4-BE49-F238E27FC236}">
                <a16:creationId xmlns:a16="http://schemas.microsoft.com/office/drawing/2014/main" id="{926FC73D-8AE2-41CF-BFEC-398E069D978C}"/>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064">
            <a:extLst>
              <a:ext uri="{FF2B5EF4-FFF2-40B4-BE49-F238E27FC236}">
                <a16:creationId xmlns:a16="http://schemas.microsoft.com/office/drawing/2014/main" id="{EE2A7966-A491-4121-A98E-A5548C98B0E8}"/>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065">
            <a:extLst>
              <a:ext uri="{FF2B5EF4-FFF2-40B4-BE49-F238E27FC236}">
                <a16:creationId xmlns:a16="http://schemas.microsoft.com/office/drawing/2014/main" id="{91D3244B-C0A4-41A7-BF41-956E568FC0FC}"/>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066">
            <a:extLst>
              <a:ext uri="{FF2B5EF4-FFF2-40B4-BE49-F238E27FC236}">
                <a16:creationId xmlns:a16="http://schemas.microsoft.com/office/drawing/2014/main" id="{CD63FEEE-0D21-4F91-9149-B1E92B507F20}"/>
              </a:ext>
            </a:extLst>
          </p:cNvPr>
          <p:cNvSpPr>
            <a:spLocks noGrp="1"/>
          </p:cNvSpPr>
          <p:nvPr/>
        </p:nvSpPr>
        <p:spPr>
          <a:xfrm>
            <a:off x="647700" y="3219450"/>
            <a:ext cx="114300" cy="800100"/>
          </a:xfrm>
          <a:prstGeom prst="rect">
            <a:avLst/>
          </a:prstGeom>
          <a:solidFill>
            <a:srgbClr val="9A9F90"/>
          </a:solidFill>
          <a:ln w="0">
            <a:noFill/>
            <a:prstDash val="solid"/>
          </a:ln>
        </p:spPr>
        <p:txBody>
          <a:bodyPr/>
          <a:lstStyle/>
          <a:p>
            <a:endParaRPr lang="en-US"/>
          </a:p>
        </p:txBody>
      </p:sp>
      <p:sp>
        <p:nvSpPr>
          <p:cNvPr id="16" name="text-1067">
            <a:extLst>
              <a:ext uri="{FF2B5EF4-FFF2-40B4-BE49-F238E27FC236}">
                <a16:creationId xmlns:a16="http://schemas.microsoft.com/office/drawing/2014/main" id="{DAA8715E-5022-45C3-A387-1DE729F0160A}"/>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068">
            <a:extLst>
              <a:ext uri="{FF2B5EF4-FFF2-40B4-BE49-F238E27FC236}">
                <a16:creationId xmlns:a16="http://schemas.microsoft.com/office/drawing/2014/main" id="{10F1B85A-37E9-46F0-A55A-D0088DB883DE}"/>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Choose the cheapest eligible provider</a:t>
            </a:r>
          </a:p>
        </p:txBody>
      </p:sp>
      <p:sp>
        <p:nvSpPr>
          <p:cNvPr id="18" name="text-1069">
            <a:extLst>
              <a:ext uri="{FF2B5EF4-FFF2-40B4-BE49-F238E27FC236}">
                <a16:creationId xmlns:a16="http://schemas.microsoft.com/office/drawing/2014/main" id="{F17D97FE-9F8A-499E-940E-6B0457C14D7E}"/>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070">
            <a:extLst>
              <a:ext uri="{FF2B5EF4-FFF2-40B4-BE49-F238E27FC236}">
                <a16:creationId xmlns:a16="http://schemas.microsoft.com/office/drawing/2014/main" id="{BC4FAE7C-532C-45F4-9A50-1392A3C5E3E9}"/>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071">
            <a:extLst>
              <a:ext uri="{FF2B5EF4-FFF2-40B4-BE49-F238E27FC236}">
                <a16:creationId xmlns:a16="http://schemas.microsoft.com/office/drawing/2014/main" id="{E6B223B1-0EA4-452B-855C-73613BA54129}"/>
              </a:ext>
            </a:extLst>
          </p:cNvPr>
          <p:cNvSpPr>
            <a:spLocks noGrp="1"/>
          </p:cNvSpPr>
          <p:nvPr/>
        </p:nvSpPr>
        <p:spPr>
          <a:xfrm>
            <a:off x="647700" y="4171950"/>
            <a:ext cx="114300" cy="800100"/>
          </a:xfrm>
          <a:prstGeom prst="rect">
            <a:avLst/>
          </a:prstGeom>
          <a:solidFill>
            <a:srgbClr val="9A9F90"/>
          </a:solidFill>
          <a:ln w="0">
            <a:noFill/>
            <a:prstDash val="solid"/>
          </a:ln>
        </p:spPr>
        <p:txBody>
          <a:bodyPr/>
          <a:lstStyle/>
          <a:p>
            <a:endParaRPr lang="en-US"/>
          </a:p>
        </p:txBody>
      </p:sp>
      <p:sp>
        <p:nvSpPr>
          <p:cNvPr id="21" name="text-1072">
            <a:extLst>
              <a:ext uri="{FF2B5EF4-FFF2-40B4-BE49-F238E27FC236}">
                <a16:creationId xmlns:a16="http://schemas.microsoft.com/office/drawing/2014/main" id="{2BFF6841-EB12-48D3-835B-2364F368D7C9}"/>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073">
            <a:extLst>
              <a:ext uri="{FF2B5EF4-FFF2-40B4-BE49-F238E27FC236}">
                <a16:creationId xmlns:a16="http://schemas.microsoft.com/office/drawing/2014/main" id="{BED434EA-DD7F-4AA1-B8E8-0E5F32F6E5CE}"/>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Choose the fastest eligible provider</a:t>
            </a:r>
          </a:p>
        </p:txBody>
      </p:sp>
      <p:sp>
        <p:nvSpPr>
          <p:cNvPr id="23" name="text-1074">
            <a:extLst>
              <a:ext uri="{FF2B5EF4-FFF2-40B4-BE49-F238E27FC236}">
                <a16:creationId xmlns:a16="http://schemas.microsoft.com/office/drawing/2014/main" id="{F75CF337-B93D-4A6B-8A84-E6B5C943D52F}"/>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075">
            <a:extLst>
              <a:ext uri="{FF2B5EF4-FFF2-40B4-BE49-F238E27FC236}">
                <a16:creationId xmlns:a16="http://schemas.microsoft.com/office/drawing/2014/main" id="{496C920C-4872-41B8-99EB-0F348848276A}"/>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076">
            <a:extLst>
              <a:ext uri="{FF2B5EF4-FFF2-40B4-BE49-F238E27FC236}">
                <a16:creationId xmlns:a16="http://schemas.microsoft.com/office/drawing/2014/main" id="{7A192903-E8CB-49DD-B12C-DB3C7A727E46}"/>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077">
            <a:extLst>
              <a:ext uri="{FF2B5EF4-FFF2-40B4-BE49-F238E27FC236}">
                <a16:creationId xmlns:a16="http://schemas.microsoft.com/office/drawing/2014/main" id="{8BD1C770-EBBA-4359-834F-B17DF7C04C09}"/>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078">
            <a:extLst>
              <a:ext uri="{FF2B5EF4-FFF2-40B4-BE49-F238E27FC236}">
                <a16:creationId xmlns:a16="http://schemas.microsoft.com/office/drawing/2014/main" id="{CDC05471-9B31-4FB6-B358-D818D08C4E01}"/>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079">
            <a:extLst>
              <a:ext uri="{FF2B5EF4-FFF2-40B4-BE49-F238E27FC236}">
                <a16:creationId xmlns:a16="http://schemas.microsoft.com/office/drawing/2014/main" id="{E6E9BD52-B1A3-4A35-8603-14F35438D47C}"/>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080">
            <a:extLst>
              <a:ext uri="{FF2B5EF4-FFF2-40B4-BE49-F238E27FC236}">
                <a16:creationId xmlns:a16="http://schemas.microsoft.com/office/drawing/2014/main" id="{1FC08054-88A5-4CAF-953A-5A53EE4AAF4D}"/>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FULFILMENT &amp; LOGISTICS</a:t>
            </a:r>
          </a:p>
        </p:txBody>
      </p:sp>
      <p:sp>
        <p:nvSpPr>
          <p:cNvPr id="30" name="text-1081">
            <a:extLst>
              <a:ext uri="{FF2B5EF4-FFF2-40B4-BE49-F238E27FC236}">
                <a16:creationId xmlns:a16="http://schemas.microsoft.com/office/drawing/2014/main" id="{C3F1B301-8D8D-4909-A381-8783DF2BDBDA}"/>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Q37 / 49</a:t>
            </a:r>
          </a:p>
        </p:txBody>
      </p:sp>
    </p:spTree>
    <p:extLst>
      <p:ext uri="{BB962C8B-B14F-4D97-AF65-F5344CB8AC3E}">
        <p14:creationId xmlns:p14="http://schemas.microsoft.com/office/powerpoint/2010/main" val="1157699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082">
            <a:extLst>
              <a:ext uri="{FF2B5EF4-FFF2-40B4-BE49-F238E27FC236}">
                <a16:creationId xmlns:a16="http://schemas.microsoft.com/office/drawing/2014/main" id="{663CBF59-D0D3-4828-BE8A-55D0D03A4F5F}"/>
              </a:ext>
            </a:extLst>
          </p:cNvPr>
          <p:cNvSpPr>
            <a:spLocks noGrp="1"/>
          </p:cNvSpPr>
          <p:nvPr/>
        </p:nvSpPr>
        <p:spPr>
          <a:xfrm>
            <a:off x="647700" y="438150"/>
            <a:ext cx="104775" cy="247650"/>
          </a:xfrm>
          <a:prstGeom prst="rect">
            <a:avLst/>
          </a:prstGeom>
          <a:solidFill>
            <a:srgbClr val="9A9F90"/>
          </a:solidFill>
          <a:ln w="0">
            <a:noFill/>
            <a:prstDash val="solid"/>
          </a:ln>
        </p:spPr>
        <p:txBody>
          <a:bodyPr/>
          <a:lstStyle/>
          <a:p>
            <a:endParaRPr lang="en-US"/>
          </a:p>
        </p:txBody>
      </p:sp>
      <p:sp>
        <p:nvSpPr>
          <p:cNvPr id="3" name="text-1083">
            <a:extLst>
              <a:ext uri="{FF2B5EF4-FFF2-40B4-BE49-F238E27FC236}">
                <a16:creationId xmlns:a16="http://schemas.microsoft.com/office/drawing/2014/main" id="{E8F0A96D-CC16-4CE2-B216-5F518BF90051}"/>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FULFILMENT &amp; LOGISTICS</a:t>
            </a:r>
          </a:p>
        </p:txBody>
      </p:sp>
      <p:sp>
        <p:nvSpPr>
          <p:cNvPr id="4" name="text-1084">
            <a:extLst>
              <a:ext uri="{FF2B5EF4-FFF2-40B4-BE49-F238E27FC236}">
                <a16:creationId xmlns:a16="http://schemas.microsoft.com/office/drawing/2014/main" id="{B996F1D0-130C-4751-97BE-FCEEA03D96FA}"/>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Q38</a:t>
            </a:r>
          </a:p>
        </p:txBody>
      </p:sp>
      <p:sp>
        <p:nvSpPr>
          <p:cNvPr id="5" name="text-1085">
            <a:extLst>
              <a:ext uri="{FF2B5EF4-FFF2-40B4-BE49-F238E27FC236}">
                <a16:creationId xmlns:a16="http://schemas.microsoft.com/office/drawing/2014/main" id="{197B928A-C44E-4116-92D0-552D14D4CA09}"/>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warehouse model should v1 support?</a:t>
            </a:r>
          </a:p>
        </p:txBody>
      </p:sp>
      <p:sp>
        <p:nvSpPr>
          <p:cNvPr id="6" name="text-1086">
            <a:extLst>
              <a:ext uri="{FF2B5EF4-FFF2-40B4-BE49-F238E27FC236}">
                <a16:creationId xmlns:a16="http://schemas.microsoft.com/office/drawing/2014/main" id="{EDEA66D4-250C-43C8-9D43-358ECBE64FE9}"/>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9A9F90"/>
                </a:solidFill>
                <a:latin typeface="Bahnschrift"/>
                <a:ea typeface="Bahnschrift"/>
                <a:cs typeface="Bahnschrift"/>
              </a:defRPr>
            </a:pPr>
            <a:r>
              <a:rPr sz="1050" b="1">
                <a:solidFill>
                  <a:srgbClr val="9A9F90"/>
                </a:solidFill>
                <a:latin typeface="Bahnschrift"/>
                <a:ea typeface="Bahnschrift"/>
                <a:cs typeface="Bahnschrift"/>
              </a:rPr>
              <a:t>SYSTEM IMPACT</a:t>
            </a:r>
          </a:p>
        </p:txBody>
      </p:sp>
      <p:sp>
        <p:nvSpPr>
          <p:cNvPr id="7" name="text-1087">
            <a:extLst>
              <a:ext uri="{FF2B5EF4-FFF2-40B4-BE49-F238E27FC236}">
                <a16:creationId xmlns:a16="http://schemas.microsoft.com/office/drawing/2014/main" id="{A6D5CE24-C65E-4B7B-BAF2-0AB1B675C36B}"/>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initial operations while preserving future location support.</a:t>
            </a:r>
          </a:p>
        </p:txBody>
      </p:sp>
      <p:sp>
        <p:nvSpPr>
          <p:cNvPr id="8" name="rect-1088">
            <a:extLst>
              <a:ext uri="{FF2B5EF4-FFF2-40B4-BE49-F238E27FC236}">
                <a16:creationId xmlns:a16="http://schemas.microsoft.com/office/drawing/2014/main" id="{44B1E4CA-F61E-4A33-AB6E-8BF73EA284FC}"/>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089">
            <a:extLst>
              <a:ext uri="{FF2B5EF4-FFF2-40B4-BE49-F238E27FC236}">
                <a16:creationId xmlns:a16="http://schemas.microsoft.com/office/drawing/2014/main" id="{997D05C0-D309-44D5-B2E9-715B279DDBF6}"/>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090">
            <a:extLst>
              <a:ext uri="{FF2B5EF4-FFF2-40B4-BE49-F238E27FC236}">
                <a16:creationId xmlns:a16="http://schemas.microsoft.com/office/drawing/2014/main" id="{FB5331A6-4BE2-411E-9E1B-9F0887DE7E3E}"/>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091">
            <a:extLst>
              <a:ext uri="{FF2B5EF4-FFF2-40B4-BE49-F238E27FC236}">
                <a16:creationId xmlns:a16="http://schemas.microsoft.com/office/drawing/2014/main" id="{A238CC09-73E7-42E4-9863-98598E34CAE7}"/>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One active warehouse with a location-aware model</a:t>
            </a:r>
          </a:p>
        </p:txBody>
      </p:sp>
      <p:sp>
        <p:nvSpPr>
          <p:cNvPr id="12" name="text-1092">
            <a:extLst>
              <a:ext uri="{FF2B5EF4-FFF2-40B4-BE49-F238E27FC236}">
                <a16:creationId xmlns:a16="http://schemas.microsoft.com/office/drawing/2014/main" id="{DBD0C0B7-4EE4-4F6C-8B22-8DBEEA7115B3}"/>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093">
            <a:extLst>
              <a:ext uri="{FF2B5EF4-FFF2-40B4-BE49-F238E27FC236}">
                <a16:creationId xmlns:a16="http://schemas.microsoft.com/office/drawing/2014/main" id="{FCC08003-B88E-41BA-8DC7-7314B52E58F3}"/>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094">
            <a:extLst>
              <a:ext uri="{FF2B5EF4-FFF2-40B4-BE49-F238E27FC236}">
                <a16:creationId xmlns:a16="http://schemas.microsoft.com/office/drawing/2014/main" id="{465EF866-C983-4CB8-8018-ADF93008AB01}"/>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095">
            <a:extLst>
              <a:ext uri="{FF2B5EF4-FFF2-40B4-BE49-F238E27FC236}">
                <a16:creationId xmlns:a16="http://schemas.microsoft.com/office/drawing/2014/main" id="{7A6A29F2-D96F-4456-AA7C-DB15D1B22A53}"/>
              </a:ext>
            </a:extLst>
          </p:cNvPr>
          <p:cNvSpPr>
            <a:spLocks noGrp="1"/>
          </p:cNvSpPr>
          <p:nvPr/>
        </p:nvSpPr>
        <p:spPr>
          <a:xfrm>
            <a:off x="647700" y="3219450"/>
            <a:ext cx="114300" cy="800100"/>
          </a:xfrm>
          <a:prstGeom prst="rect">
            <a:avLst/>
          </a:prstGeom>
          <a:solidFill>
            <a:srgbClr val="9A9F90"/>
          </a:solidFill>
          <a:ln w="0">
            <a:noFill/>
            <a:prstDash val="solid"/>
          </a:ln>
        </p:spPr>
        <p:txBody>
          <a:bodyPr/>
          <a:lstStyle/>
          <a:p>
            <a:endParaRPr lang="en-US"/>
          </a:p>
        </p:txBody>
      </p:sp>
      <p:sp>
        <p:nvSpPr>
          <p:cNvPr id="16" name="text-1096">
            <a:extLst>
              <a:ext uri="{FF2B5EF4-FFF2-40B4-BE49-F238E27FC236}">
                <a16:creationId xmlns:a16="http://schemas.microsoft.com/office/drawing/2014/main" id="{063704C4-DC4C-4B6F-A074-8F669C98BDCA}"/>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097">
            <a:extLst>
              <a:ext uri="{FF2B5EF4-FFF2-40B4-BE49-F238E27FC236}">
                <a16:creationId xmlns:a16="http://schemas.microsoft.com/office/drawing/2014/main" id="{FFF79D45-6A7D-4B95-9ECA-5288BE8CB004}"/>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Multiple active warehouses</a:t>
            </a:r>
          </a:p>
        </p:txBody>
      </p:sp>
      <p:sp>
        <p:nvSpPr>
          <p:cNvPr id="18" name="text-1098">
            <a:extLst>
              <a:ext uri="{FF2B5EF4-FFF2-40B4-BE49-F238E27FC236}">
                <a16:creationId xmlns:a16="http://schemas.microsoft.com/office/drawing/2014/main" id="{5CF1FB79-9902-4879-80B7-EE332EE19B19}"/>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099">
            <a:extLst>
              <a:ext uri="{FF2B5EF4-FFF2-40B4-BE49-F238E27FC236}">
                <a16:creationId xmlns:a16="http://schemas.microsoft.com/office/drawing/2014/main" id="{3638B87B-7514-46F3-B94E-67BB512CE0D9}"/>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100">
            <a:extLst>
              <a:ext uri="{FF2B5EF4-FFF2-40B4-BE49-F238E27FC236}">
                <a16:creationId xmlns:a16="http://schemas.microsoft.com/office/drawing/2014/main" id="{15FE9BA1-9667-4425-82DC-78F3BFAE4676}"/>
              </a:ext>
            </a:extLst>
          </p:cNvPr>
          <p:cNvSpPr>
            <a:spLocks noGrp="1"/>
          </p:cNvSpPr>
          <p:nvPr/>
        </p:nvSpPr>
        <p:spPr>
          <a:xfrm>
            <a:off x="647700" y="4171950"/>
            <a:ext cx="114300" cy="800100"/>
          </a:xfrm>
          <a:prstGeom prst="rect">
            <a:avLst/>
          </a:prstGeom>
          <a:solidFill>
            <a:srgbClr val="9A9F90"/>
          </a:solidFill>
          <a:ln w="0">
            <a:noFill/>
            <a:prstDash val="solid"/>
          </a:ln>
        </p:spPr>
        <p:txBody>
          <a:bodyPr/>
          <a:lstStyle/>
          <a:p>
            <a:endParaRPr lang="en-US"/>
          </a:p>
        </p:txBody>
      </p:sp>
      <p:sp>
        <p:nvSpPr>
          <p:cNvPr id="21" name="text-1101">
            <a:extLst>
              <a:ext uri="{FF2B5EF4-FFF2-40B4-BE49-F238E27FC236}">
                <a16:creationId xmlns:a16="http://schemas.microsoft.com/office/drawing/2014/main" id="{730CD522-2960-4310-A9AF-70F53FEC842E}"/>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102">
            <a:extLst>
              <a:ext uri="{FF2B5EF4-FFF2-40B4-BE49-F238E27FC236}">
                <a16:creationId xmlns:a16="http://schemas.microsoft.com/office/drawing/2014/main" id="{44B59C96-F474-4EA5-9E0A-DE4B405249A6}"/>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Courier-managed inventory</a:t>
            </a:r>
          </a:p>
        </p:txBody>
      </p:sp>
      <p:sp>
        <p:nvSpPr>
          <p:cNvPr id="23" name="text-1103">
            <a:extLst>
              <a:ext uri="{FF2B5EF4-FFF2-40B4-BE49-F238E27FC236}">
                <a16:creationId xmlns:a16="http://schemas.microsoft.com/office/drawing/2014/main" id="{31C72DAC-61C6-472E-A0FD-63C06D61DBDB}"/>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104">
            <a:extLst>
              <a:ext uri="{FF2B5EF4-FFF2-40B4-BE49-F238E27FC236}">
                <a16:creationId xmlns:a16="http://schemas.microsoft.com/office/drawing/2014/main" id="{C2F7EA65-5B94-4185-81C0-02ED6AE77C30}"/>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105">
            <a:extLst>
              <a:ext uri="{FF2B5EF4-FFF2-40B4-BE49-F238E27FC236}">
                <a16:creationId xmlns:a16="http://schemas.microsoft.com/office/drawing/2014/main" id="{9C0A10A8-7252-42D0-84B7-A51859A60049}"/>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106">
            <a:extLst>
              <a:ext uri="{FF2B5EF4-FFF2-40B4-BE49-F238E27FC236}">
                <a16:creationId xmlns:a16="http://schemas.microsoft.com/office/drawing/2014/main" id="{8CABC24E-7BA5-4D85-9333-4D896691AC44}"/>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107">
            <a:extLst>
              <a:ext uri="{FF2B5EF4-FFF2-40B4-BE49-F238E27FC236}">
                <a16:creationId xmlns:a16="http://schemas.microsoft.com/office/drawing/2014/main" id="{6F61D713-5069-4359-97F1-AAAA44FFF939}"/>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108">
            <a:extLst>
              <a:ext uri="{FF2B5EF4-FFF2-40B4-BE49-F238E27FC236}">
                <a16:creationId xmlns:a16="http://schemas.microsoft.com/office/drawing/2014/main" id="{5C7A8215-90F4-4CA0-8982-D5261E53A054}"/>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109">
            <a:extLst>
              <a:ext uri="{FF2B5EF4-FFF2-40B4-BE49-F238E27FC236}">
                <a16:creationId xmlns:a16="http://schemas.microsoft.com/office/drawing/2014/main" id="{C5199D21-730C-423A-BC9B-4FC78DB9350C}"/>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FULFILMENT &amp; LOGISTICS</a:t>
            </a:r>
          </a:p>
        </p:txBody>
      </p:sp>
      <p:sp>
        <p:nvSpPr>
          <p:cNvPr id="30" name="text-1110">
            <a:extLst>
              <a:ext uri="{FF2B5EF4-FFF2-40B4-BE49-F238E27FC236}">
                <a16:creationId xmlns:a16="http://schemas.microsoft.com/office/drawing/2014/main" id="{187B817A-5687-42BC-A70E-E48CE7798ED7}"/>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Q38 / 49</a:t>
            </a:r>
          </a:p>
        </p:txBody>
      </p:sp>
    </p:spTree>
    <p:extLst>
      <p:ext uri="{BB962C8B-B14F-4D97-AF65-F5344CB8AC3E}">
        <p14:creationId xmlns:p14="http://schemas.microsoft.com/office/powerpoint/2010/main" val="1548529182"/>
      </p:ext>
    </p:extLst>
  </p:cSld>
  <p:clrMapOvr>
    <a:masterClrMapping/>
  </p:clrMapOvr>
  <p:extLst>
    <p:ext uri="{6950BFC3-D8DA-4A85-94F7-54DA5524770B}">
      <p188:commentRel xmlns:p188="http://schemas.microsoft.com/office/powerpoint/2018/8/main" r:id="rId3"/>
    </p:ext>
  </p:extLs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1111">
            <a:extLst>
              <a:ext uri="{FF2B5EF4-FFF2-40B4-BE49-F238E27FC236}">
                <a16:creationId xmlns:a16="http://schemas.microsoft.com/office/drawing/2014/main" id="{658EB22C-855F-4EAF-9BD4-80240876E177}"/>
              </a:ext>
            </a:extLst>
          </p:cNvPr>
          <p:cNvSpPr>
            <a:spLocks noGrp="1"/>
          </p:cNvSpPr>
          <p:nvPr/>
        </p:nvSpPr>
        <p:spPr>
          <a:xfrm>
            <a:off x="647700" y="438150"/>
            <a:ext cx="104775" cy="247650"/>
          </a:xfrm>
          <a:prstGeom prst="rect">
            <a:avLst/>
          </a:prstGeom>
          <a:solidFill>
            <a:srgbClr val="D1C4E9"/>
          </a:solidFill>
          <a:ln w="0">
            <a:noFill/>
            <a:prstDash val="solid"/>
          </a:ln>
        </p:spPr>
        <p:txBody>
          <a:bodyPr/>
          <a:lstStyle/>
          <a:p>
            <a:endParaRPr lang="en-US"/>
          </a:p>
        </p:txBody>
      </p:sp>
      <p:sp>
        <p:nvSpPr>
          <p:cNvPr id="3" name="text-1112">
            <a:extLst>
              <a:ext uri="{FF2B5EF4-FFF2-40B4-BE49-F238E27FC236}">
                <a16:creationId xmlns:a16="http://schemas.microsoft.com/office/drawing/2014/main" id="{B440A18A-1943-481C-8BD3-61E28343A363}"/>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AMAZON CHANNEL</a:t>
            </a:r>
          </a:p>
        </p:txBody>
      </p:sp>
      <p:sp>
        <p:nvSpPr>
          <p:cNvPr id="4" name="text-1113">
            <a:extLst>
              <a:ext uri="{FF2B5EF4-FFF2-40B4-BE49-F238E27FC236}">
                <a16:creationId xmlns:a16="http://schemas.microsoft.com/office/drawing/2014/main" id="{A7AB9351-CC23-4B10-AC38-D54CC08C6DB4}"/>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Q39</a:t>
            </a:r>
          </a:p>
        </p:txBody>
      </p:sp>
      <p:sp>
        <p:nvSpPr>
          <p:cNvPr id="5" name="text-1114">
            <a:extLst>
              <a:ext uri="{FF2B5EF4-FFF2-40B4-BE49-F238E27FC236}">
                <a16:creationId xmlns:a16="http://schemas.microsoft.com/office/drawing/2014/main" id="{65AB905E-DB58-4D78-8D56-08765704B19D}"/>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sales channels are part of complete v1?</a:t>
            </a:r>
          </a:p>
        </p:txBody>
      </p:sp>
      <p:sp>
        <p:nvSpPr>
          <p:cNvPr id="6" name="text-1115">
            <a:extLst>
              <a:ext uri="{FF2B5EF4-FFF2-40B4-BE49-F238E27FC236}">
                <a16:creationId xmlns:a16="http://schemas.microsoft.com/office/drawing/2014/main" id="{31341F9E-6739-4162-81E9-21E195B2641D}"/>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D1C4E9"/>
                </a:solidFill>
                <a:latin typeface="Bahnschrift"/>
                <a:ea typeface="Bahnschrift"/>
                <a:cs typeface="Bahnschrift"/>
              </a:defRPr>
            </a:pPr>
            <a:r>
              <a:rPr sz="1050" b="1">
                <a:solidFill>
                  <a:srgbClr val="D1C4E9"/>
                </a:solidFill>
                <a:latin typeface="Bahnschrift"/>
                <a:ea typeface="Bahnschrift"/>
                <a:cs typeface="Bahnschrift"/>
              </a:rPr>
              <a:t>SYSTEM IMPACT</a:t>
            </a:r>
          </a:p>
        </p:txBody>
      </p:sp>
      <p:sp>
        <p:nvSpPr>
          <p:cNvPr id="7" name="text-1116">
            <a:extLst>
              <a:ext uri="{FF2B5EF4-FFF2-40B4-BE49-F238E27FC236}">
                <a16:creationId xmlns:a16="http://schemas.microsoft.com/office/drawing/2014/main" id="{7F0420BD-83E9-4EEE-ABC6-6A6C4F66358C}"/>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the marketplace commitment and D2C boundary.</a:t>
            </a:r>
          </a:p>
        </p:txBody>
      </p:sp>
      <p:sp>
        <p:nvSpPr>
          <p:cNvPr id="8" name="rect-1117">
            <a:extLst>
              <a:ext uri="{FF2B5EF4-FFF2-40B4-BE49-F238E27FC236}">
                <a16:creationId xmlns:a16="http://schemas.microsoft.com/office/drawing/2014/main" id="{4EE1444E-FFFF-4DA8-A049-C8670DD0926E}"/>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118">
            <a:extLst>
              <a:ext uri="{FF2B5EF4-FFF2-40B4-BE49-F238E27FC236}">
                <a16:creationId xmlns:a16="http://schemas.microsoft.com/office/drawing/2014/main" id="{0A041A4A-87A9-40EB-9572-523C773464B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119">
            <a:extLst>
              <a:ext uri="{FF2B5EF4-FFF2-40B4-BE49-F238E27FC236}">
                <a16:creationId xmlns:a16="http://schemas.microsoft.com/office/drawing/2014/main" id="{2C3B7C35-73A0-4F3C-AC65-4D1F48B838A3}"/>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120">
            <a:extLst>
              <a:ext uri="{FF2B5EF4-FFF2-40B4-BE49-F238E27FC236}">
                <a16:creationId xmlns:a16="http://schemas.microsoft.com/office/drawing/2014/main" id="{6C84CE26-9AB0-4E12-B242-52F10202E3BD}"/>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D2C plus Amazon operational synchronization</a:t>
            </a:r>
          </a:p>
        </p:txBody>
      </p:sp>
      <p:sp>
        <p:nvSpPr>
          <p:cNvPr id="12" name="text-1121">
            <a:extLst>
              <a:ext uri="{FF2B5EF4-FFF2-40B4-BE49-F238E27FC236}">
                <a16:creationId xmlns:a16="http://schemas.microsoft.com/office/drawing/2014/main" id="{BEE93A1E-E301-49AA-BC0D-786299B7CBD8}"/>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122">
            <a:extLst>
              <a:ext uri="{FF2B5EF4-FFF2-40B4-BE49-F238E27FC236}">
                <a16:creationId xmlns:a16="http://schemas.microsoft.com/office/drawing/2014/main" id="{551CC3ED-B841-4CBA-82EF-548B4ADD65B2}"/>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123">
            <a:extLst>
              <a:ext uri="{FF2B5EF4-FFF2-40B4-BE49-F238E27FC236}">
                <a16:creationId xmlns:a16="http://schemas.microsoft.com/office/drawing/2014/main" id="{3E04F340-C41E-4EAF-B1AC-B98817F3A77D}"/>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124">
            <a:extLst>
              <a:ext uri="{FF2B5EF4-FFF2-40B4-BE49-F238E27FC236}">
                <a16:creationId xmlns:a16="http://schemas.microsoft.com/office/drawing/2014/main" id="{ED02CFF4-9EEE-41E7-BA17-4FEA2EDE61D0}"/>
              </a:ext>
            </a:extLst>
          </p:cNvPr>
          <p:cNvSpPr>
            <a:spLocks noGrp="1"/>
          </p:cNvSpPr>
          <p:nvPr/>
        </p:nvSpPr>
        <p:spPr>
          <a:xfrm>
            <a:off x="647700" y="3219450"/>
            <a:ext cx="114300" cy="800100"/>
          </a:xfrm>
          <a:prstGeom prst="rect">
            <a:avLst/>
          </a:prstGeom>
          <a:solidFill>
            <a:srgbClr val="D1C4E9"/>
          </a:solidFill>
          <a:ln w="0">
            <a:noFill/>
            <a:prstDash val="solid"/>
          </a:ln>
        </p:spPr>
        <p:txBody>
          <a:bodyPr/>
          <a:lstStyle/>
          <a:p>
            <a:endParaRPr lang="en-US"/>
          </a:p>
        </p:txBody>
      </p:sp>
      <p:sp>
        <p:nvSpPr>
          <p:cNvPr id="16" name="text-1125">
            <a:extLst>
              <a:ext uri="{FF2B5EF4-FFF2-40B4-BE49-F238E27FC236}">
                <a16:creationId xmlns:a16="http://schemas.microsoft.com/office/drawing/2014/main" id="{170E0638-0A27-45CC-A323-82105962BB5C}"/>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126">
            <a:extLst>
              <a:ext uri="{FF2B5EF4-FFF2-40B4-BE49-F238E27FC236}">
                <a16:creationId xmlns:a16="http://schemas.microsoft.com/office/drawing/2014/main" id="{44C5CB8B-D6E0-40A7-8984-5EE46C21DE62}"/>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D2C website only</a:t>
            </a:r>
          </a:p>
        </p:txBody>
      </p:sp>
      <p:sp>
        <p:nvSpPr>
          <p:cNvPr id="18" name="text-1127">
            <a:extLst>
              <a:ext uri="{FF2B5EF4-FFF2-40B4-BE49-F238E27FC236}">
                <a16:creationId xmlns:a16="http://schemas.microsoft.com/office/drawing/2014/main" id="{EA37CFC9-3BAA-45DF-9696-A5106C7A665F}"/>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128">
            <a:extLst>
              <a:ext uri="{FF2B5EF4-FFF2-40B4-BE49-F238E27FC236}">
                <a16:creationId xmlns:a16="http://schemas.microsoft.com/office/drawing/2014/main" id="{B5D4020C-D4BB-416D-B56C-99E43A85F0B5}"/>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129">
            <a:extLst>
              <a:ext uri="{FF2B5EF4-FFF2-40B4-BE49-F238E27FC236}">
                <a16:creationId xmlns:a16="http://schemas.microsoft.com/office/drawing/2014/main" id="{700F7FB7-80BE-4A21-816A-B25828498254}"/>
              </a:ext>
            </a:extLst>
          </p:cNvPr>
          <p:cNvSpPr>
            <a:spLocks noGrp="1"/>
          </p:cNvSpPr>
          <p:nvPr/>
        </p:nvSpPr>
        <p:spPr>
          <a:xfrm>
            <a:off x="647700" y="4171950"/>
            <a:ext cx="114300" cy="800100"/>
          </a:xfrm>
          <a:prstGeom prst="rect">
            <a:avLst/>
          </a:prstGeom>
          <a:solidFill>
            <a:srgbClr val="D1C4E9"/>
          </a:solidFill>
          <a:ln w="0">
            <a:noFill/>
            <a:prstDash val="solid"/>
          </a:ln>
        </p:spPr>
        <p:txBody>
          <a:bodyPr/>
          <a:lstStyle/>
          <a:p>
            <a:endParaRPr lang="en-US"/>
          </a:p>
        </p:txBody>
      </p:sp>
      <p:sp>
        <p:nvSpPr>
          <p:cNvPr id="21" name="text-1130">
            <a:extLst>
              <a:ext uri="{FF2B5EF4-FFF2-40B4-BE49-F238E27FC236}">
                <a16:creationId xmlns:a16="http://schemas.microsoft.com/office/drawing/2014/main" id="{4A5EE0CE-9D8E-4385-8430-85A01846F461}"/>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131">
            <a:extLst>
              <a:ext uri="{FF2B5EF4-FFF2-40B4-BE49-F238E27FC236}">
                <a16:creationId xmlns:a16="http://schemas.microsoft.com/office/drawing/2014/main" id="{44D60681-8EBA-4524-A6C9-882404F6B118}"/>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 general omnichannel platform</a:t>
            </a:r>
          </a:p>
        </p:txBody>
      </p:sp>
      <p:sp>
        <p:nvSpPr>
          <p:cNvPr id="23" name="text-1132">
            <a:extLst>
              <a:ext uri="{FF2B5EF4-FFF2-40B4-BE49-F238E27FC236}">
                <a16:creationId xmlns:a16="http://schemas.microsoft.com/office/drawing/2014/main" id="{65D9EF1E-5FB5-444F-9E46-BC34A8C504F9}"/>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133">
            <a:extLst>
              <a:ext uri="{FF2B5EF4-FFF2-40B4-BE49-F238E27FC236}">
                <a16:creationId xmlns:a16="http://schemas.microsoft.com/office/drawing/2014/main" id="{B074667B-DA8B-46B3-9D44-BEAC8DE0885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134">
            <a:extLst>
              <a:ext uri="{FF2B5EF4-FFF2-40B4-BE49-F238E27FC236}">
                <a16:creationId xmlns:a16="http://schemas.microsoft.com/office/drawing/2014/main" id="{9E28BE98-AEB8-4C1C-A22F-DB73F7BEAC87}"/>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135">
            <a:extLst>
              <a:ext uri="{FF2B5EF4-FFF2-40B4-BE49-F238E27FC236}">
                <a16:creationId xmlns:a16="http://schemas.microsoft.com/office/drawing/2014/main" id="{21DC90F7-D695-4E1A-8477-632B98627F35}"/>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136">
            <a:extLst>
              <a:ext uri="{FF2B5EF4-FFF2-40B4-BE49-F238E27FC236}">
                <a16:creationId xmlns:a16="http://schemas.microsoft.com/office/drawing/2014/main" id="{98367628-9DAB-48AF-A567-9A12D24EDC92}"/>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137">
            <a:extLst>
              <a:ext uri="{FF2B5EF4-FFF2-40B4-BE49-F238E27FC236}">
                <a16:creationId xmlns:a16="http://schemas.microsoft.com/office/drawing/2014/main" id="{F7F4CBB0-85D3-45CD-BF24-009418F3616A}"/>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138">
            <a:extLst>
              <a:ext uri="{FF2B5EF4-FFF2-40B4-BE49-F238E27FC236}">
                <a16:creationId xmlns:a16="http://schemas.microsoft.com/office/drawing/2014/main" id="{797DED44-7E89-4007-97E5-4AEA9B81444D}"/>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AMAZON CHANNEL</a:t>
            </a:r>
          </a:p>
        </p:txBody>
      </p:sp>
      <p:sp>
        <p:nvSpPr>
          <p:cNvPr id="30" name="text-1139">
            <a:extLst>
              <a:ext uri="{FF2B5EF4-FFF2-40B4-BE49-F238E27FC236}">
                <a16:creationId xmlns:a16="http://schemas.microsoft.com/office/drawing/2014/main" id="{E69B276D-8745-45F2-B548-298F045F56A0}"/>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Q39 / 49</a:t>
            </a:r>
          </a:p>
        </p:txBody>
      </p:sp>
    </p:spTree>
    <p:extLst>
      <p:ext uri="{BB962C8B-B14F-4D97-AF65-F5344CB8AC3E}">
        <p14:creationId xmlns:p14="http://schemas.microsoft.com/office/powerpoint/2010/main" val="671172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140">
            <a:extLst>
              <a:ext uri="{FF2B5EF4-FFF2-40B4-BE49-F238E27FC236}">
                <a16:creationId xmlns:a16="http://schemas.microsoft.com/office/drawing/2014/main" id="{63C97656-EADE-48CB-B65E-9FC1729C7DF6}"/>
              </a:ext>
            </a:extLst>
          </p:cNvPr>
          <p:cNvSpPr>
            <a:spLocks noGrp="1"/>
          </p:cNvSpPr>
          <p:nvPr/>
        </p:nvSpPr>
        <p:spPr>
          <a:xfrm>
            <a:off x="647700" y="438150"/>
            <a:ext cx="104775" cy="247650"/>
          </a:xfrm>
          <a:prstGeom prst="rect">
            <a:avLst/>
          </a:prstGeom>
          <a:solidFill>
            <a:srgbClr val="D1C4E9"/>
          </a:solidFill>
          <a:ln w="0">
            <a:noFill/>
            <a:prstDash val="solid"/>
          </a:ln>
        </p:spPr>
        <p:txBody>
          <a:bodyPr/>
          <a:lstStyle/>
          <a:p>
            <a:endParaRPr lang="en-US"/>
          </a:p>
        </p:txBody>
      </p:sp>
      <p:sp>
        <p:nvSpPr>
          <p:cNvPr id="3" name="text-1141">
            <a:extLst>
              <a:ext uri="{FF2B5EF4-FFF2-40B4-BE49-F238E27FC236}">
                <a16:creationId xmlns:a16="http://schemas.microsoft.com/office/drawing/2014/main" id="{BFD9DAD9-0B0B-4853-9325-D7099ADCBE67}"/>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AMAZON CHANNEL</a:t>
            </a:r>
          </a:p>
        </p:txBody>
      </p:sp>
      <p:sp>
        <p:nvSpPr>
          <p:cNvPr id="4" name="text-1142">
            <a:extLst>
              <a:ext uri="{FF2B5EF4-FFF2-40B4-BE49-F238E27FC236}">
                <a16:creationId xmlns:a16="http://schemas.microsoft.com/office/drawing/2014/main" id="{3FD4B0AF-DC0A-4376-8A7E-81C18A0252A0}"/>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Q40</a:t>
            </a:r>
          </a:p>
        </p:txBody>
      </p:sp>
      <p:sp>
        <p:nvSpPr>
          <p:cNvPr id="5" name="text-1143">
            <a:extLst>
              <a:ext uri="{FF2B5EF4-FFF2-40B4-BE49-F238E27FC236}">
                <a16:creationId xmlns:a16="http://schemas.microsoft.com/office/drawing/2014/main" id="{C0C62E3D-302F-4A5B-A329-4BB03BCDC30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should the Amazon integration manage?</a:t>
            </a:r>
          </a:p>
        </p:txBody>
      </p:sp>
      <p:sp>
        <p:nvSpPr>
          <p:cNvPr id="6" name="text-1144">
            <a:extLst>
              <a:ext uri="{FF2B5EF4-FFF2-40B4-BE49-F238E27FC236}">
                <a16:creationId xmlns:a16="http://schemas.microsoft.com/office/drawing/2014/main" id="{38F43871-2287-4D1E-A31F-6A056D71A062}"/>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D1C4E9"/>
                </a:solidFill>
                <a:latin typeface="Bahnschrift"/>
                <a:ea typeface="Bahnschrift"/>
                <a:cs typeface="Bahnschrift"/>
              </a:defRPr>
            </a:pPr>
            <a:r>
              <a:rPr sz="1050" b="1">
                <a:solidFill>
                  <a:srgbClr val="D1C4E9"/>
                </a:solidFill>
                <a:latin typeface="Bahnschrift"/>
                <a:ea typeface="Bahnschrift"/>
                <a:cs typeface="Bahnschrift"/>
              </a:rPr>
              <a:t>SYSTEM IMPACT</a:t>
            </a:r>
          </a:p>
        </p:txBody>
      </p:sp>
      <p:sp>
        <p:nvSpPr>
          <p:cNvPr id="7" name="text-1145">
            <a:extLst>
              <a:ext uri="{FF2B5EF4-FFF2-40B4-BE49-F238E27FC236}">
                <a16:creationId xmlns:a16="http://schemas.microsoft.com/office/drawing/2014/main" id="{079AB22E-9A03-4B06-B465-3BF6E646C118}"/>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the SP-API boundary and avoids duplicating Seller Central.</a:t>
            </a:r>
          </a:p>
        </p:txBody>
      </p:sp>
      <p:sp>
        <p:nvSpPr>
          <p:cNvPr id="8" name="rect-1146">
            <a:extLst>
              <a:ext uri="{FF2B5EF4-FFF2-40B4-BE49-F238E27FC236}">
                <a16:creationId xmlns:a16="http://schemas.microsoft.com/office/drawing/2014/main" id="{7A7974BC-1A80-4982-8ECF-6B51E9F37A8B}"/>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147">
            <a:extLst>
              <a:ext uri="{FF2B5EF4-FFF2-40B4-BE49-F238E27FC236}">
                <a16:creationId xmlns:a16="http://schemas.microsoft.com/office/drawing/2014/main" id="{A9864C13-8A51-4D37-9BF1-6D97BFFDA6A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148">
            <a:extLst>
              <a:ext uri="{FF2B5EF4-FFF2-40B4-BE49-F238E27FC236}">
                <a16:creationId xmlns:a16="http://schemas.microsoft.com/office/drawing/2014/main" id="{BC9017CC-973B-405F-A7F6-DA26BAE9EFE2}"/>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149">
            <a:extLst>
              <a:ext uri="{FF2B5EF4-FFF2-40B4-BE49-F238E27FC236}">
                <a16:creationId xmlns:a16="http://schemas.microsoft.com/office/drawing/2014/main" id="{9F273C64-19C8-43AE-A301-A326501A280A}"/>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Orders, fulfilment, returns, fees and inventory</a:t>
            </a:r>
          </a:p>
        </p:txBody>
      </p:sp>
      <p:sp>
        <p:nvSpPr>
          <p:cNvPr id="12" name="text-1150">
            <a:extLst>
              <a:ext uri="{FF2B5EF4-FFF2-40B4-BE49-F238E27FC236}">
                <a16:creationId xmlns:a16="http://schemas.microsoft.com/office/drawing/2014/main" id="{D54C3F83-0D9E-4754-9637-740C4B15BA6F}"/>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151">
            <a:extLst>
              <a:ext uri="{FF2B5EF4-FFF2-40B4-BE49-F238E27FC236}">
                <a16:creationId xmlns:a16="http://schemas.microsoft.com/office/drawing/2014/main" id="{E33DED3C-93AE-4C60-8B67-890DCDC2403C}"/>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152">
            <a:extLst>
              <a:ext uri="{FF2B5EF4-FFF2-40B4-BE49-F238E27FC236}">
                <a16:creationId xmlns:a16="http://schemas.microsoft.com/office/drawing/2014/main" id="{4F149337-9DA4-45CC-8BF9-F9B280A12DA9}"/>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153">
            <a:extLst>
              <a:ext uri="{FF2B5EF4-FFF2-40B4-BE49-F238E27FC236}">
                <a16:creationId xmlns:a16="http://schemas.microsoft.com/office/drawing/2014/main" id="{3B5D31AD-5B11-4109-9AC5-3FF51BECE932}"/>
              </a:ext>
            </a:extLst>
          </p:cNvPr>
          <p:cNvSpPr>
            <a:spLocks noGrp="1"/>
          </p:cNvSpPr>
          <p:nvPr/>
        </p:nvSpPr>
        <p:spPr>
          <a:xfrm>
            <a:off x="647700" y="3219450"/>
            <a:ext cx="114300" cy="800100"/>
          </a:xfrm>
          <a:prstGeom prst="rect">
            <a:avLst/>
          </a:prstGeom>
          <a:solidFill>
            <a:srgbClr val="D1C4E9"/>
          </a:solidFill>
          <a:ln w="0">
            <a:noFill/>
            <a:prstDash val="solid"/>
          </a:ln>
        </p:spPr>
        <p:txBody>
          <a:bodyPr/>
          <a:lstStyle/>
          <a:p>
            <a:endParaRPr lang="en-US"/>
          </a:p>
        </p:txBody>
      </p:sp>
      <p:sp>
        <p:nvSpPr>
          <p:cNvPr id="16" name="text-1154">
            <a:extLst>
              <a:ext uri="{FF2B5EF4-FFF2-40B4-BE49-F238E27FC236}">
                <a16:creationId xmlns:a16="http://schemas.microsoft.com/office/drawing/2014/main" id="{AAFEDFE6-EA69-40B1-879E-839E26D599BF}"/>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155">
            <a:extLst>
              <a:ext uri="{FF2B5EF4-FFF2-40B4-BE49-F238E27FC236}">
                <a16:creationId xmlns:a16="http://schemas.microsoft.com/office/drawing/2014/main" id="{05631AB8-0CDB-4803-A36E-5724B883B866}"/>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Full marketplace listing management</a:t>
            </a:r>
          </a:p>
        </p:txBody>
      </p:sp>
      <p:sp>
        <p:nvSpPr>
          <p:cNvPr id="18" name="text-1156">
            <a:extLst>
              <a:ext uri="{FF2B5EF4-FFF2-40B4-BE49-F238E27FC236}">
                <a16:creationId xmlns:a16="http://schemas.microsoft.com/office/drawing/2014/main" id="{47C8693B-C651-4A00-8F1C-4E9E7AB844E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157">
            <a:extLst>
              <a:ext uri="{FF2B5EF4-FFF2-40B4-BE49-F238E27FC236}">
                <a16:creationId xmlns:a16="http://schemas.microsoft.com/office/drawing/2014/main" id="{BD76556E-6E9B-4E9A-B419-35CCBF3449A3}"/>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158">
            <a:extLst>
              <a:ext uri="{FF2B5EF4-FFF2-40B4-BE49-F238E27FC236}">
                <a16:creationId xmlns:a16="http://schemas.microsoft.com/office/drawing/2014/main" id="{E7B87BC0-2723-40DC-87A5-B77CE22D8B4E}"/>
              </a:ext>
            </a:extLst>
          </p:cNvPr>
          <p:cNvSpPr>
            <a:spLocks noGrp="1"/>
          </p:cNvSpPr>
          <p:nvPr/>
        </p:nvSpPr>
        <p:spPr>
          <a:xfrm>
            <a:off x="647700" y="4171950"/>
            <a:ext cx="114300" cy="800100"/>
          </a:xfrm>
          <a:prstGeom prst="rect">
            <a:avLst/>
          </a:prstGeom>
          <a:solidFill>
            <a:srgbClr val="D1C4E9"/>
          </a:solidFill>
          <a:ln w="0">
            <a:noFill/>
            <a:prstDash val="solid"/>
          </a:ln>
        </p:spPr>
        <p:txBody>
          <a:bodyPr/>
          <a:lstStyle/>
          <a:p>
            <a:endParaRPr lang="en-US"/>
          </a:p>
        </p:txBody>
      </p:sp>
      <p:sp>
        <p:nvSpPr>
          <p:cNvPr id="21" name="text-1159">
            <a:extLst>
              <a:ext uri="{FF2B5EF4-FFF2-40B4-BE49-F238E27FC236}">
                <a16:creationId xmlns:a16="http://schemas.microsoft.com/office/drawing/2014/main" id="{53E71E50-B157-4DDD-872F-AF2EBEB67679}"/>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160">
            <a:extLst>
              <a:ext uri="{FF2B5EF4-FFF2-40B4-BE49-F238E27FC236}">
                <a16:creationId xmlns:a16="http://schemas.microsoft.com/office/drawing/2014/main" id="{7A3E88F9-663F-471C-99BF-F403A386F054}"/>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Orders only</a:t>
            </a:r>
          </a:p>
        </p:txBody>
      </p:sp>
      <p:sp>
        <p:nvSpPr>
          <p:cNvPr id="23" name="text-1161">
            <a:extLst>
              <a:ext uri="{FF2B5EF4-FFF2-40B4-BE49-F238E27FC236}">
                <a16:creationId xmlns:a16="http://schemas.microsoft.com/office/drawing/2014/main" id="{CC67827D-5096-42CB-9AE3-13277934B1A6}"/>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162">
            <a:extLst>
              <a:ext uri="{FF2B5EF4-FFF2-40B4-BE49-F238E27FC236}">
                <a16:creationId xmlns:a16="http://schemas.microsoft.com/office/drawing/2014/main" id="{1574B978-4568-41A3-8243-2C132DB0DF55}"/>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163">
            <a:extLst>
              <a:ext uri="{FF2B5EF4-FFF2-40B4-BE49-F238E27FC236}">
                <a16:creationId xmlns:a16="http://schemas.microsoft.com/office/drawing/2014/main" id="{243117CD-0527-4C10-871C-76C7C5F024F5}"/>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164">
            <a:extLst>
              <a:ext uri="{FF2B5EF4-FFF2-40B4-BE49-F238E27FC236}">
                <a16:creationId xmlns:a16="http://schemas.microsoft.com/office/drawing/2014/main" id="{E3507FDF-7389-4CB8-8C77-0E97683BE54B}"/>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165">
            <a:extLst>
              <a:ext uri="{FF2B5EF4-FFF2-40B4-BE49-F238E27FC236}">
                <a16:creationId xmlns:a16="http://schemas.microsoft.com/office/drawing/2014/main" id="{8CDF80D9-4827-48C1-9429-529678AA0980}"/>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166">
            <a:extLst>
              <a:ext uri="{FF2B5EF4-FFF2-40B4-BE49-F238E27FC236}">
                <a16:creationId xmlns:a16="http://schemas.microsoft.com/office/drawing/2014/main" id="{E320EE42-6B6D-460A-9E36-DE995F690087}"/>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167">
            <a:extLst>
              <a:ext uri="{FF2B5EF4-FFF2-40B4-BE49-F238E27FC236}">
                <a16:creationId xmlns:a16="http://schemas.microsoft.com/office/drawing/2014/main" id="{FE00E10F-B697-48F8-AE99-576B47520021}"/>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AMAZON CHANNEL</a:t>
            </a:r>
          </a:p>
        </p:txBody>
      </p:sp>
      <p:sp>
        <p:nvSpPr>
          <p:cNvPr id="30" name="text-1168">
            <a:extLst>
              <a:ext uri="{FF2B5EF4-FFF2-40B4-BE49-F238E27FC236}">
                <a16:creationId xmlns:a16="http://schemas.microsoft.com/office/drawing/2014/main" id="{CEF13917-8030-48EA-8D4B-FFB8A627E780}"/>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Q40 / 49</a:t>
            </a:r>
          </a:p>
        </p:txBody>
      </p:sp>
    </p:spTree>
    <p:extLst>
      <p:ext uri="{BB962C8B-B14F-4D97-AF65-F5344CB8AC3E}">
        <p14:creationId xmlns:p14="http://schemas.microsoft.com/office/powerpoint/2010/main" val="1217890425"/>
      </p:ext>
    </p:extLst>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169">
            <a:extLst>
              <a:ext uri="{FF2B5EF4-FFF2-40B4-BE49-F238E27FC236}">
                <a16:creationId xmlns:a16="http://schemas.microsoft.com/office/drawing/2014/main" id="{BFA79B36-95AE-4D6E-8120-89088AB1FBEB}"/>
              </a:ext>
            </a:extLst>
          </p:cNvPr>
          <p:cNvSpPr>
            <a:spLocks noGrp="1"/>
          </p:cNvSpPr>
          <p:nvPr/>
        </p:nvSpPr>
        <p:spPr>
          <a:xfrm>
            <a:off x="647700" y="438150"/>
            <a:ext cx="104775" cy="247650"/>
          </a:xfrm>
          <a:prstGeom prst="rect">
            <a:avLst/>
          </a:prstGeom>
          <a:solidFill>
            <a:srgbClr val="D1C4E9"/>
          </a:solidFill>
          <a:ln w="0">
            <a:noFill/>
            <a:prstDash val="solid"/>
          </a:ln>
        </p:spPr>
        <p:txBody>
          <a:bodyPr/>
          <a:lstStyle/>
          <a:p>
            <a:endParaRPr lang="en-US"/>
          </a:p>
        </p:txBody>
      </p:sp>
      <p:sp>
        <p:nvSpPr>
          <p:cNvPr id="3" name="text-1170">
            <a:extLst>
              <a:ext uri="{FF2B5EF4-FFF2-40B4-BE49-F238E27FC236}">
                <a16:creationId xmlns:a16="http://schemas.microsoft.com/office/drawing/2014/main" id="{2646EE35-B6AB-4C2E-89A1-7BFE4DA29C77}"/>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AMAZON CHANNEL</a:t>
            </a:r>
          </a:p>
        </p:txBody>
      </p:sp>
      <p:sp>
        <p:nvSpPr>
          <p:cNvPr id="4" name="text-1171">
            <a:extLst>
              <a:ext uri="{FF2B5EF4-FFF2-40B4-BE49-F238E27FC236}">
                <a16:creationId xmlns:a16="http://schemas.microsoft.com/office/drawing/2014/main" id="{62FDA0C0-EE0B-447D-A451-F69375A0AEAC}"/>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Q41</a:t>
            </a:r>
          </a:p>
        </p:txBody>
      </p:sp>
      <p:sp>
        <p:nvSpPr>
          <p:cNvPr id="5" name="text-1172">
            <a:extLst>
              <a:ext uri="{FF2B5EF4-FFF2-40B4-BE49-F238E27FC236}">
                <a16:creationId xmlns:a16="http://schemas.microsoft.com/office/drawing/2014/main" id="{A56C30A3-F834-4981-BF7E-4B608A4D5C89}"/>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Amazon fulfilment modes must be supported?</a:t>
            </a:r>
          </a:p>
        </p:txBody>
      </p:sp>
      <p:sp>
        <p:nvSpPr>
          <p:cNvPr id="6" name="text-1173">
            <a:extLst>
              <a:ext uri="{FF2B5EF4-FFF2-40B4-BE49-F238E27FC236}">
                <a16:creationId xmlns:a16="http://schemas.microsoft.com/office/drawing/2014/main" id="{A6C6B2C4-601A-4516-8A59-BE54D3E10228}"/>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D1C4E9"/>
                </a:solidFill>
                <a:latin typeface="Bahnschrift"/>
                <a:ea typeface="Bahnschrift"/>
                <a:cs typeface="Bahnschrift"/>
              </a:defRPr>
            </a:pPr>
            <a:r>
              <a:rPr sz="1050" b="1">
                <a:solidFill>
                  <a:srgbClr val="D1C4E9"/>
                </a:solidFill>
                <a:latin typeface="Bahnschrift"/>
                <a:ea typeface="Bahnschrift"/>
                <a:cs typeface="Bahnschrift"/>
              </a:rPr>
              <a:t>SYSTEM IMPACT</a:t>
            </a:r>
          </a:p>
        </p:txBody>
      </p:sp>
      <p:sp>
        <p:nvSpPr>
          <p:cNvPr id="7" name="text-1174">
            <a:extLst>
              <a:ext uri="{FF2B5EF4-FFF2-40B4-BE49-F238E27FC236}">
                <a16:creationId xmlns:a16="http://schemas.microsoft.com/office/drawing/2014/main" id="{3B952230-E5D0-4A60-B7F2-7D5EED8A3B2F}"/>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order-state, inventory-location and reconciliation models.</a:t>
            </a:r>
          </a:p>
        </p:txBody>
      </p:sp>
      <p:sp>
        <p:nvSpPr>
          <p:cNvPr id="8" name="rect-1175">
            <a:extLst>
              <a:ext uri="{FF2B5EF4-FFF2-40B4-BE49-F238E27FC236}">
                <a16:creationId xmlns:a16="http://schemas.microsoft.com/office/drawing/2014/main" id="{63262578-855C-4807-AA5A-2416384345AE}"/>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176">
            <a:extLst>
              <a:ext uri="{FF2B5EF4-FFF2-40B4-BE49-F238E27FC236}">
                <a16:creationId xmlns:a16="http://schemas.microsoft.com/office/drawing/2014/main" id="{083C04C5-E74C-42FE-8F04-E14CA10D396C}"/>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177">
            <a:extLst>
              <a:ext uri="{FF2B5EF4-FFF2-40B4-BE49-F238E27FC236}">
                <a16:creationId xmlns:a16="http://schemas.microsoft.com/office/drawing/2014/main" id="{A6A5ED1A-AE07-4557-861F-C23741DD10C3}"/>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178">
            <a:extLst>
              <a:ext uri="{FF2B5EF4-FFF2-40B4-BE49-F238E27FC236}">
                <a16:creationId xmlns:a16="http://schemas.microsoft.com/office/drawing/2014/main" id="{5D44DF1B-B42A-4AEE-8FC3-924DA55CF260}"/>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Seller-fulfilled and FBA</a:t>
            </a:r>
          </a:p>
        </p:txBody>
      </p:sp>
      <p:sp>
        <p:nvSpPr>
          <p:cNvPr id="12" name="text-1179">
            <a:extLst>
              <a:ext uri="{FF2B5EF4-FFF2-40B4-BE49-F238E27FC236}">
                <a16:creationId xmlns:a16="http://schemas.microsoft.com/office/drawing/2014/main" id="{4E8306AB-4223-481D-A577-FA907AE655E4}"/>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180">
            <a:extLst>
              <a:ext uri="{FF2B5EF4-FFF2-40B4-BE49-F238E27FC236}">
                <a16:creationId xmlns:a16="http://schemas.microsoft.com/office/drawing/2014/main" id="{FF471EFA-09D2-4070-A00A-6F773052CFE7}"/>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181">
            <a:extLst>
              <a:ext uri="{FF2B5EF4-FFF2-40B4-BE49-F238E27FC236}">
                <a16:creationId xmlns:a16="http://schemas.microsoft.com/office/drawing/2014/main" id="{951B412D-7C5C-4ADD-AE0B-AE94A3C4C48E}"/>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182">
            <a:extLst>
              <a:ext uri="{FF2B5EF4-FFF2-40B4-BE49-F238E27FC236}">
                <a16:creationId xmlns:a16="http://schemas.microsoft.com/office/drawing/2014/main" id="{84BA97E4-6F90-4463-8184-3F46AC734F66}"/>
              </a:ext>
            </a:extLst>
          </p:cNvPr>
          <p:cNvSpPr>
            <a:spLocks noGrp="1"/>
          </p:cNvSpPr>
          <p:nvPr/>
        </p:nvSpPr>
        <p:spPr>
          <a:xfrm>
            <a:off x="647700" y="3219450"/>
            <a:ext cx="114300" cy="800100"/>
          </a:xfrm>
          <a:prstGeom prst="rect">
            <a:avLst/>
          </a:prstGeom>
          <a:solidFill>
            <a:srgbClr val="D1C4E9"/>
          </a:solidFill>
          <a:ln w="0">
            <a:noFill/>
            <a:prstDash val="solid"/>
          </a:ln>
        </p:spPr>
        <p:txBody>
          <a:bodyPr/>
          <a:lstStyle/>
          <a:p>
            <a:endParaRPr lang="en-US"/>
          </a:p>
        </p:txBody>
      </p:sp>
      <p:sp>
        <p:nvSpPr>
          <p:cNvPr id="16" name="text-1183">
            <a:extLst>
              <a:ext uri="{FF2B5EF4-FFF2-40B4-BE49-F238E27FC236}">
                <a16:creationId xmlns:a16="http://schemas.microsoft.com/office/drawing/2014/main" id="{76F04E98-A6C7-4355-A617-182703BC7F57}"/>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184">
            <a:extLst>
              <a:ext uri="{FF2B5EF4-FFF2-40B4-BE49-F238E27FC236}">
                <a16:creationId xmlns:a16="http://schemas.microsoft.com/office/drawing/2014/main" id="{84A3BE6D-C30E-475F-9D2C-92958CE4DF09}"/>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Seller-fulfilled first</a:t>
            </a:r>
          </a:p>
        </p:txBody>
      </p:sp>
      <p:sp>
        <p:nvSpPr>
          <p:cNvPr id="18" name="text-1185">
            <a:extLst>
              <a:ext uri="{FF2B5EF4-FFF2-40B4-BE49-F238E27FC236}">
                <a16:creationId xmlns:a16="http://schemas.microsoft.com/office/drawing/2014/main" id="{DC9FFACF-3A10-4377-B089-DA614E768616}"/>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186">
            <a:extLst>
              <a:ext uri="{FF2B5EF4-FFF2-40B4-BE49-F238E27FC236}">
                <a16:creationId xmlns:a16="http://schemas.microsoft.com/office/drawing/2014/main" id="{8D965D59-E08E-49AB-8AF6-F52BB12303D6}"/>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187">
            <a:extLst>
              <a:ext uri="{FF2B5EF4-FFF2-40B4-BE49-F238E27FC236}">
                <a16:creationId xmlns:a16="http://schemas.microsoft.com/office/drawing/2014/main" id="{8507B5AC-4FE7-4FD2-8478-8011B899F664}"/>
              </a:ext>
            </a:extLst>
          </p:cNvPr>
          <p:cNvSpPr>
            <a:spLocks noGrp="1"/>
          </p:cNvSpPr>
          <p:nvPr/>
        </p:nvSpPr>
        <p:spPr>
          <a:xfrm>
            <a:off x="647700" y="4171950"/>
            <a:ext cx="114300" cy="800100"/>
          </a:xfrm>
          <a:prstGeom prst="rect">
            <a:avLst/>
          </a:prstGeom>
          <a:solidFill>
            <a:srgbClr val="D1C4E9"/>
          </a:solidFill>
          <a:ln w="0">
            <a:noFill/>
            <a:prstDash val="solid"/>
          </a:ln>
        </p:spPr>
        <p:txBody>
          <a:bodyPr/>
          <a:lstStyle/>
          <a:p>
            <a:endParaRPr lang="en-US"/>
          </a:p>
        </p:txBody>
      </p:sp>
      <p:sp>
        <p:nvSpPr>
          <p:cNvPr id="21" name="text-1188">
            <a:extLst>
              <a:ext uri="{FF2B5EF4-FFF2-40B4-BE49-F238E27FC236}">
                <a16:creationId xmlns:a16="http://schemas.microsoft.com/office/drawing/2014/main" id="{92EFAC81-C57D-47A0-A9C2-E54F6C53CF8A}"/>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189">
            <a:extLst>
              <a:ext uri="{FF2B5EF4-FFF2-40B4-BE49-F238E27FC236}">
                <a16:creationId xmlns:a16="http://schemas.microsoft.com/office/drawing/2014/main" id="{871B7660-201B-4149-AFE1-74825B2F8349}"/>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FBA only</a:t>
            </a:r>
          </a:p>
        </p:txBody>
      </p:sp>
      <p:sp>
        <p:nvSpPr>
          <p:cNvPr id="23" name="text-1190">
            <a:extLst>
              <a:ext uri="{FF2B5EF4-FFF2-40B4-BE49-F238E27FC236}">
                <a16:creationId xmlns:a16="http://schemas.microsoft.com/office/drawing/2014/main" id="{9BE2D231-8D11-4770-AF94-2ADAFFE7D441}"/>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191">
            <a:extLst>
              <a:ext uri="{FF2B5EF4-FFF2-40B4-BE49-F238E27FC236}">
                <a16:creationId xmlns:a16="http://schemas.microsoft.com/office/drawing/2014/main" id="{011CD13D-00AA-45D6-8425-E86CAB3D3EF2}"/>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192">
            <a:extLst>
              <a:ext uri="{FF2B5EF4-FFF2-40B4-BE49-F238E27FC236}">
                <a16:creationId xmlns:a16="http://schemas.microsoft.com/office/drawing/2014/main" id="{426EF97A-6605-4DCB-8051-82D7325671AB}"/>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193">
            <a:extLst>
              <a:ext uri="{FF2B5EF4-FFF2-40B4-BE49-F238E27FC236}">
                <a16:creationId xmlns:a16="http://schemas.microsoft.com/office/drawing/2014/main" id="{EF4A91E0-630D-43E0-9B40-37C0D5C8B5FE}"/>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194">
            <a:extLst>
              <a:ext uri="{FF2B5EF4-FFF2-40B4-BE49-F238E27FC236}">
                <a16:creationId xmlns:a16="http://schemas.microsoft.com/office/drawing/2014/main" id="{3D030FE7-BAD3-404A-805B-35E0571EB0C5}"/>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195">
            <a:extLst>
              <a:ext uri="{FF2B5EF4-FFF2-40B4-BE49-F238E27FC236}">
                <a16:creationId xmlns:a16="http://schemas.microsoft.com/office/drawing/2014/main" id="{82B9CEBF-2B67-4196-B7D1-7839B4DA8FB3}"/>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196">
            <a:extLst>
              <a:ext uri="{FF2B5EF4-FFF2-40B4-BE49-F238E27FC236}">
                <a16:creationId xmlns:a16="http://schemas.microsoft.com/office/drawing/2014/main" id="{3C6D5970-F28C-46FB-8191-4E69ECA0AB47}"/>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AMAZON CHANNEL</a:t>
            </a:r>
          </a:p>
        </p:txBody>
      </p:sp>
      <p:sp>
        <p:nvSpPr>
          <p:cNvPr id="30" name="text-1197">
            <a:extLst>
              <a:ext uri="{FF2B5EF4-FFF2-40B4-BE49-F238E27FC236}">
                <a16:creationId xmlns:a16="http://schemas.microsoft.com/office/drawing/2014/main" id="{BD31E219-1D61-404C-84B6-334107B21A4E}"/>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Q41 / 49</a:t>
            </a:r>
          </a:p>
        </p:txBody>
      </p:sp>
    </p:spTree>
    <p:extLst>
      <p:ext uri="{BB962C8B-B14F-4D97-AF65-F5344CB8AC3E}">
        <p14:creationId xmlns:p14="http://schemas.microsoft.com/office/powerpoint/2010/main" val="262453214"/>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198">
            <a:extLst>
              <a:ext uri="{FF2B5EF4-FFF2-40B4-BE49-F238E27FC236}">
                <a16:creationId xmlns:a16="http://schemas.microsoft.com/office/drawing/2014/main" id="{FAD421E4-A67A-4944-88FE-13D5ABD1CBED}"/>
              </a:ext>
            </a:extLst>
          </p:cNvPr>
          <p:cNvSpPr>
            <a:spLocks noGrp="1"/>
          </p:cNvSpPr>
          <p:nvPr/>
        </p:nvSpPr>
        <p:spPr>
          <a:xfrm>
            <a:off x="647700" y="438150"/>
            <a:ext cx="104775" cy="247650"/>
          </a:xfrm>
          <a:prstGeom prst="rect">
            <a:avLst/>
          </a:prstGeom>
          <a:solidFill>
            <a:srgbClr val="D1C4E9"/>
          </a:solidFill>
          <a:ln w="0">
            <a:noFill/>
            <a:prstDash val="solid"/>
          </a:ln>
        </p:spPr>
        <p:txBody>
          <a:bodyPr/>
          <a:lstStyle/>
          <a:p>
            <a:endParaRPr lang="en-US"/>
          </a:p>
        </p:txBody>
      </p:sp>
      <p:sp>
        <p:nvSpPr>
          <p:cNvPr id="3" name="text-1199">
            <a:extLst>
              <a:ext uri="{FF2B5EF4-FFF2-40B4-BE49-F238E27FC236}">
                <a16:creationId xmlns:a16="http://schemas.microsoft.com/office/drawing/2014/main" id="{7150C7C6-7125-40B4-8380-307D045FC20A}"/>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AMAZON CHANNEL</a:t>
            </a:r>
          </a:p>
        </p:txBody>
      </p:sp>
      <p:sp>
        <p:nvSpPr>
          <p:cNvPr id="4" name="text-1200">
            <a:extLst>
              <a:ext uri="{FF2B5EF4-FFF2-40B4-BE49-F238E27FC236}">
                <a16:creationId xmlns:a16="http://schemas.microsoft.com/office/drawing/2014/main" id="{95BE534B-2EB0-4801-B059-D67B250AFC96}"/>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Q42</a:t>
            </a:r>
          </a:p>
        </p:txBody>
      </p:sp>
      <p:sp>
        <p:nvSpPr>
          <p:cNvPr id="5" name="text-1201">
            <a:extLst>
              <a:ext uri="{FF2B5EF4-FFF2-40B4-BE49-F238E27FC236}">
                <a16:creationId xmlns:a16="http://schemas.microsoft.com/office/drawing/2014/main" id="{6A5D9C29-EC26-4E95-840A-4B29F8A73843}"/>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D2C and Amazon inventory be controlled?</a:t>
            </a:r>
          </a:p>
        </p:txBody>
      </p:sp>
      <p:sp>
        <p:nvSpPr>
          <p:cNvPr id="6" name="text-1202">
            <a:extLst>
              <a:ext uri="{FF2B5EF4-FFF2-40B4-BE49-F238E27FC236}">
                <a16:creationId xmlns:a16="http://schemas.microsoft.com/office/drawing/2014/main" id="{DCC6EBAE-6C87-4118-9395-F9F35118AEA7}"/>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D1C4E9"/>
                </a:solidFill>
                <a:latin typeface="Bahnschrift"/>
                <a:ea typeface="Bahnschrift"/>
                <a:cs typeface="Bahnschrift"/>
              </a:defRPr>
            </a:pPr>
            <a:r>
              <a:rPr sz="1050" b="1">
                <a:solidFill>
                  <a:srgbClr val="D1C4E9"/>
                </a:solidFill>
                <a:latin typeface="Bahnschrift"/>
                <a:ea typeface="Bahnschrift"/>
                <a:cs typeface="Bahnschrift"/>
              </a:rPr>
              <a:t>SYSTEM IMPACT</a:t>
            </a:r>
          </a:p>
        </p:txBody>
      </p:sp>
      <p:sp>
        <p:nvSpPr>
          <p:cNvPr id="7" name="text-1203">
            <a:extLst>
              <a:ext uri="{FF2B5EF4-FFF2-40B4-BE49-F238E27FC236}">
                <a16:creationId xmlns:a16="http://schemas.microsoft.com/office/drawing/2014/main" id="{9FB9182A-089F-43FA-AFA6-D7575C4B65DF}"/>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shared availability, channel buffers and FBA stock state.</a:t>
            </a:r>
          </a:p>
        </p:txBody>
      </p:sp>
      <p:sp>
        <p:nvSpPr>
          <p:cNvPr id="8" name="rect-1204">
            <a:extLst>
              <a:ext uri="{FF2B5EF4-FFF2-40B4-BE49-F238E27FC236}">
                <a16:creationId xmlns:a16="http://schemas.microsoft.com/office/drawing/2014/main" id="{0A8EFED3-3584-4565-B814-8D80BFD752CB}"/>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205">
            <a:extLst>
              <a:ext uri="{FF2B5EF4-FFF2-40B4-BE49-F238E27FC236}">
                <a16:creationId xmlns:a16="http://schemas.microsoft.com/office/drawing/2014/main" id="{562FA7D1-CF6C-4468-BD9F-5584BDF48538}"/>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206">
            <a:extLst>
              <a:ext uri="{FF2B5EF4-FFF2-40B4-BE49-F238E27FC236}">
                <a16:creationId xmlns:a16="http://schemas.microsoft.com/office/drawing/2014/main" id="{84A30DFB-FB88-42E8-830F-9AAF2B2D00B2}"/>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207">
            <a:extLst>
              <a:ext uri="{FF2B5EF4-FFF2-40B4-BE49-F238E27FC236}">
                <a16:creationId xmlns:a16="http://schemas.microsoft.com/office/drawing/2014/main" id="{DD3FD369-5E88-4A80-B70A-6D28C3A04885}"/>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dirty="0">
                <a:solidFill>
                  <a:srgbClr val="141414"/>
                </a:solidFill>
                <a:latin typeface="Arial"/>
                <a:ea typeface="Arial"/>
                <a:cs typeface="Arial"/>
              </a:rPr>
              <a:t>Shared internal ledger with configurable buffers</a:t>
            </a:r>
          </a:p>
        </p:txBody>
      </p:sp>
      <p:sp>
        <p:nvSpPr>
          <p:cNvPr id="12" name="text-1208">
            <a:extLst>
              <a:ext uri="{FF2B5EF4-FFF2-40B4-BE49-F238E27FC236}">
                <a16:creationId xmlns:a16="http://schemas.microsoft.com/office/drawing/2014/main" id="{3488CFC8-618D-4972-83D5-50A8FDF09855}"/>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209">
            <a:extLst>
              <a:ext uri="{FF2B5EF4-FFF2-40B4-BE49-F238E27FC236}">
                <a16:creationId xmlns:a16="http://schemas.microsoft.com/office/drawing/2014/main" id="{56BE081A-7FBC-41DE-B0EC-87AC2A653D2B}"/>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dirty="0">
                <a:solidFill>
                  <a:srgbClr val="1D6B45"/>
                </a:solidFill>
                <a:latin typeface="Arial"/>
                <a:ea typeface="Arial"/>
                <a:cs typeface="Arial"/>
              </a:rPr>
              <a:t>✓</a:t>
            </a:r>
          </a:p>
        </p:txBody>
      </p:sp>
      <p:sp>
        <p:nvSpPr>
          <p:cNvPr id="14" name="rect-1210">
            <a:extLst>
              <a:ext uri="{FF2B5EF4-FFF2-40B4-BE49-F238E27FC236}">
                <a16:creationId xmlns:a16="http://schemas.microsoft.com/office/drawing/2014/main" id="{EF5287B6-FD32-41FA-A9F5-625043C535B3}"/>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211">
            <a:extLst>
              <a:ext uri="{FF2B5EF4-FFF2-40B4-BE49-F238E27FC236}">
                <a16:creationId xmlns:a16="http://schemas.microsoft.com/office/drawing/2014/main" id="{A142746D-F5CC-45A7-8E3B-F9B7B7AA826B}"/>
              </a:ext>
            </a:extLst>
          </p:cNvPr>
          <p:cNvSpPr>
            <a:spLocks noGrp="1"/>
          </p:cNvSpPr>
          <p:nvPr/>
        </p:nvSpPr>
        <p:spPr>
          <a:xfrm>
            <a:off x="647700" y="3219450"/>
            <a:ext cx="114300" cy="800100"/>
          </a:xfrm>
          <a:prstGeom prst="rect">
            <a:avLst/>
          </a:prstGeom>
          <a:solidFill>
            <a:srgbClr val="D1C4E9"/>
          </a:solidFill>
          <a:ln w="0">
            <a:noFill/>
            <a:prstDash val="solid"/>
          </a:ln>
        </p:spPr>
        <p:txBody>
          <a:bodyPr/>
          <a:lstStyle/>
          <a:p>
            <a:endParaRPr lang="en-US"/>
          </a:p>
        </p:txBody>
      </p:sp>
      <p:sp>
        <p:nvSpPr>
          <p:cNvPr id="16" name="text-1212">
            <a:extLst>
              <a:ext uri="{FF2B5EF4-FFF2-40B4-BE49-F238E27FC236}">
                <a16:creationId xmlns:a16="http://schemas.microsoft.com/office/drawing/2014/main" id="{9CBAD0DC-458F-4C92-8805-5709D7A8067E}"/>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213">
            <a:extLst>
              <a:ext uri="{FF2B5EF4-FFF2-40B4-BE49-F238E27FC236}">
                <a16:creationId xmlns:a16="http://schemas.microsoft.com/office/drawing/2014/main" id="{0BBA1F07-64E9-4DDC-88FE-58926D9D4227}"/>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Fixed inventory allocation per channel</a:t>
            </a:r>
          </a:p>
        </p:txBody>
      </p:sp>
      <p:sp>
        <p:nvSpPr>
          <p:cNvPr id="18" name="text-1214">
            <a:extLst>
              <a:ext uri="{FF2B5EF4-FFF2-40B4-BE49-F238E27FC236}">
                <a16:creationId xmlns:a16="http://schemas.microsoft.com/office/drawing/2014/main" id="{A4B3D695-F9F3-4BD2-94DB-6309BF10840E}"/>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215">
            <a:extLst>
              <a:ext uri="{FF2B5EF4-FFF2-40B4-BE49-F238E27FC236}">
                <a16:creationId xmlns:a16="http://schemas.microsoft.com/office/drawing/2014/main" id="{03CCCB68-BF82-4D91-8DCC-F9AB7839635F}"/>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216">
            <a:extLst>
              <a:ext uri="{FF2B5EF4-FFF2-40B4-BE49-F238E27FC236}">
                <a16:creationId xmlns:a16="http://schemas.microsoft.com/office/drawing/2014/main" id="{1BE7FBAB-71F1-40BA-A407-82308065A981}"/>
              </a:ext>
            </a:extLst>
          </p:cNvPr>
          <p:cNvSpPr>
            <a:spLocks noGrp="1"/>
          </p:cNvSpPr>
          <p:nvPr/>
        </p:nvSpPr>
        <p:spPr>
          <a:xfrm>
            <a:off x="647700" y="4171950"/>
            <a:ext cx="114300" cy="800100"/>
          </a:xfrm>
          <a:prstGeom prst="rect">
            <a:avLst/>
          </a:prstGeom>
          <a:solidFill>
            <a:srgbClr val="D1C4E9"/>
          </a:solidFill>
          <a:ln w="0">
            <a:noFill/>
            <a:prstDash val="solid"/>
          </a:ln>
        </p:spPr>
        <p:txBody>
          <a:bodyPr/>
          <a:lstStyle/>
          <a:p>
            <a:endParaRPr lang="en-US"/>
          </a:p>
        </p:txBody>
      </p:sp>
      <p:sp>
        <p:nvSpPr>
          <p:cNvPr id="21" name="text-1217">
            <a:extLst>
              <a:ext uri="{FF2B5EF4-FFF2-40B4-BE49-F238E27FC236}">
                <a16:creationId xmlns:a16="http://schemas.microsoft.com/office/drawing/2014/main" id="{8F15CDAD-FA32-436F-8F95-D3F7425A9DCA}"/>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218">
            <a:extLst>
              <a:ext uri="{FF2B5EF4-FFF2-40B4-BE49-F238E27FC236}">
                <a16:creationId xmlns:a16="http://schemas.microsoft.com/office/drawing/2014/main" id="{ECAF5A5D-1BC2-4635-A628-7AE848F6BF4E}"/>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Treat Amazon as inventory authority</a:t>
            </a:r>
          </a:p>
        </p:txBody>
      </p:sp>
      <p:sp>
        <p:nvSpPr>
          <p:cNvPr id="23" name="text-1219">
            <a:extLst>
              <a:ext uri="{FF2B5EF4-FFF2-40B4-BE49-F238E27FC236}">
                <a16:creationId xmlns:a16="http://schemas.microsoft.com/office/drawing/2014/main" id="{F01197DB-8D54-4CBC-9BC3-18B60AA2B87B}"/>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220">
            <a:extLst>
              <a:ext uri="{FF2B5EF4-FFF2-40B4-BE49-F238E27FC236}">
                <a16:creationId xmlns:a16="http://schemas.microsoft.com/office/drawing/2014/main" id="{7D9E8730-D885-4BB2-8B11-EAA07FADA3D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221">
            <a:extLst>
              <a:ext uri="{FF2B5EF4-FFF2-40B4-BE49-F238E27FC236}">
                <a16:creationId xmlns:a16="http://schemas.microsoft.com/office/drawing/2014/main" id="{449BDDF4-71CC-4664-AC02-523FB90DD1F9}"/>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222">
            <a:extLst>
              <a:ext uri="{FF2B5EF4-FFF2-40B4-BE49-F238E27FC236}">
                <a16:creationId xmlns:a16="http://schemas.microsoft.com/office/drawing/2014/main" id="{1597F028-D4E0-40AC-999C-DC0FA8874B54}"/>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223">
            <a:extLst>
              <a:ext uri="{FF2B5EF4-FFF2-40B4-BE49-F238E27FC236}">
                <a16:creationId xmlns:a16="http://schemas.microsoft.com/office/drawing/2014/main" id="{C57B4B35-16E3-43A6-B8D4-100A468D7E16}"/>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224">
            <a:extLst>
              <a:ext uri="{FF2B5EF4-FFF2-40B4-BE49-F238E27FC236}">
                <a16:creationId xmlns:a16="http://schemas.microsoft.com/office/drawing/2014/main" id="{DF273FBA-137C-4520-970B-2DBC6424F136}"/>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225">
            <a:extLst>
              <a:ext uri="{FF2B5EF4-FFF2-40B4-BE49-F238E27FC236}">
                <a16:creationId xmlns:a16="http://schemas.microsoft.com/office/drawing/2014/main" id="{DD2C1B5A-2D9B-40F7-A4DC-CEDA0EE987AB}"/>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AMAZON CHANNEL</a:t>
            </a:r>
          </a:p>
        </p:txBody>
      </p:sp>
      <p:sp>
        <p:nvSpPr>
          <p:cNvPr id="30" name="text-1226">
            <a:extLst>
              <a:ext uri="{FF2B5EF4-FFF2-40B4-BE49-F238E27FC236}">
                <a16:creationId xmlns:a16="http://schemas.microsoft.com/office/drawing/2014/main" id="{E9C41B97-8EA3-46A9-9DB6-2426B3A81761}"/>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Q42 / 49</a:t>
            </a:r>
          </a:p>
        </p:txBody>
      </p:sp>
    </p:spTree>
    <p:extLst>
      <p:ext uri="{BB962C8B-B14F-4D97-AF65-F5344CB8AC3E}">
        <p14:creationId xmlns:p14="http://schemas.microsoft.com/office/powerpoint/2010/main" val="1217377822"/>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227">
            <a:extLst>
              <a:ext uri="{FF2B5EF4-FFF2-40B4-BE49-F238E27FC236}">
                <a16:creationId xmlns:a16="http://schemas.microsoft.com/office/drawing/2014/main" id="{2265BDB9-4492-4370-9E16-00F80B17D078}"/>
              </a:ext>
            </a:extLst>
          </p:cNvPr>
          <p:cNvSpPr>
            <a:spLocks noGrp="1"/>
          </p:cNvSpPr>
          <p:nvPr/>
        </p:nvSpPr>
        <p:spPr>
          <a:xfrm>
            <a:off x="647700" y="438150"/>
            <a:ext cx="104775" cy="247650"/>
          </a:xfrm>
          <a:prstGeom prst="rect">
            <a:avLst/>
          </a:prstGeom>
          <a:solidFill>
            <a:srgbClr val="D1C4E9"/>
          </a:solidFill>
          <a:ln w="0">
            <a:noFill/>
            <a:prstDash val="solid"/>
          </a:ln>
        </p:spPr>
        <p:txBody>
          <a:bodyPr/>
          <a:lstStyle/>
          <a:p>
            <a:endParaRPr lang="en-US"/>
          </a:p>
        </p:txBody>
      </p:sp>
      <p:sp>
        <p:nvSpPr>
          <p:cNvPr id="3" name="text-1228">
            <a:extLst>
              <a:ext uri="{FF2B5EF4-FFF2-40B4-BE49-F238E27FC236}">
                <a16:creationId xmlns:a16="http://schemas.microsoft.com/office/drawing/2014/main" id="{170CDA30-7EE1-4375-A4E7-66F613C88D09}"/>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AMAZON CHANNEL</a:t>
            </a:r>
          </a:p>
        </p:txBody>
      </p:sp>
      <p:sp>
        <p:nvSpPr>
          <p:cNvPr id="4" name="text-1229">
            <a:extLst>
              <a:ext uri="{FF2B5EF4-FFF2-40B4-BE49-F238E27FC236}">
                <a16:creationId xmlns:a16="http://schemas.microsoft.com/office/drawing/2014/main" id="{BBF527B0-02E2-40BF-9507-70209F0F168F}"/>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Q43</a:t>
            </a:r>
          </a:p>
        </p:txBody>
      </p:sp>
      <p:sp>
        <p:nvSpPr>
          <p:cNvPr id="5" name="text-1230">
            <a:extLst>
              <a:ext uri="{FF2B5EF4-FFF2-40B4-BE49-F238E27FC236}">
                <a16:creationId xmlns:a16="http://schemas.microsoft.com/office/drawing/2014/main" id="{60DBF967-4C9C-4978-B387-C7B518A294DE}"/>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Should Amazon readiness block the D2C launch?</a:t>
            </a:r>
          </a:p>
        </p:txBody>
      </p:sp>
      <p:sp>
        <p:nvSpPr>
          <p:cNvPr id="6" name="text-1231">
            <a:extLst>
              <a:ext uri="{FF2B5EF4-FFF2-40B4-BE49-F238E27FC236}">
                <a16:creationId xmlns:a16="http://schemas.microsoft.com/office/drawing/2014/main" id="{3333421D-2344-4ABE-BB72-A87C2A50A2BD}"/>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D1C4E9"/>
                </a:solidFill>
                <a:latin typeface="Bahnschrift"/>
                <a:ea typeface="Bahnschrift"/>
                <a:cs typeface="Bahnschrift"/>
              </a:defRPr>
            </a:pPr>
            <a:r>
              <a:rPr sz="1050" b="1">
                <a:solidFill>
                  <a:srgbClr val="D1C4E9"/>
                </a:solidFill>
                <a:latin typeface="Bahnschrift"/>
                <a:ea typeface="Bahnschrift"/>
                <a:cs typeface="Bahnschrift"/>
              </a:rPr>
              <a:t>SYSTEM IMPACT</a:t>
            </a:r>
          </a:p>
        </p:txBody>
      </p:sp>
      <p:sp>
        <p:nvSpPr>
          <p:cNvPr id="7" name="text-1232">
            <a:extLst>
              <a:ext uri="{FF2B5EF4-FFF2-40B4-BE49-F238E27FC236}">
                <a16:creationId xmlns:a16="http://schemas.microsoft.com/office/drawing/2014/main" id="{572E2544-2798-4FDF-A634-3450DAA79CB5}"/>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Determines activation sequencing for the complete v1 programme.</a:t>
            </a:r>
          </a:p>
        </p:txBody>
      </p:sp>
      <p:sp>
        <p:nvSpPr>
          <p:cNvPr id="8" name="rect-1233">
            <a:extLst>
              <a:ext uri="{FF2B5EF4-FFF2-40B4-BE49-F238E27FC236}">
                <a16:creationId xmlns:a16="http://schemas.microsoft.com/office/drawing/2014/main" id="{85F9D089-71D7-4E54-9F99-46B62B7F50B9}"/>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234">
            <a:extLst>
              <a:ext uri="{FF2B5EF4-FFF2-40B4-BE49-F238E27FC236}">
                <a16:creationId xmlns:a16="http://schemas.microsoft.com/office/drawing/2014/main" id="{16F18D34-298F-468A-8148-F0643A71F436}"/>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235">
            <a:extLst>
              <a:ext uri="{FF2B5EF4-FFF2-40B4-BE49-F238E27FC236}">
                <a16:creationId xmlns:a16="http://schemas.microsoft.com/office/drawing/2014/main" id="{5DC9EA47-A8F4-4ECB-A10B-C60D1DB4EB7E}"/>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236">
            <a:extLst>
              <a:ext uri="{FF2B5EF4-FFF2-40B4-BE49-F238E27FC236}">
                <a16:creationId xmlns:a16="http://schemas.microsoft.com/office/drawing/2014/main" id="{E75323C5-C14B-43B7-A1C8-0C5609CE85E4}"/>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No; D2C launches after its independent gate</a:t>
            </a:r>
          </a:p>
        </p:txBody>
      </p:sp>
      <p:sp>
        <p:nvSpPr>
          <p:cNvPr id="12" name="text-1237">
            <a:extLst>
              <a:ext uri="{FF2B5EF4-FFF2-40B4-BE49-F238E27FC236}">
                <a16:creationId xmlns:a16="http://schemas.microsoft.com/office/drawing/2014/main" id="{C64E66B0-3711-4E04-A1E8-847559C37640}"/>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238">
            <a:extLst>
              <a:ext uri="{FF2B5EF4-FFF2-40B4-BE49-F238E27FC236}">
                <a16:creationId xmlns:a16="http://schemas.microsoft.com/office/drawing/2014/main" id="{6A4DECD7-4E7E-4ED4-8BF2-FB15704E85F1}"/>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239">
            <a:extLst>
              <a:ext uri="{FF2B5EF4-FFF2-40B4-BE49-F238E27FC236}">
                <a16:creationId xmlns:a16="http://schemas.microsoft.com/office/drawing/2014/main" id="{AAEBAB58-8458-47E7-937F-E810C6223662}"/>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240">
            <a:extLst>
              <a:ext uri="{FF2B5EF4-FFF2-40B4-BE49-F238E27FC236}">
                <a16:creationId xmlns:a16="http://schemas.microsoft.com/office/drawing/2014/main" id="{82832EF7-7247-4EB6-96D0-7F6DE5A9DEE8}"/>
              </a:ext>
            </a:extLst>
          </p:cNvPr>
          <p:cNvSpPr>
            <a:spLocks noGrp="1"/>
          </p:cNvSpPr>
          <p:nvPr/>
        </p:nvSpPr>
        <p:spPr>
          <a:xfrm>
            <a:off x="647700" y="3219450"/>
            <a:ext cx="114300" cy="800100"/>
          </a:xfrm>
          <a:prstGeom prst="rect">
            <a:avLst/>
          </a:prstGeom>
          <a:solidFill>
            <a:srgbClr val="D1C4E9"/>
          </a:solidFill>
          <a:ln w="0">
            <a:noFill/>
            <a:prstDash val="solid"/>
          </a:ln>
        </p:spPr>
        <p:txBody>
          <a:bodyPr/>
          <a:lstStyle/>
          <a:p>
            <a:endParaRPr lang="en-US"/>
          </a:p>
        </p:txBody>
      </p:sp>
      <p:sp>
        <p:nvSpPr>
          <p:cNvPr id="16" name="text-1241">
            <a:extLst>
              <a:ext uri="{FF2B5EF4-FFF2-40B4-BE49-F238E27FC236}">
                <a16:creationId xmlns:a16="http://schemas.microsoft.com/office/drawing/2014/main" id="{39E8BEFB-0607-4CF0-9A17-A18ACE6F4561}"/>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242">
            <a:extLst>
              <a:ext uri="{FF2B5EF4-FFF2-40B4-BE49-F238E27FC236}">
                <a16:creationId xmlns:a16="http://schemas.microsoft.com/office/drawing/2014/main" id="{D2F31C17-95AE-410B-8A89-9C2A7B43EA15}"/>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Yes; launch both channels together</a:t>
            </a:r>
          </a:p>
        </p:txBody>
      </p:sp>
      <p:sp>
        <p:nvSpPr>
          <p:cNvPr id="18" name="text-1243">
            <a:extLst>
              <a:ext uri="{FF2B5EF4-FFF2-40B4-BE49-F238E27FC236}">
                <a16:creationId xmlns:a16="http://schemas.microsoft.com/office/drawing/2014/main" id="{03D063BB-29FC-427B-849B-E79BA0047B7A}"/>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244">
            <a:extLst>
              <a:ext uri="{FF2B5EF4-FFF2-40B4-BE49-F238E27FC236}">
                <a16:creationId xmlns:a16="http://schemas.microsoft.com/office/drawing/2014/main" id="{3ED761D1-103F-4785-81BD-16D14025CDD7}"/>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245">
            <a:extLst>
              <a:ext uri="{FF2B5EF4-FFF2-40B4-BE49-F238E27FC236}">
                <a16:creationId xmlns:a16="http://schemas.microsoft.com/office/drawing/2014/main" id="{186ABBE7-54E4-4B8E-BD1C-F8F8D473C4F9}"/>
              </a:ext>
            </a:extLst>
          </p:cNvPr>
          <p:cNvSpPr>
            <a:spLocks noGrp="1"/>
          </p:cNvSpPr>
          <p:nvPr/>
        </p:nvSpPr>
        <p:spPr>
          <a:xfrm>
            <a:off x="647700" y="4171950"/>
            <a:ext cx="114300" cy="800100"/>
          </a:xfrm>
          <a:prstGeom prst="rect">
            <a:avLst/>
          </a:prstGeom>
          <a:solidFill>
            <a:srgbClr val="D1C4E9"/>
          </a:solidFill>
          <a:ln w="0">
            <a:noFill/>
            <a:prstDash val="solid"/>
          </a:ln>
        </p:spPr>
        <p:txBody>
          <a:bodyPr/>
          <a:lstStyle/>
          <a:p>
            <a:endParaRPr lang="en-US"/>
          </a:p>
        </p:txBody>
      </p:sp>
      <p:sp>
        <p:nvSpPr>
          <p:cNvPr id="21" name="text-1246">
            <a:extLst>
              <a:ext uri="{FF2B5EF4-FFF2-40B4-BE49-F238E27FC236}">
                <a16:creationId xmlns:a16="http://schemas.microsoft.com/office/drawing/2014/main" id="{474C2A25-30FF-45BE-98AC-663E6708104C}"/>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247">
            <a:extLst>
              <a:ext uri="{FF2B5EF4-FFF2-40B4-BE49-F238E27FC236}">
                <a16:creationId xmlns:a16="http://schemas.microsoft.com/office/drawing/2014/main" id="{2A812826-0C74-4D86-87DE-8C3163DACF62}"/>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Launch Amazon before D2C</a:t>
            </a:r>
          </a:p>
        </p:txBody>
      </p:sp>
      <p:sp>
        <p:nvSpPr>
          <p:cNvPr id="23" name="text-1248">
            <a:extLst>
              <a:ext uri="{FF2B5EF4-FFF2-40B4-BE49-F238E27FC236}">
                <a16:creationId xmlns:a16="http://schemas.microsoft.com/office/drawing/2014/main" id="{3A6AC92B-3552-49C4-A8A2-21A379DA2BF1}"/>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249">
            <a:extLst>
              <a:ext uri="{FF2B5EF4-FFF2-40B4-BE49-F238E27FC236}">
                <a16:creationId xmlns:a16="http://schemas.microsoft.com/office/drawing/2014/main" id="{1EA71F36-84DD-4BA3-97FA-70132E2CCB1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250">
            <a:extLst>
              <a:ext uri="{FF2B5EF4-FFF2-40B4-BE49-F238E27FC236}">
                <a16:creationId xmlns:a16="http://schemas.microsoft.com/office/drawing/2014/main" id="{505D8777-23D6-44D2-B8F5-EEA3E9422DB4}"/>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251">
            <a:extLst>
              <a:ext uri="{FF2B5EF4-FFF2-40B4-BE49-F238E27FC236}">
                <a16:creationId xmlns:a16="http://schemas.microsoft.com/office/drawing/2014/main" id="{2E186441-667D-4CED-9394-D80A13CC86EF}"/>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252">
            <a:extLst>
              <a:ext uri="{FF2B5EF4-FFF2-40B4-BE49-F238E27FC236}">
                <a16:creationId xmlns:a16="http://schemas.microsoft.com/office/drawing/2014/main" id="{6718B454-A6F5-4750-B74E-18588F5A4D15}"/>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253">
            <a:extLst>
              <a:ext uri="{FF2B5EF4-FFF2-40B4-BE49-F238E27FC236}">
                <a16:creationId xmlns:a16="http://schemas.microsoft.com/office/drawing/2014/main" id="{878D172A-CE9E-4C4F-91A5-ED6EAA18B8EA}"/>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254">
            <a:extLst>
              <a:ext uri="{FF2B5EF4-FFF2-40B4-BE49-F238E27FC236}">
                <a16:creationId xmlns:a16="http://schemas.microsoft.com/office/drawing/2014/main" id="{40777052-F1CE-4601-BC23-13CC57CE6736}"/>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AMAZON CHANNEL</a:t>
            </a:r>
          </a:p>
        </p:txBody>
      </p:sp>
      <p:sp>
        <p:nvSpPr>
          <p:cNvPr id="30" name="text-1255">
            <a:extLst>
              <a:ext uri="{FF2B5EF4-FFF2-40B4-BE49-F238E27FC236}">
                <a16:creationId xmlns:a16="http://schemas.microsoft.com/office/drawing/2014/main" id="{DB5528D5-FCB0-4A6E-B612-DEE32713601B}"/>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Q43 / 49</a:t>
            </a:r>
          </a:p>
        </p:txBody>
      </p:sp>
    </p:spTree>
    <p:extLst>
      <p:ext uri="{BB962C8B-B14F-4D97-AF65-F5344CB8AC3E}">
        <p14:creationId xmlns:p14="http://schemas.microsoft.com/office/powerpoint/2010/main" val="251963280"/>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256">
            <a:extLst>
              <a:ext uri="{FF2B5EF4-FFF2-40B4-BE49-F238E27FC236}">
                <a16:creationId xmlns:a16="http://schemas.microsoft.com/office/drawing/2014/main" id="{25040650-EB92-4D3D-8040-5D9A6E1EC9EB}"/>
              </a:ext>
            </a:extLst>
          </p:cNvPr>
          <p:cNvSpPr>
            <a:spLocks noGrp="1"/>
          </p:cNvSpPr>
          <p:nvPr/>
        </p:nvSpPr>
        <p:spPr>
          <a:xfrm>
            <a:off x="647700" y="438150"/>
            <a:ext cx="104775" cy="247650"/>
          </a:xfrm>
          <a:prstGeom prst="rect">
            <a:avLst/>
          </a:prstGeom>
          <a:solidFill>
            <a:srgbClr val="A0522D"/>
          </a:solidFill>
          <a:ln w="0">
            <a:noFill/>
            <a:prstDash val="solid"/>
          </a:ln>
        </p:spPr>
        <p:txBody>
          <a:bodyPr/>
          <a:lstStyle/>
          <a:p>
            <a:endParaRPr lang="en-US"/>
          </a:p>
        </p:txBody>
      </p:sp>
      <p:sp>
        <p:nvSpPr>
          <p:cNvPr id="3" name="text-1257">
            <a:extLst>
              <a:ext uri="{FF2B5EF4-FFF2-40B4-BE49-F238E27FC236}">
                <a16:creationId xmlns:a16="http://schemas.microsoft.com/office/drawing/2014/main" id="{E0D083F4-8611-48A6-935B-32EF7AFB1E9D}"/>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DATA, RELEASE &amp; SCOPE</a:t>
            </a:r>
          </a:p>
        </p:txBody>
      </p:sp>
      <p:sp>
        <p:nvSpPr>
          <p:cNvPr id="4" name="text-1258">
            <a:extLst>
              <a:ext uri="{FF2B5EF4-FFF2-40B4-BE49-F238E27FC236}">
                <a16:creationId xmlns:a16="http://schemas.microsoft.com/office/drawing/2014/main" id="{83B670BA-8D7F-4A56-A2AE-B3DCEE5F3E6B}"/>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Q44</a:t>
            </a:r>
          </a:p>
        </p:txBody>
      </p:sp>
      <p:sp>
        <p:nvSpPr>
          <p:cNvPr id="5" name="text-1259">
            <a:extLst>
              <a:ext uri="{FF2B5EF4-FFF2-40B4-BE49-F238E27FC236}">
                <a16:creationId xmlns:a16="http://schemas.microsoft.com/office/drawing/2014/main" id="{677A8B36-C5B9-4938-B41F-DE0F65EC0776}"/>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What should be the analytics foundation?</a:t>
            </a:r>
          </a:p>
        </p:txBody>
      </p:sp>
      <p:sp>
        <p:nvSpPr>
          <p:cNvPr id="6" name="text-1260">
            <a:extLst>
              <a:ext uri="{FF2B5EF4-FFF2-40B4-BE49-F238E27FC236}">
                <a16:creationId xmlns:a16="http://schemas.microsoft.com/office/drawing/2014/main" id="{D5F07EE0-6BD6-455E-9FCD-60F42D808431}"/>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A0522D"/>
                </a:solidFill>
                <a:latin typeface="Bahnschrift"/>
                <a:ea typeface="Bahnschrift"/>
                <a:cs typeface="Bahnschrift"/>
              </a:defRPr>
            </a:pPr>
            <a:r>
              <a:rPr sz="1050" b="1">
                <a:solidFill>
                  <a:srgbClr val="A0522D"/>
                </a:solidFill>
                <a:latin typeface="Bahnschrift"/>
                <a:ea typeface="Bahnschrift"/>
                <a:cs typeface="Bahnschrift"/>
              </a:rPr>
              <a:t>SYSTEM IMPACT</a:t>
            </a:r>
          </a:p>
        </p:txBody>
      </p:sp>
      <p:sp>
        <p:nvSpPr>
          <p:cNvPr id="7" name="text-1261">
            <a:extLst>
              <a:ext uri="{FF2B5EF4-FFF2-40B4-BE49-F238E27FC236}">
                <a16:creationId xmlns:a16="http://schemas.microsoft.com/office/drawing/2014/main" id="{F2AB7085-5014-43E4-917D-FA2C0D66E11C}"/>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event ownership, consent propagation and reproducible reporting.</a:t>
            </a:r>
          </a:p>
        </p:txBody>
      </p:sp>
      <p:sp>
        <p:nvSpPr>
          <p:cNvPr id="8" name="rect-1262">
            <a:extLst>
              <a:ext uri="{FF2B5EF4-FFF2-40B4-BE49-F238E27FC236}">
                <a16:creationId xmlns:a16="http://schemas.microsoft.com/office/drawing/2014/main" id="{4D355B24-715F-46C4-B517-739DB2785A9B}"/>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263">
            <a:extLst>
              <a:ext uri="{FF2B5EF4-FFF2-40B4-BE49-F238E27FC236}">
                <a16:creationId xmlns:a16="http://schemas.microsoft.com/office/drawing/2014/main" id="{EA7FA987-FC1B-4608-9179-8E4E0016595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264">
            <a:extLst>
              <a:ext uri="{FF2B5EF4-FFF2-40B4-BE49-F238E27FC236}">
                <a16:creationId xmlns:a16="http://schemas.microsoft.com/office/drawing/2014/main" id="{E7DB2DEC-083A-43EA-96B1-A376EC2A8E89}"/>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265">
            <a:extLst>
              <a:ext uri="{FF2B5EF4-FFF2-40B4-BE49-F238E27FC236}">
                <a16:creationId xmlns:a16="http://schemas.microsoft.com/office/drawing/2014/main" id="{5DB2F80B-AB09-42D4-811C-D7E05F983960}"/>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A first-party event spine</a:t>
            </a:r>
          </a:p>
        </p:txBody>
      </p:sp>
      <p:sp>
        <p:nvSpPr>
          <p:cNvPr id="12" name="text-1266">
            <a:extLst>
              <a:ext uri="{FF2B5EF4-FFF2-40B4-BE49-F238E27FC236}">
                <a16:creationId xmlns:a16="http://schemas.microsoft.com/office/drawing/2014/main" id="{0DC85614-E45E-41FD-B365-A9B9481F900F}"/>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267">
            <a:extLst>
              <a:ext uri="{FF2B5EF4-FFF2-40B4-BE49-F238E27FC236}">
                <a16:creationId xmlns:a16="http://schemas.microsoft.com/office/drawing/2014/main" id="{52339A46-A15C-4D5B-B950-F42B811ED168}"/>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268">
            <a:extLst>
              <a:ext uri="{FF2B5EF4-FFF2-40B4-BE49-F238E27FC236}">
                <a16:creationId xmlns:a16="http://schemas.microsoft.com/office/drawing/2014/main" id="{E63127D7-8B66-463C-919B-982A08760917}"/>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269">
            <a:extLst>
              <a:ext uri="{FF2B5EF4-FFF2-40B4-BE49-F238E27FC236}">
                <a16:creationId xmlns:a16="http://schemas.microsoft.com/office/drawing/2014/main" id="{2C749EB7-00AF-4D56-A6E3-C9EC6F0FFA01}"/>
              </a:ext>
            </a:extLst>
          </p:cNvPr>
          <p:cNvSpPr>
            <a:spLocks noGrp="1"/>
          </p:cNvSpPr>
          <p:nvPr/>
        </p:nvSpPr>
        <p:spPr>
          <a:xfrm>
            <a:off x="647700" y="3219450"/>
            <a:ext cx="114300" cy="800100"/>
          </a:xfrm>
          <a:prstGeom prst="rect">
            <a:avLst/>
          </a:prstGeom>
          <a:solidFill>
            <a:srgbClr val="A0522D"/>
          </a:solidFill>
          <a:ln w="0">
            <a:noFill/>
            <a:prstDash val="solid"/>
          </a:ln>
        </p:spPr>
        <p:txBody>
          <a:bodyPr/>
          <a:lstStyle/>
          <a:p>
            <a:endParaRPr lang="en-US"/>
          </a:p>
        </p:txBody>
      </p:sp>
      <p:sp>
        <p:nvSpPr>
          <p:cNvPr id="16" name="text-1270">
            <a:extLst>
              <a:ext uri="{FF2B5EF4-FFF2-40B4-BE49-F238E27FC236}">
                <a16:creationId xmlns:a16="http://schemas.microsoft.com/office/drawing/2014/main" id="{41373666-79DC-434F-91D1-546A854E0B4E}"/>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271">
            <a:extLst>
              <a:ext uri="{FF2B5EF4-FFF2-40B4-BE49-F238E27FC236}">
                <a16:creationId xmlns:a16="http://schemas.microsoft.com/office/drawing/2014/main" id="{09551DFE-3DEF-4681-8CC8-95F2ECB22E33}"/>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External analytics tools only</a:t>
            </a:r>
          </a:p>
        </p:txBody>
      </p:sp>
      <p:sp>
        <p:nvSpPr>
          <p:cNvPr id="18" name="text-1272">
            <a:extLst>
              <a:ext uri="{FF2B5EF4-FFF2-40B4-BE49-F238E27FC236}">
                <a16:creationId xmlns:a16="http://schemas.microsoft.com/office/drawing/2014/main" id="{AF3CA301-E88C-4CC2-8839-74DB5F65F9B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273">
            <a:extLst>
              <a:ext uri="{FF2B5EF4-FFF2-40B4-BE49-F238E27FC236}">
                <a16:creationId xmlns:a16="http://schemas.microsoft.com/office/drawing/2014/main" id="{2FE46D02-5B9E-4D63-B812-574CE3E0E2E4}"/>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274">
            <a:extLst>
              <a:ext uri="{FF2B5EF4-FFF2-40B4-BE49-F238E27FC236}">
                <a16:creationId xmlns:a16="http://schemas.microsoft.com/office/drawing/2014/main" id="{1693B2A0-2B41-4116-9997-A2AF1196A11A}"/>
              </a:ext>
            </a:extLst>
          </p:cNvPr>
          <p:cNvSpPr>
            <a:spLocks noGrp="1"/>
          </p:cNvSpPr>
          <p:nvPr/>
        </p:nvSpPr>
        <p:spPr>
          <a:xfrm>
            <a:off x="647700" y="4171950"/>
            <a:ext cx="114300" cy="800100"/>
          </a:xfrm>
          <a:prstGeom prst="rect">
            <a:avLst/>
          </a:prstGeom>
          <a:solidFill>
            <a:srgbClr val="A0522D"/>
          </a:solidFill>
          <a:ln w="0">
            <a:noFill/>
            <a:prstDash val="solid"/>
          </a:ln>
        </p:spPr>
        <p:txBody>
          <a:bodyPr/>
          <a:lstStyle/>
          <a:p>
            <a:endParaRPr lang="en-US"/>
          </a:p>
        </p:txBody>
      </p:sp>
      <p:sp>
        <p:nvSpPr>
          <p:cNvPr id="21" name="text-1275">
            <a:extLst>
              <a:ext uri="{FF2B5EF4-FFF2-40B4-BE49-F238E27FC236}">
                <a16:creationId xmlns:a16="http://schemas.microsoft.com/office/drawing/2014/main" id="{904A81C1-9357-4382-BA46-3A64B65E245C}"/>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276">
            <a:extLst>
              <a:ext uri="{FF2B5EF4-FFF2-40B4-BE49-F238E27FC236}">
                <a16:creationId xmlns:a16="http://schemas.microsoft.com/office/drawing/2014/main" id="{1C751F60-75FB-423A-88F0-C47008578A1A}"/>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 full data warehouse from day one</a:t>
            </a:r>
          </a:p>
        </p:txBody>
      </p:sp>
      <p:sp>
        <p:nvSpPr>
          <p:cNvPr id="23" name="text-1277">
            <a:extLst>
              <a:ext uri="{FF2B5EF4-FFF2-40B4-BE49-F238E27FC236}">
                <a16:creationId xmlns:a16="http://schemas.microsoft.com/office/drawing/2014/main" id="{F99F719A-0F80-4C23-8D2F-78A680B9E1E8}"/>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278">
            <a:extLst>
              <a:ext uri="{FF2B5EF4-FFF2-40B4-BE49-F238E27FC236}">
                <a16:creationId xmlns:a16="http://schemas.microsoft.com/office/drawing/2014/main" id="{AC72FF43-DB3E-455F-8575-B42838D756E6}"/>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279">
            <a:extLst>
              <a:ext uri="{FF2B5EF4-FFF2-40B4-BE49-F238E27FC236}">
                <a16:creationId xmlns:a16="http://schemas.microsoft.com/office/drawing/2014/main" id="{CE465295-9D78-4751-B40E-01A8E5ABD451}"/>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280">
            <a:extLst>
              <a:ext uri="{FF2B5EF4-FFF2-40B4-BE49-F238E27FC236}">
                <a16:creationId xmlns:a16="http://schemas.microsoft.com/office/drawing/2014/main" id="{44BAA75F-089D-41F1-9572-56F4F9B5C671}"/>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281">
            <a:extLst>
              <a:ext uri="{FF2B5EF4-FFF2-40B4-BE49-F238E27FC236}">
                <a16:creationId xmlns:a16="http://schemas.microsoft.com/office/drawing/2014/main" id="{27A7DCD2-04D3-487E-A6AA-98E3451AA26F}"/>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282">
            <a:extLst>
              <a:ext uri="{FF2B5EF4-FFF2-40B4-BE49-F238E27FC236}">
                <a16:creationId xmlns:a16="http://schemas.microsoft.com/office/drawing/2014/main" id="{8A51F611-9DEA-40E9-937D-C206B83EEADF}"/>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283">
            <a:extLst>
              <a:ext uri="{FF2B5EF4-FFF2-40B4-BE49-F238E27FC236}">
                <a16:creationId xmlns:a16="http://schemas.microsoft.com/office/drawing/2014/main" id="{12FAAFEF-61F8-4258-8919-D964DB665A57}"/>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DATA, RELEASE &amp; SCOPE</a:t>
            </a:r>
          </a:p>
        </p:txBody>
      </p:sp>
      <p:sp>
        <p:nvSpPr>
          <p:cNvPr id="30" name="text-1284">
            <a:extLst>
              <a:ext uri="{FF2B5EF4-FFF2-40B4-BE49-F238E27FC236}">
                <a16:creationId xmlns:a16="http://schemas.microsoft.com/office/drawing/2014/main" id="{404D24F6-D9BF-483A-8A06-D8DAA73DC367}"/>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Q44 / 49</a:t>
            </a:r>
          </a:p>
        </p:txBody>
      </p:sp>
    </p:spTree>
    <p:extLst>
      <p:ext uri="{BB962C8B-B14F-4D97-AF65-F5344CB8AC3E}">
        <p14:creationId xmlns:p14="http://schemas.microsoft.com/office/powerpoint/2010/main" val="1340381968"/>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3"/>
          <a:stretch/>
        </p:blipFill>
        <p:spPr>
          <a:xfrm>
            <a:off x="11029950" y="235890"/>
            <a:ext cx="476250" cy="461671"/>
          </a:xfrm>
          <a:prstGeom prst="rect">
            <a:avLst/>
          </a:prstGeom>
        </p:spPr>
      </p:pic>
      <p:sp>
        <p:nvSpPr>
          <p:cNvPr id="2" name="rect-1285">
            <a:extLst>
              <a:ext uri="{FF2B5EF4-FFF2-40B4-BE49-F238E27FC236}">
                <a16:creationId xmlns:a16="http://schemas.microsoft.com/office/drawing/2014/main" id="{06C035C8-1CE2-48AA-BBA1-9DABFDBE25BF}"/>
              </a:ext>
            </a:extLst>
          </p:cNvPr>
          <p:cNvSpPr>
            <a:spLocks noGrp="1"/>
          </p:cNvSpPr>
          <p:nvPr/>
        </p:nvSpPr>
        <p:spPr>
          <a:xfrm>
            <a:off x="647700" y="438150"/>
            <a:ext cx="104775" cy="247650"/>
          </a:xfrm>
          <a:prstGeom prst="rect">
            <a:avLst/>
          </a:prstGeom>
          <a:solidFill>
            <a:srgbClr val="A0522D"/>
          </a:solidFill>
          <a:ln w="0">
            <a:noFill/>
            <a:prstDash val="solid"/>
          </a:ln>
        </p:spPr>
        <p:txBody>
          <a:bodyPr/>
          <a:lstStyle/>
          <a:p>
            <a:endParaRPr lang="en-US"/>
          </a:p>
        </p:txBody>
      </p:sp>
      <p:sp>
        <p:nvSpPr>
          <p:cNvPr id="3" name="text-1286">
            <a:extLst>
              <a:ext uri="{FF2B5EF4-FFF2-40B4-BE49-F238E27FC236}">
                <a16:creationId xmlns:a16="http://schemas.microsoft.com/office/drawing/2014/main" id="{F7D3B3E3-2FCA-404E-8CB8-2CAA65A1C6BA}"/>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DATA, RELEASE &amp; SCOPE</a:t>
            </a:r>
          </a:p>
        </p:txBody>
      </p:sp>
      <p:sp>
        <p:nvSpPr>
          <p:cNvPr id="4" name="text-1287">
            <a:extLst>
              <a:ext uri="{FF2B5EF4-FFF2-40B4-BE49-F238E27FC236}">
                <a16:creationId xmlns:a16="http://schemas.microsoft.com/office/drawing/2014/main" id="{9286856D-647B-43EE-A1B2-2C5DDDB6DE36}"/>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Q45</a:t>
            </a:r>
          </a:p>
        </p:txBody>
      </p:sp>
      <p:sp>
        <p:nvSpPr>
          <p:cNvPr id="5" name="text-1288">
            <a:extLst>
              <a:ext uri="{FF2B5EF4-FFF2-40B4-BE49-F238E27FC236}">
                <a16:creationId xmlns:a16="http://schemas.microsoft.com/office/drawing/2014/main" id="{C2FABC9E-8AD8-4CB7-A059-A26A6AC8EC2E}"/>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marketing channels should v1 support?</a:t>
            </a:r>
          </a:p>
        </p:txBody>
      </p:sp>
      <p:sp>
        <p:nvSpPr>
          <p:cNvPr id="6" name="text-1289">
            <a:extLst>
              <a:ext uri="{FF2B5EF4-FFF2-40B4-BE49-F238E27FC236}">
                <a16:creationId xmlns:a16="http://schemas.microsoft.com/office/drawing/2014/main" id="{F66ACA90-DB68-433A-B757-CF872DEB58CB}"/>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A0522D"/>
                </a:solidFill>
                <a:latin typeface="Bahnschrift"/>
                <a:ea typeface="Bahnschrift"/>
                <a:cs typeface="Bahnschrift"/>
              </a:defRPr>
            </a:pPr>
            <a:r>
              <a:rPr sz="1050" b="1">
                <a:solidFill>
                  <a:srgbClr val="A0522D"/>
                </a:solidFill>
                <a:latin typeface="Bahnschrift"/>
                <a:ea typeface="Bahnschrift"/>
                <a:cs typeface="Bahnschrift"/>
              </a:rPr>
              <a:t>SYSTEM IMPACT</a:t>
            </a:r>
          </a:p>
        </p:txBody>
      </p:sp>
      <p:sp>
        <p:nvSpPr>
          <p:cNvPr id="7" name="text-1290">
            <a:extLst>
              <a:ext uri="{FF2B5EF4-FFF2-40B4-BE49-F238E27FC236}">
                <a16:creationId xmlns:a16="http://schemas.microsoft.com/office/drawing/2014/main" id="{34535811-1CBE-46B4-B9F3-E82DE26EA3C7}"/>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Sets channel-specific consent and outbound communication requirements.</a:t>
            </a:r>
          </a:p>
        </p:txBody>
      </p:sp>
      <p:sp>
        <p:nvSpPr>
          <p:cNvPr id="8" name="rect-1291">
            <a:extLst>
              <a:ext uri="{FF2B5EF4-FFF2-40B4-BE49-F238E27FC236}">
                <a16:creationId xmlns:a16="http://schemas.microsoft.com/office/drawing/2014/main" id="{00D5E6D5-EEC1-47CC-BAE5-7097AF958E42}"/>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292">
            <a:extLst>
              <a:ext uri="{FF2B5EF4-FFF2-40B4-BE49-F238E27FC236}">
                <a16:creationId xmlns:a16="http://schemas.microsoft.com/office/drawing/2014/main" id="{19FBDE9E-5A98-45DA-A850-B5426BDAA27E}"/>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293">
            <a:extLst>
              <a:ext uri="{FF2B5EF4-FFF2-40B4-BE49-F238E27FC236}">
                <a16:creationId xmlns:a16="http://schemas.microsoft.com/office/drawing/2014/main" id="{554B1B97-73DD-43EC-853B-FE90C5CC075F}"/>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294">
            <a:extLst>
              <a:ext uri="{FF2B5EF4-FFF2-40B4-BE49-F238E27FC236}">
                <a16:creationId xmlns:a16="http://schemas.microsoft.com/office/drawing/2014/main" id="{135B5AC9-9234-4321-B6FA-9F992C9A86D5}"/>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Opt-in email and WhatsApp</a:t>
            </a:r>
          </a:p>
        </p:txBody>
      </p:sp>
      <p:sp>
        <p:nvSpPr>
          <p:cNvPr id="12" name="text-1295">
            <a:extLst>
              <a:ext uri="{FF2B5EF4-FFF2-40B4-BE49-F238E27FC236}">
                <a16:creationId xmlns:a16="http://schemas.microsoft.com/office/drawing/2014/main" id="{7F839359-2BAB-40F8-8672-8F8AD1ADE498}"/>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296">
            <a:extLst>
              <a:ext uri="{FF2B5EF4-FFF2-40B4-BE49-F238E27FC236}">
                <a16:creationId xmlns:a16="http://schemas.microsoft.com/office/drawing/2014/main" id="{6C98AC1F-6CFF-4B3C-8A9D-31CEC6424072}"/>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297">
            <a:extLst>
              <a:ext uri="{FF2B5EF4-FFF2-40B4-BE49-F238E27FC236}">
                <a16:creationId xmlns:a16="http://schemas.microsoft.com/office/drawing/2014/main" id="{DEDBE800-324B-4388-AAA6-AD7CF535A04C}"/>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298">
            <a:extLst>
              <a:ext uri="{FF2B5EF4-FFF2-40B4-BE49-F238E27FC236}">
                <a16:creationId xmlns:a16="http://schemas.microsoft.com/office/drawing/2014/main" id="{446DDD4C-D8EA-4952-8BDD-7804019B646D}"/>
              </a:ext>
            </a:extLst>
          </p:cNvPr>
          <p:cNvSpPr>
            <a:spLocks noGrp="1"/>
          </p:cNvSpPr>
          <p:nvPr/>
        </p:nvSpPr>
        <p:spPr>
          <a:xfrm>
            <a:off x="647700" y="3219450"/>
            <a:ext cx="114300" cy="800100"/>
          </a:xfrm>
          <a:prstGeom prst="rect">
            <a:avLst/>
          </a:prstGeom>
          <a:solidFill>
            <a:srgbClr val="A0522D"/>
          </a:solidFill>
          <a:ln w="0">
            <a:noFill/>
            <a:prstDash val="solid"/>
          </a:ln>
        </p:spPr>
        <p:txBody>
          <a:bodyPr/>
          <a:lstStyle/>
          <a:p>
            <a:endParaRPr lang="en-US"/>
          </a:p>
        </p:txBody>
      </p:sp>
      <p:sp>
        <p:nvSpPr>
          <p:cNvPr id="16" name="text-1299">
            <a:extLst>
              <a:ext uri="{FF2B5EF4-FFF2-40B4-BE49-F238E27FC236}">
                <a16:creationId xmlns:a16="http://schemas.microsoft.com/office/drawing/2014/main" id="{8453D05C-E425-4DF8-A051-6C706E986180}"/>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300">
            <a:extLst>
              <a:ext uri="{FF2B5EF4-FFF2-40B4-BE49-F238E27FC236}">
                <a16:creationId xmlns:a16="http://schemas.microsoft.com/office/drawing/2014/main" id="{7AC71823-0662-4561-A409-C5082AAD317C}"/>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WhatsApp only</a:t>
            </a:r>
          </a:p>
        </p:txBody>
      </p:sp>
      <p:sp>
        <p:nvSpPr>
          <p:cNvPr id="18" name="text-1301">
            <a:extLst>
              <a:ext uri="{FF2B5EF4-FFF2-40B4-BE49-F238E27FC236}">
                <a16:creationId xmlns:a16="http://schemas.microsoft.com/office/drawing/2014/main" id="{C0327CAA-228C-4742-A07A-1824876C91B9}"/>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302">
            <a:extLst>
              <a:ext uri="{FF2B5EF4-FFF2-40B4-BE49-F238E27FC236}">
                <a16:creationId xmlns:a16="http://schemas.microsoft.com/office/drawing/2014/main" id="{C0672D19-082B-49FB-9F52-BFF4219FC2E1}"/>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303">
            <a:extLst>
              <a:ext uri="{FF2B5EF4-FFF2-40B4-BE49-F238E27FC236}">
                <a16:creationId xmlns:a16="http://schemas.microsoft.com/office/drawing/2014/main" id="{21016177-716F-4DAB-B417-0F6F3E8AC749}"/>
              </a:ext>
            </a:extLst>
          </p:cNvPr>
          <p:cNvSpPr>
            <a:spLocks noGrp="1"/>
          </p:cNvSpPr>
          <p:nvPr/>
        </p:nvSpPr>
        <p:spPr>
          <a:xfrm>
            <a:off x="647700" y="4171950"/>
            <a:ext cx="114300" cy="800100"/>
          </a:xfrm>
          <a:prstGeom prst="rect">
            <a:avLst/>
          </a:prstGeom>
          <a:solidFill>
            <a:srgbClr val="A0522D"/>
          </a:solidFill>
          <a:ln w="0">
            <a:noFill/>
            <a:prstDash val="solid"/>
          </a:ln>
        </p:spPr>
        <p:txBody>
          <a:bodyPr/>
          <a:lstStyle/>
          <a:p>
            <a:endParaRPr lang="en-US"/>
          </a:p>
        </p:txBody>
      </p:sp>
      <p:sp>
        <p:nvSpPr>
          <p:cNvPr id="21" name="text-1304">
            <a:extLst>
              <a:ext uri="{FF2B5EF4-FFF2-40B4-BE49-F238E27FC236}">
                <a16:creationId xmlns:a16="http://schemas.microsoft.com/office/drawing/2014/main" id="{858AFB25-CFF8-4D37-B496-85727ABBC3DE}"/>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305">
            <a:extLst>
              <a:ext uri="{FF2B5EF4-FFF2-40B4-BE49-F238E27FC236}">
                <a16:creationId xmlns:a16="http://schemas.microsoft.com/office/drawing/2014/main" id="{C20A6A70-04F5-4112-BED0-BFF4748E81BE}"/>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Transactional messages only</a:t>
            </a:r>
          </a:p>
        </p:txBody>
      </p:sp>
      <p:sp>
        <p:nvSpPr>
          <p:cNvPr id="23" name="text-1306">
            <a:extLst>
              <a:ext uri="{FF2B5EF4-FFF2-40B4-BE49-F238E27FC236}">
                <a16:creationId xmlns:a16="http://schemas.microsoft.com/office/drawing/2014/main" id="{6CF4574A-91C0-42E3-A538-8DADBB58A011}"/>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307">
            <a:extLst>
              <a:ext uri="{FF2B5EF4-FFF2-40B4-BE49-F238E27FC236}">
                <a16:creationId xmlns:a16="http://schemas.microsoft.com/office/drawing/2014/main" id="{4A379F51-9E2F-4D43-82CF-E9A7AEA1380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308">
            <a:extLst>
              <a:ext uri="{FF2B5EF4-FFF2-40B4-BE49-F238E27FC236}">
                <a16:creationId xmlns:a16="http://schemas.microsoft.com/office/drawing/2014/main" id="{F10D8E62-D39F-410D-8561-52BC66C38343}"/>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309">
            <a:extLst>
              <a:ext uri="{FF2B5EF4-FFF2-40B4-BE49-F238E27FC236}">
                <a16:creationId xmlns:a16="http://schemas.microsoft.com/office/drawing/2014/main" id="{40B62D41-92B2-4EE6-B1B3-6E278FD063AE}"/>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310">
            <a:extLst>
              <a:ext uri="{FF2B5EF4-FFF2-40B4-BE49-F238E27FC236}">
                <a16:creationId xmlns:a16="http://schemas.microsoft.com/office/drawing/2014/main" id="{BEF9D452-27B0-460C-8F37-30606366D92A}"/>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311">
            <a:extLst>
              <a:ext uri="{FF2B5EF4-FFF2-40B4-BE49-F238E27FC236}">
                <a16:creationId xmlns:a16="http://schemas.microsoft.com/office/drawing/2014/main" id="{3D9BD775-0BC5-4294-87D1-AFA39C19DA15}"/>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312">
            <a:extLst>
              <a:ext uri="{FF2B5EF4-FFF2-40B4-BE49-F238E27FC236}">
                <a16:creationId xmlns:a16="http://schemas.microsoft.com/office/drawing/2014/main" id="{29A577E1-8A4A-4FE0-9E25-69D579182B3A}"/>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DATA, RELEASE &amp; SCOPE</a:t>
            </a:r>
          </a:p>
        </p:txBody>
      </p:sp>
      <p:sp>
        <p:nvSpPr>
          <p:cNvPr id="30" name="text-1313">
            <a:extLst>
              <a:ext uri="{FF2B5EF4-FFF2-40B4-BE49-F238E27FC236}">
                <a16:creationId xmlns:a16="http://schemas.microsoft.com/office/drawing/2014/main" id="{AEC50285-6DD6-466B-B294-67E3F791B37A}"/>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Q45 / 49</a:t>
            </a:r>
          </a:p>
        </p:txBody>
      </p:sp>
    </p:spTree>
    <p:extLst>
      <p:ext uri="{BB962C8B-B14F-4D97-AF65-F5344CB8AC3E}">
        <p14:creationId xmlns:p14="http://schemas.microsoft.com/office/powerpoint/2010/main" val="689912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314">
            <a:extLst>
              <a:ext uri="{FF2B5EF4-FFF2-40B4-BE49-F238E27FC236}">
                <a16:creationId xmlns:a16="http://schemas.microsoft.com/office/drawing/2014/main" id="{C1B8DDA9-0248-4C39-BB3C-26AED4525C3E}"/>
              </a:ext>
            </a:extLst>
          </p:cNvPr>
          <p:cNvSpPr>
            <a:spLocks noGrp="1"/>
          </p:cNvSpPr>
          <p:nvPr/>
        </p:nvSpPr>
        <p:spPr>
          <a:xfrm>
            <a:off x="647700" y="438150"/>
            <a:ext cx="104775" cy="247650"/>
          </a:xfrm>
          <a:prstGeom prst="rect">
            <a:avLst/>
          </a:prstGeom>
          <a:solidFill>
            <a:srgbClr val="A0522D"/>
          </a:solidFill>
          <a:ln w="0">
            <a:noFill/>
            <a:prstDash val="solid"/>
          </a:ln>
        </p:spPr>
        <p:txBody>
          <a:bodyPr/>
          <a:lstStyle/>
          <a:p>
            <a:endParaRPr lang="en-US"/>
          </a:p>
        </p:txBody>
      </p:sp>
      <p:sp>
        <p:nvSpPr>
          <p:cNvPr id="3" name="text-1315">
            <a:extLst>
              <a:ext uri="{FF2B5EF4-FFF2-40B4-BE49-F238E27FC236}">
                <a16:creationId xmlns:a16="http://schemas.microsoft.com/office/drawing/2014/main" id="{6FD5CBA1-CCAA-45D4-9479-73184ED580DB}"/>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DATA, RELEASE &amp; SCOPE</a:t>
            </a:r>
          </a:p>
        </p:txBody>
      </p:sp>
      <p:sp>
        <p:nvSpPr>
          <p:cNvPr id="4" name="text-1316">
            <a:extLst>
              <a:ext uri="{FF2B5EF4-FFF2-40B4-BE49-F238E27FC236}">
                <a16:creationId xmlns:a16="http://schemas.microsoft.com/office/drawing/2014/main" id="{317916DF-AF54-49F6-9573-81F0505ECF15}"/>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Q46</a:t>
            </a:r>
          </a:p>
        </p:txBody>
      </p:sp>
      <p:sp>
        <p:nvSpPr>
          <p:cNvPr id="5" name="text-1317">
            <a:extLst>
              <a:ext uri="{FF2B5EF4-FFF2-40B4-BE49-F238E27FC236}">
                <a16:creationId xmlns:a16="http://schemas.microsoft.com/office/drawing/2014/main" id="{A84002ED-5A46-428B-B03F-93C1231AEE04}"/>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experiments be controlled?</a:t>
            </a:r>
          </a:p>
        </p:txBody>
      </p:sp>
      <p:sp>
        <p:nvSpPr>
          <p:cNvPr id="6" name="text-1318">
            <a:extLst>
              <a:ext uri="{FF2B5EF4-FFF2-40B4-BE49-F238E27FC236}">
                <a16:creationId xmlns:a16="http://schemas.microsoft.com/office/drawing/2014/main" id="{0589106D-DE30-4FCE-8E97-0216F18013A1}"/>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A0522D"/>
                </a:solidFill>
                <a:latin typeface="Bahnschrift"/>
                <a:ea typeface="Bahnschrift"/>
                <a:cs typeface="Bahnschrift"/>
              </a:defRPr>
            </a:pPr>
            <a:r>
              <a:rPr sz="1050" b="1">
                <a:solidFill>
                  <a:srgbClr val="A0522D"/>
                </a:solidFill>
                <a:latin typeface="Bahnschrift"/>
                <a:ea typeface="Bahnschrift"/>
                <a:cs typeface="Bahnschrift"/>
              </a:rPr>
              <a:t>SYSTEM IMPACT</a:t>
            </a:r>
          </a:p>
        </p:txBody>
      </p:sp>
      <p:sp>
        <p:nvSpPr>
          <p:cNvPr id="7" name="text-1319">
            <a:extLst>
              <a:ext uri="{FF2B5EF4-FFF2-40B4-BE49-F238E27FC236}">
                <a16:creationId xmlns:a16="http://schemas.microsoft.com/office/drawing/2014/main" id="{156F56E3-1C82-454F-ADE3-2B8A875DDAE6}"/>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Defines assignment, exposure logging and operational guardrails.</a:t>
            </a:r>
          </a:p>
        </p:txBody>
      </p:sp>
      <p:sp>
        <p:nvSpPr>
          <p:cNvPr id="8" name="rect-1320">
            <a:extLst>
              <a:ext uri="{FF2B5EF4-FFF2-40B4-BE49-F238E27FC236}">
                <a16:creationId xmlns:a16="http://schemas.microsoft.com/office/drawing/2014/main" id="{07359190-AE9D-4FA8-9C88-4DFCF17FCCF0}"/>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321">
            <a:extLst>
              <a:ext uri="{FF2B5EF4-FFF2-40B4-BE49-F238E27FC236}">
                <a16:creationId xmlns:a16="http://schemas.microsoft.com/office/drawing/2014/main" id="{75DF0D32-14CC-4856-B259-03C5693EE83F}"/>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322">
            <a:extLst>
              <a:ext uri="{FF2B5EF4-FFF2-40B4-BE49-F238E27FC236}">
                <a16:creationId xmlns:a16="http://schemas.microsoft.com/office/drawing/2014/main" id="{53D2E8A3-1CB7-4814-A9EA-1EE3B1EF3D07}"/>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323">
            <a:extLst>
              <a:ext uri="{FF2B5EF4-FFF2-40B4-BE49-F238E27FC236}">
                <a16:creationId xmlns:a16="http://schemas.microsoft.com/office/drawing/2014/main" id="{7310A1C0-F94D-4FCA-9419-7CCDE16028D5}"/>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Feature flags with measured experiments</a:t>
            </a:r>
          </a:p>
        </p:txBody>
      </p:sp>
      <p:sp>
        <p:nvSpPr>
          <p:cNvPr id="12" name="text-1324">
            <a:extLst>
              <a:ext uri="{FF2B5EF4-FFF2-40B4-BE49-F238E27FC236}">
                <a16:creationId xmlns:a16="http://schemas.microsoft.com/office/drawing/2014/main" id="{0C273CAE-4C08-4D95-96E5-47DF099B0EDA}"/>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325">
            <a:extLst>
              <a:ext uri="{FF2B5EF4-FFF2-40B4-BE49-F238E27FC236}">
                <a16:creationId xmlns:a16="http://schemas.microsoft.com/office/drawing/2014/main" id="{6C35CCE7-CE4A-4D51-BD0D-997F0C89DCA5}"/>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326">
            <a:extLst>
              <a:ext uri="{FF2B5EF4-FFF2-40B4-BE49-F238E27FC236}">
                <a16:creationId xmlns:a16="http://schemas.microsoft.com/office/drawing/2014/main" id="{A3BF9249-87CB-431F-9D3D-9D4B9E2D3EB7}"/>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327">
            <a:extLst>
              <a:ext uri="{FF2B5EF4-FFF2-40B4-BE49-F238E27FC236}">
                <a16:creationId xmlns:a16="http://schemas.microsoft.com/office/drawing/2014/main" id="{5B550F58-C1A5-4ACE-AA30-58A5C5A9DCD4}"/>
              </a:ext>
            </a:extLst>
          </p:cNvPr>
          <p:cNvSpPr>
            <a:spLocks noGrp="1"/>
          </p:cNvSpPr>
          <p:nvPr/>
        </p:nvSpPr>
        <p:spPr>
          <a:xfrm>
            <a:off x="647700" y="3219450"/>
            <a:ext cx="114300" cy="800100"/>
          </a:xfrm>
          <a:prstGeom prst="rect">
            <a:avLst/>
          </a:prstGeom>
          <a:solidFill>
            <a:srgbClr val="A0522D"/>
          </a:solidFill>
          <a:ln w="0">
            <a:noFill/>
            <a:prstDash val="solid"/>
          </a:ln>
        </p:spPr>
        <p:txBody>
          <a:bodyPr/>
          <a:lstStyle/>
          <a:p>
            <a:endParaRPr lang="en-US"/>
          </a:p>
        </p:txBody>
      </p:sp>
      <p:sp>
        <p:nvSpPr>
          <p:cNvPr id="16" name="text-1328">
            <a:extLst>
              <a:ext uri="{FF2B5EF4-FFF2-40B4-BE49-F238E27FC236}">
                <a16:creationId xmlns:a16="http://schemas.microsoft.com/office/drawing/2014/main" id="{99EB209D-DB6F-499E-A2A2-673D4117FF1D}"/>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329">
            <a:extLst>
              <a:ext uri="{FF2B5EF4-FFF2-40B4-BE49-F238E27FC236}">
                <a16:creationId xmlns:a16="http://schemas.microsoft.com/office/drawing/2014/main" id="{B7335D60-7351-48F8-A340-ABCC5670C7C6}"/>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Manual campaign comparisons</a:t>
            </a:r>
          </a:p>
        </p:txBody>
      </p:sp>
      <p:sp>
        <p:nvSpPr>
          <p:cNvPr id="18" name="text-1330">
            <a:extLst>
              <a:ext uri="{FF2B5EF4-FFF2-40B4-BE49-F238E27FC236}">
                <a16:creationId xmlns:a16="http://schemas.microsoft.com/office/drawing/2014/main" id="{F9A6A6D2-1558-4FC8-AEB5-73C113EC31AA}"/>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331">
            <a:extLst>
              <a:ext uri="{FF2B5EF4-FFF2-40B4-BE49-F238E27FC236}">
                <a16:creationId xmlns:a16="http://schemas.microsoft.com/office/drawing/2014/main" id="{0C1CD1BE-5290-423D-8C7D-6F5A3489EBCC}"/>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332">
            <a:extLst>
              <a:ext uri="{FF2B5EF4-FFF2-40B4-BE49-F238E27FC236}">
                <a16:creationId xmlns:a16="http://schemas.microsoft.com/office/drawing/2014/main" id="{683DAC3C-2053-41FD-B9E2-ACD1668BE03E}"/>
              </a:ext>
            </a:extLst>
          </p:cNvPr>
          <p:cNvSpPr>
            <a:spLocks noGrp="1"/>
          </p:cNvSpPr>
          <p:nvPr/>
        </p:nvSpPr>
        <p:spPr>
          <a:xfrm>
            <a:off x="647700" y="4171950"/>
            <a:ext cx="114300" cy="800100"/>
          </a:xfrm>
          <a:prstGeom prst="rect">
            <a:avLst/>
          </a:prstGeom>
          <a:solidFill>
            <a:srgbClr val="A0522D"/>
          </a:solidFill>
          <a:ln w="0">
            <a:noFill/>
            <a:prstDash val="solid"/>
          </a:ln>
        </p:spPr>
        <p:txBody>
          <a:bodyPr/>
          <a:lstStyle/>
          <a:p>
            <a:endParaRPr lang="en-US"/>
          </a:p>
        </p:txBody>
      </p:sp>
      <p:sp>
        <p:nvSpPr>
          <p:cNvPr id="21" name="text-1333">
            <a:extLst>
              <a:ext uri="{FF2B5EF4-FFF2-40B4-BE49-F238E27FC236}">
                <a16:creationId xmlns:a16="http://schemas.microsoft.com/office/drawing/2014/main" id="{921D8380-6EA7-44A8-A2A7-640CA590DC1A}"/>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334">
            <a:extLst>
              <a:ext uri="{FF2B5EF4-FFF2-40B4-BE49-F238E27FC236}">
                <a16:creationId xmlns:a16="http://schemas.microsoft.com/office/drawing/2014/main" id="{56A516E4-8C12-482C-A562-D238C06D7662}"/>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Automated optimization</a:t>
            </a:r>
          </a:p>
        </p:txBody>
      </p:sp>
      <p:sp>
        <p:nvSpPr>
          <p:cNvPr id="23" name="text-1335">
            <a:extLst>
              <a:ext uri="{FF2B5EF4-FFF2-40B4-BE49-F238E27FC236}">
                <a16:creationId xmlns:a16="http://schemas.microsoft.com/office/drawing/2014/main" id="{88C97C33-AD49-4E20-A62A-A871FCA71DCA}"/>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336">
            <a:extLst>
              <a:ext uri="{FF2B5EF4-FFF2-40B4-BE49-F238E27FC236}">
                <a16:creationId xmlns:a16="http://schemas.microsoft.com/office/drawing/2014/main" id="{48D4F46D-A60B-4872-ABEF-01AD390163BA}"/>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337">
            <a:extLst>
              <a:ext uri="{FF2B5EF4-FFF2-40B4-BE49-F238E27FC236}">
                <a16:creationId xmlns:a16="http://schemas.microsoft.com/office/drawing/2014/main" id="{2F81AF9F-9D4B-4E6E-BF6A-F4E753120FCA}"/>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338">
            <a:extLst>
              <a:ext uri="{FF2B5EF4-FFF2-40B4-BE49-F238E27FC236}">
                <a16:creationId xmlns:a16="http://schemas.microsoft.com/office/drawing/2014/main" id="{6BC7E53C-F6B6-4A65-80B3-287BE278517B}"/>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339">
            <a:extLst>
              <a:ext uri="{FF2B5EF4-FFF2-40B4-BE49-F238E27FC236}">
                <a16:creationId xmlns:a16="http://schemas.microsoft.com/office/drawing/2014/main" id="{05CE1DBC-B081-4117-9B44-E18694EAB542}"/>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340">
            <a:extLst>
              <a:ext uri="{FF2B5EF4-FFF2-40B4-BE49-F238E27FC236}">
                <a16:creationId xmlns:a16="http://schemas.microsoft.com/office/drawing/2014/main" id="{49266ECC-112A-4034-A8B5-4112192D6F28}"/>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341">
            <a:extLst>
              <a:ext uri="{FF2B5EF4-FFF2-40B4-BE49-F238E27FC236}">
                <a16:creationId xmlns:a16="http://schemas.microsoft.com/office/drawing/2014/main" id="{038EF0FF-BF07-42E2-900E-B3C65D5CD1BA}"/>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DATA, RELEASE &amp; SCOPE</a:t>
            </a:r>
          </a:p>
        </p:txBody>
      </p:sp>
      <p:sp>
        <p:nvSpPr>
          <p:cNvPr id="30" name="text-1342">
            <a:extLst>
              <a:ext uri="{FF2B5EF4-FFF2-40B4-BE49-F238E27FC236}">
                <a16:creationId xmlns:a16="http://schemas.microsoft.com/office/drawing/2014/main" id="{D2A12C0E-2762-40A3-A26C-4B1EE4AEF80D}"/>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Q46 / 49</a:t>
            </a:r>
          </a:p>
        </p:txBody>
      </p:sp>
    </p:spTree>
    <p:extLst>
      <p:ext uri="{BB962C8B-B14F-4D97-AF65-F5344CB8AC3E}">
        <p14:creationId xmlns:p14="http://schemas.microsoft.com/office/powerpoint/2010/main" val="551999371"/>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343">
            <a:extLst>
              <a:ext uri="{FF2B5EF4-FFF2-40B4-BE49-F238E27FC236}">
                <a16:creationId xmlns:a16="http://schemas.microsoft.com/office/drawing/2014/main" id="{8834866E-3658-4578-B88D-801C5B67BEBC}"/>
              </a:ext>
            </a:extLst>
          </p:cNvPr>
          <p:cNvSpPr>
            <a:spLocks noGrp="1"/>
          </p:cNvSpPr>
          <p:nvPr/>
        </p:nvSpPr>
        <p:spPr>
          <a:xfrm>
            <a:off x="647700" y="438150"/>
            <a:ext cx="104775" cy="247650"/>
          </a:xfrm>
          <a:prstGeom prst="rect">
            <a:avLst/>
          </a:prstGeom>
          <a:solidFill>
            <a:srgbClr val="A0522D"/>
          </a:solidFill>
          <a:ln w="0">
            <a:noFill/>
            <a:prstDash val="solid"/>
          </a:ln>
        </p:spPr>
        <p:txBody>
          <a:bodyPr/>
          <a:lstStyle/>
          <a:p>
            <a:endParaRPr lang="en-US"/>
          </a:p>
        </p:txBody>
      </p:sp>
      <p:sp>
        <p:nvSpPr>
          <p:cNvPr id="3" name="text-1344">
            <a:extLst>
              <a:ext uri="{FF2B5EF4-FFF2-40B4-BE49-F238E27FC236}">
                <a16:creationId xmlns:a16="http://schemas.microsoft.com/office/drawing/2014/main" id="{47D7C55D-75CA-4A5A-9162-D55B948D05FF}"/>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DATA, RELEASE &amp; SCOPE</a:t>
            </a:r>
          </a:p>
        </p:txBody>
      </p:sp>
      <p:sp>
        <p:nvSpPr>
          <p:cNvPr id="4" name="text-1345">
            <a:extLst>
              <a:ext uri="{FF2B5EF4-FFF2-40B4-BE49-F238E27FC236}">
                <a16:creationId xmlns:a16="http://schemas.microsoft.com/office/drawing/2014/main" id="{B6568FDF-76D2-478D-8413-E7A7752797E7}"/>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Q47</a:t>
            </a:r>
          </a:p>
        </p:txBody>
      </p:sp>
      <p:sp>
        <p:nvSpPr>
          <p:cNvPr id="5" name="text-1346">
            <a:extLst>
              <a:ext uri="{FF2B5EF4-FFF2-40B4-BE49-F238E27FC236}">
                <a16:creationId xmlns:a16="http://schemas.microsoft.com/office/drawing/2014/main" id="{CC17E99C-1F6B-426E-826A-3528E039CE28}"/>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How should the programme define v1 delivery?</a:t>
            </a:r>
          </a:p>
        </p:txBody>
      </p:sp>
      <p:sp>
        <p:nvSpPr>
          <p:cNvPr id="6" name="text-1347">
            <a:extLst>
              <a:ext uri="{FF2B5EF4-FFF2-40B4-BE49-F238E27FC236}">
                <a16:creationId xmlns:a16="http://schemas.microsoft.com/office/drawing/2014/main" id="{77AF1318-DA7A-447E-9A89-98741C341181}"/>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A0522D"/>
                </a:solidFill>
                <a:latin typeface="Bahnschrift"/>
                <a:ea typeface="Bahnschrift"/>
                <a:cs typeface="Bahnschrift"/>
              </a:defRPr>
            </a:pPr>
            <a:r>
              <a:rPr sz="1050" b="1">
                <a:solidFill>
                  <a:srgbClr val="A0522D"/>
                </a:solidFill>
                <a:latin typeface="Bahnschrift"/>
                <a:ea typeface="Bahnschrift"/>
                <a:cs typeface="Bahnschrift"/>
              </a:rPr>
              <a:t>SYSTEM IMPACT</a:t>
            </a:r>
          </a:p>
        </p:txBody>
      </p:sp>
      <p:sp>
        <p:nvSpPr>
          <p:cNvPr id="7" name="text-1348">
            <a:extLst>
              <a:ext uri="{FF2B5EF4-FFF2-40B4-BE49-F238E27FC236}">
                <a16:creationId xmlns:a16="http://schemas.microsoft.com/office/drawing/2014/main" id="{25150838-AE7A-46EB-BC85-369E2BFAE7A0}"/>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Separates activation sequencing from the committed functional scope.</a:t>
            </a:r>
          </a:p>
        </p:txBody>
      </p:sp>
      <p:sp>
        <p:nvSpPr>
          <p:cNvPr id="8" name="rect-1349">
            <a:extLst>
              <a:ext uri="{FF2B5EF4-FFF2-40B4-BE49-F238E27FC236}">
                <a16:creationId xmlns:a16="http://schemas.microsoft.com/office/drawing/2014/main" id="{BA70064D-3779-4F77-B6BF-E797F33DE080}"/>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350">
            <a:extLst>
              <a:ext uri="{FF2B5EF4-FFF2-40B4-BE49-F238E27FC236}">
                <a16:creationId xmlns:a16="http://schemas.microsoft.com/office/drawing/2014/main" id="{C696F86F-5D59-4069-874F-3D04A47FE55F}"/>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351">
            <a:extLst>
              <a:ext uri="{FF2B5EF4-FFF2-40B4-BE49-F238E27FC236}">
                <a16:creationId xmlns:a16="http://schemas.microsoft.com/office/drawing/2014/main" id="{E4A51CA9-ABE8-4045-A7C8-729B074930A5}"/>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352">
            <a:extLst>
              <a:ext uri="{FF2B5EF4-FFF2-40B4-BE49-F238E27FC236}">
                <a16:creationId xmlns:a16="http://schemas.microsoft.com/office/drawing/2014/main" id="{BE5143B9-8A0D-4A8E-886B-AF9C16747ED5}"/>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One complete v1 with two activation gates</a:t>
            </a:r>
          </a:p>
        </p:txBody>
      </p:sp>
      <p:sp>
        <p:nvSpPr>
          <p:cNvPr id="12" name="text-1353">
            <a:extLst>
              <a:ext uri="{FF2B5EF4-FFF2-40B4-BE49-F238E27FC236}">
                <a16:creationId xmlns:a16="http://schemas.microsoft.com/office/drawing/2014/main" id="{F494591F-4027-4206-B6EB-8E0EC4484A00}"/>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354">
            <a:extLst>
              <a:ext uri="{FF2B5EF4-FFF2-40B4-BE49-F238E27FC236}">
                <a16:creationId xmlns:a16="http://schemas.microsoft.com/office/drawing/2014/main" id="{8A260CB1-2622-4835-9086-65C567138FC6}"/>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355">
            <a:extLst>
              <a:ext uri="{FF2B5EF4-FFF2-40B4-BE49-F238E27FC236}">
                <a16:creationId xmlns:a16="http://schemas.microsoft.com/office/drawing/2014/main" id="{D081CC25-B016-4C28-87DF-765361A82669}"/>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356">
            <a:extLst>
              <a:ext uri="{FF2B5EF4-FFF2-40B4-BE49-F238E27FC236}">
                <a16:creationId xmlns:a16="http://schemas.microsoft.com/office/drawing/2014/main" id="{51757279-88F9-4C94-8A48-22CCF3212979}"/>
              </a:ext>
            </a:extLst>
          </p:cNvPr>
          <p:cNvSpPr>
            <a:spLocks noGrp="1"/>
          </p:cNvSpPr>
          <p:nvPr/>
        </p:nvSpPr>
        <p:spPr>
          <a:xfrm>
            <a:off x="647700" y="3219450"/>
            <a:ext cx="114300" cy="800100"/>
          </a:xfrm>
          <a:prstGeom prst="rect">
            <a:avLst/>
          </a:prstGeom>
          <a:solidFill>
            <a:srgbClr val="A0522D"/>
          </a:solidFill>
          <a:ln w="0">
            <a:noFill/>
            <a:prstDash val="solid"/>
          </a:ln>
        </p:spPr>
        <p:txBody>
          <a:bodyPr/>
          <a:lstStyle/>
          <a:p>
            <a:endParaRPr lang="en-US"/>
          </a:p>
        </p:txBody>
      </p:sp>
      <p:sp>
        <p:nvSpPr>
          <p:cNvPr id="16" name="text-1357">
            <a:extLst>
              <a:ext uri="{FF2B5EF4-FFF2-40B4-BE49-F238E27FC236}">
                <a16:creationId xmlns:a16="http://schemas.microsoft.com/office/drawing/2014/main" id="{AA6BDB22-F810-4E63-A7F2-32C5A325EEAE}"/>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358">
            <a:extLst>
              <a:ext uri="{FF2B5EF4-FFF2-40B4-BE49-F238E27FC236}">
                <a16:creationId xmlns:a16="http://schemas.microsoft.com/office/drawing/2014/main" id="{4DCA595E-544E-4986-87D4-CE742126E33F}"/>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 series of independent phased releases</a:t>
            </a:r>
          </a:p>
        </p:txBody>
      </p:sp>
      <p:sp>
        <p:nvSpPr>
          <p:cNvPr id="18" name="text-1359">
            <a:extLst>
              <a:ext uri="{FF2B5EF4-FFF2-40B4-BE49-F238E27FC236}">
                <a16:creationId xmlns:a16="http://schemas.microsoft.com/office/drawing/2014/main" id="{C2314D60-E1BE-4247-BAC1-2AA1B06FD2A8}"/>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360">
            <a:extLst>
              <a:ext uri="{FF2B5EF4-FFF2-40B4-BE49-F238E27FC236}">
                <a16:creationId xmlns:a16="http://schemas.microsoft.com/office/drawing/2014/main" id="{EDC721E1-8D25-4C3C-A45C-267487645078}"/>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361">
            <a:extLst>
              <a:ext uri="{FF2B5EF4-FFF2-40B4-BE49-F238E27FC236}">
                <a16:creationId xmlns:a16="http://schemas.microsoft.com/office/drawing/2014/main" id="{D21F8B0D-40E2-4A9A-9FD8-4C31B90F2755}"/>
              </a:ext>
            </a:extLst>
          </p:cNvPr>
          <p:cNvSpPr>
            <a:spLocks noGrp="1"/>
          </p:cNvSpPr>
          <p:nvPr/>
        </p:nvSpPr>
        <p:spPr>
          <a:xfrm>
            <a:off x="647700" y="4171950"/>
            <a:ext cx="114300" cy="800100"/>
          </a:xfrm>
          <a:prstGeom prst="rect">
            <a:avLst/>
          </a:prstGeom>
          <a:solidFill>
            <a:srgbClr val="A0522D"/>
          </a:solidFill>
          <a:ln w="0">
            <a:noFill/>
            <a:prstDash val="solid"/>
          </a:ln>
        </p:spPr>
        <p:txBody>
          <a:bodyPr/>
          <a:lstStyle/>
          <a:p>
            <a:endParaRPr lang="en-US"/>
          </a:p>
        </p:txBody>
      </p:sp>
      <p:sp>
        <p:nvSpPr>
          <p:cNvPr id="21" name="text-1362">
            <a:extLst>
              <a:ext uri="{FF2B5EF4-FFF2-40B4-BE49-F238E27FC236}">
                <a16:creationId xmlns:a16="http://schemas.microsoft.com/office/drawing/2014/main" id="{8F472908-1652-4F17-B8F4-5CEC0EB8FAB7}"/>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363">
            <a:extLst>
              <a:ext uri="{FF2B5EF4-FFF2-40B4-BE49-F238E27FC236}">
                <a16:creationId xmlns:a16="http://schemas.microsoft.com/office/drawing/2014/main" id="{462EF83D-0CFF-40AA-B396-5EFC22E47580}"/>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 narrow lean MVP</a:t>
            </a:r>
          </a:p>
        </p:txBody>
      </p:sp>
      <p:sp>
        <p:nvSpPr>
          <p:cNvPr id="23" name="text-1364">
            <a:extLst>
              <a:ext uri="{FF2B5EF4-FFF2-40B4-BE49-F238E27FC236}">
                <a16:creationId xmlns:a16="http://schemas.microsoft.com/office/drawing/2014/main" id="{FFB5CB96-C01B-416F-8A14-C180E6AA07C9}"/>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365">
            <a:extLst>
              <a:ext uri="{FF2B5EF4-FFF2-40B4-BE49-F238E27FC236}">
                <a16:creationId xmlns:a16="http://schemas.microsoft.com/office/drawing/2014/main" id="{90602686-DBC7-40A1-89B9-CE9EED9F59B2}"/>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366">
            <a:extLst>
              <a:ext uri="{FF2B5EF4-FFF2-40B4-BE49-F238E27FC236}">
                <a16:creationId xmlns:a16="http://schemas.microsoft.com/office/drawing/2014/main" id="{C917DB7C-BD1C-4AB8-B86E-EF2B7C9D8ED4}"/>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367">
            <a:extLst>
              <a:ext uri="{FF2B5EF4-FFF2-40B4-BE49-F238E27FC236}">
                <a16:creationId xmlns:a16="http://schemas.microsoft.com/office/drawing/2014/main" id="{7B64CF9A-418C-482E-B44B-BC47E8B2E4B8}"/>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368">
            <a:extLst>
              <a:ext uri="{FF2B5EF4-FFF2-40B4-BE49-F238E27FC236}">
                <a16:creationId xmlns:a16="http://schemas.microsoft.com/office/drawing/2014/main" id="{13305EFA-678F-459B-B0AE-3FC0A43B34C4}"/>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369">
            <a:extLst>
              <a:ext uri="{FF2B5EF4-FFF2-40B4-BE49-F238E27FC236}">
                <a16:creationId xmlns:a16="http://schemas.microsoft.com/office/drawing/2014/main" id="{AC57E472-DAFA-4C3A-9CA8-D458798E5EC7}"/>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370">
            <a:extLst>
              <a:ext uri="{FF2B5EF4-FFF2-40B4-BE49-F238E27FC236}">
                <a16:creationId xmlns:a16="http://schemas.microsoft.com/office/drawing/2014/main" id="{33DC5A51-A4F5-41A6-90AB-27084BEFAE1B}"/>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DATA, RELEASE &amp; SCOPE</a:t>
            </a:r>
          </a:p>
        </p:txBody>
      </p:sp>
      <p:sp>
        <p:nvSpPr>
          <p:cNvPr id="30" name="text-1371">
            <a:extLst>
              <a:ext uri="{FF2B5EF4-FFF2-40B4-BE49-F238E27FC236}">
                <a16:creationId xmlns:a16="http://schemas.microsoft.com/office/drawing/2014/main" id="{51438D59-33F6-4D90-ADE6-112C9B664D39}"/>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Q47 / 49</a:t>
            </a:r>
          </a:p>
        </p:txBody>
      </p:sp>
    </p:spTree>
    <p:extLst>
      <p:ext uri="{BB962C8B-B14F-4D97-AF65-F5344CB8AC3E}">
        <p14:creationId xmlns:p14="http://schemas.microsoft.com/office/powerpoint/2010/main" val="1100250000"/>
      </p:ext>
    </p:extLst>
  </p:cSld>
  <p:clrMapOvr>
    <a:masterClrMapping/>
  </p:clrMapOvr>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372">
            <a:extLst>
              <a:ext uri="{FF2B5EF4-FFF2-40B4-BE49-F238E27FC236}">
                <a16:creationId xmlns:a16="http://schemas.microsoft.com/office/drawing/2014/main" id="{171E4D3E-EFDE-4650-BD1F-918EF684E7DB}"/>
              </a:ext>
            </a:extLst>
          </p:cNvPr>
          <p:cNvSpPr>
            <a:spLocks noGrp="1"/>
          </p:cNvSpPr>
          <p:nvPr/>
        </p:nvSpPr>
        <p:spPr>
          <a:xfrm>
            <a:off x="647700" y="438150"/>
            <a:ext cx="104775" cy="247650"/>
          </a:xfrm>
          <a:prstGeom prst="rect">
            <a:avLst/>
          </a:prstGeom>
          <a:solidFill>
            <a:srgbClr val="A0522D"/>
          </a:solidFill>
          <a:ln w="0">
            <a:noFill/>
            <a:prstDash val="solid"/>
          </a:ln>
        </p:spPr>
        <p:txBody>
          <a:bodyPr/>
          <a:lstStyle/>
          <a:p>
            <a:endParaRPr lang="en-US"/>
          </a:p>
        </p:txBody>
      </p:sp>
      <p:sp>
        <p:nvSpPr>
          <p:cNvPr id="3" name="text-1373">
            <a:extLst>
              <a:ext uri="{FF2B5EF4-FFF2-40B4-BE49-F238E27FC236}">
                <a16:creationId xmlns:a16="http://schemas.microsoft.com/office/drawing/2014/main" id="{184253E7-2621-42C0-BCC3-9A7BD0C6BB64}"/>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DATA, RELEASE &amp; SCOPE</a:t>
            </a:r>
          </a:p>
        </p:txBody>
      </p:sp>
      <p:sp>
        <p:nvSpPr>
          <p:cNvPr id="4" name="text-1374">
            <a:extLst>
              <a:ext uri="{FF2B5EF4-FFF2-40B4-BE49-F238E27FC236}">
                <a16:creationId xmlns:a16="http://schemas.microsoft.com/office/drawing/2014/main" id="{EA55C0FE-8CB4-455A-8B67-874E27269B80}"/>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Q48</a:t>
            </a:r>
          </a:p>
        </p:txBody>
      </p:sp>
      <p:sp>
        <p:nvSpPr>
          <p:cNvPr id="5" name="text-1375">
            <a:extLst>
              <a:ext uri="{FF2B5EF4-FFF2-40B4-BE49-F238E27FC236}">
                <a16:creationId xmlns:a16="http://schemas.microsoft.com/office/drawing/2014/main" id="{862C92F5-2AB4-435D-ADDD-50F2DC754350}"/>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dirty="0">
                <a:solidFill>
                  <a:srgbClr val="141414"/>
                </a:solidFill>
                <a:latin typeface="Bahnschrift"/>
                <a:ea typeface="Bahnschrift"/>
                <a:cs typeface="Bahnschrift"/>
              </a:rPr>
              <a:t>What should happen to the named extension features?</a:t>
            </a:r>
          </a:p>
        </p:txBody>
      </p:sp>
      <p:sp>
        <p:nvSpPr>
          <p:cNvPr id="6" name="text-1376">
            <a:extLst>
              <a:ext uri="{FF2B5EF4-FFF2-40B4-BE49-F238E27FC236}">
                <a16:creationId xmlns:a16="http://schemas.microsoft.com/office/drawing/2014/main" id="{2236D123-2606-4E8A-A8D3-75E0A04284F6}"/>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A0522D"/>
                </a:solidFill>
                <a:latin typeface="Bahnschrift"/>
                <a:ea typeface="Bahnschrift"/>
                <a:cs typeface="Bahnschrift"/>
              </a:defRPr>
            </a:pPr>
            <a:r>
              <a:rPr sz="1050" b="1">
                <a:solidFill>
                  <a:srgbClr val="A0522D"/>
                </a:solidFill>
                <a:latin typeface="Bahnschrift"/>
                <a:ea typeface="Bahnschrift"/>
                <a:cs typeface="Bahnschrift"/>
              </a:rPr>
              <a:t>SYSTEM IMPACT</a:t>
            </a:r>
          </a:p>
        </p:txBody>
      </p:sp>
      <p:sp>
        <p:nvSpPr>
          <p:cNvPr id="7" name="text-1377">
            <a:extLst>
              <a:ext uri="{FF2B5EF4-FFF2-40B4-BE49-F238E27FC236}">
                <a16:creationId xmlns:a16="http://schemas.microsoft.com/office/drawing/2014/main" id="{3ADB8410-BD6C-4BE0-A6F6-D9A0AE55AA58}"/>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Protects the launch scope from subscriptions, loyalty and adjacent products.</a:t>
            </a:r>
          </a:p>
        </p:txBody>
      </p:sp>
      <p:sp>
        <p:nvSpPr>
          <p:cNvPr id="8" name="rect-1378">
            <a:extLst>
              <a:ext uri="{FF2B5EF4-FFF2-40B4-BE49-F238E27FC236}">
                <a16:creationId xmlns:a16="http://schemas.microsoft.com/office/drawing/2014/main" id="{4C073AF2-53AA-447F-87C0-D5E1ADA4092A}"/>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379">
            <a:extLst>
              <a:ext uri="{FF2B5EF4-FFF2-40B4-BE49-F238E27FC236}">
                <a16:creationId xmlns:a16="http://schemas.microsoft.com/office/drawing/2014/main" id="{590A4CDE-4423-4DE7-8037-DBB623A79D95}"/>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380">
            <a:extLst>
              <a:ext uri="{FF2B5EF4-FFF2-40B4-BE49-F238E27FC236}">
                <a16:creationId xmlns:a16="http://schemas.microsoft.com/office/drawing/2014/main" id="{857B0710-D2C9-4C99-BFA0-67A5BD76679D}"/>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381">
            <a:extLst>
              <a:ext uri="{FF2B5EF4-FFF2-40B4-BE49-F238E27FC236}">
                <a16:creationId xmlns:a16="http://schemas.microsoft.com/office/drawing/2014/main" id="{FC11F604-18FF-465D-B855-B6CE99EE1838}"/>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Defer all named extensions</a:t>
            </a:r>
          </a:p>
        </p:txBody>
      </p:sp>
      <p:sp>
        <p:nvSpPr>
          <p:cNvPr id="12" name="text-1382">
            <a:extLst>
              <a:ext uri="{FF2B5EF4-FFF2-40B4-BE49-F238E27FC236}">
                <a16:creationId xmlns:a16="http://schemas.microsoft.com/office/drawing/2014/main" id="{24358132-89C3-45A0-8723-5BDFF7228935}"/>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383">
            <a:extLst>
              <a:ext uri="{FF2B5EF4-FFF2-40B4-BE49-F238E27FC236}">
                <a16:creationId xmlns:a16="http://schemas.microsoft.com/office/drawing/2014/main" id="{ECCBF426-18D1-4789-9A76-2E7D6D597BB3}"/>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384">
            <a:extLst>
              <a:ext uri="{FF2B5EF4-FFF2-40B4-BE49-F238E27FC236}">
                <a16:creationId xmlns:a16="http://schemas.microsoft.com/office/drawing/2014/main" id="{788AD784-3304-450D-A4C6-792B0B9EF8A3}"/>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385">
            <a:extLst>
              <a:ext uri="{FF2B5EF4-FFF2-40B4-BE49-F238E27FC236}">
                <a16:creationId xmlns:a16="http://schemas.microsoft.com/office/drawing/2014/main" id="{BD5B92D6-6DBA-4DB4-B65B-5A01986F502E}"/>
              </a:ext>
            </a:extLst>
          </p:cNvPr>
          <p:cNvSpPr>
            <a:spLocks noGrp="1"/>
          </p:cNvSpPr>
          <p:nvPr/>
        </p:nvSpPr>
        <p:spPr>
          <a:xfrm>
            <a:off x="647700" y="3219450"/>
            <a:ext cx="114300" cy="800100"/>
          </a:xfrm>
          <a:prstGeom prst="rect">
            <a:avLst/>
          </a:prstGeom>
          <a:solidFill>
            <a:srgbClr val="A0522D"/>
          </a:solidFill>
          <a:ln w="0">
            <a:noFill/>
            <a:prstDash val="solid"/>
          </a:ln>
        </p:spPr>
        <p:txBody>
          <a:bodyPr/>
          <a:lstStyle/>
          <a:p>
            <a:endParaRPr lang="en-US"/>
          </a:p>
        </p:txBody>
      </p:sp>
      <p:sp>
        <p:nvSpPr>
          <p:cNvPr id="16" name="text-1386">
            <a:extLst>
              <a:ext uri="{FF2B5EF4-FFF2-40B4-BE49-F238E27FC236}">
                <a16:creationId xmlns:a16="http://schemas.microsoft.com/office/drawing/2014/main" id="{B6C56F43-2FF8-4561-A7C3-618E516F370E}"/>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387">
            <a:extLst>
              <a:ext uri="{FF2B5EF4-FFF2-40B4-BE49-F238E27FC236}">
                <a16:creationId xmlns:a16="http://schemas.microsoft.com/office/drawing/2014/main" id="{FC236FDB-2258-4F8A-9FF6-4785C0117906}"/>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Add loyalty points to v1</a:t>
            </a:r>
          </a:p>
        </p:txBody>
      </p:sp>
      <p:sp>
        <p:nvSpPr>
          <p:cNvPr id="18" name="text-1388">
            <a:extLst>
              <a:ext uri="{FF2B5EF4-FFF2-40B4-BE49-F238E27FC236}">
                <a16:creationId xmlns:a16="http://schemas.microsoft.com/office/drawing/2014/main" id="{5A84E97A-2BE9-4FF1-985C-83B666DAC5C3}"/>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389">
            <a:extLst>
              <a:ext uri="{FF2B5EF4-FFF2-40B4-BE49-F238E27FC236}">
                <a16:creationId xmlns:a16="http://schemas.microsoft.com/office/drawing/2014/main" id="{19B0AE8A-EA5E-4EBD-AB50-19F36156295F}"/>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390">
            <a:extLst>
              <a:ext uri="{FF2B5EF4-FFF2-40B4-BE49-F238E27FC236}">
                <a16:creationId xmlns:a16="http://schemas.microsoft.com/office/drawing/2014/main" id="{1E99C554-BE5E-4042-9B94-30C4AD0A7F09}"/>
              </a:ext>
            </a:extLst>
          </p:cNvPr>
          <p:cNvSpPr>
            <a:spLocks noGrp="1"/>
          </p:cNvSpPr>
          <p:nvPr/>
        </p:nvSpPr>
        <p:spPr>
          <a:xfrm>
            <a:off x="647700" y="4171950"/>
            <a:ext cx="114300" cy="800100"/>
          </a:xfrm>
          <a:prstGeom prst="rect">
            <a:avLst/>
          </a:prstGeom>
          <a:solidFill>
            <a:srgbClr val="A0522D"/>
          </a:solidFill>
          <a:ln w="0">
            <a:noFill/>
            <a:prstDash val="solid"/>
          </a:ln>
        </p:spPr>
        <p:txBody>
          <a:bodyPr/>
          <a:lstStyle/>
          <a:p>
            <a:endParaRPr lang="en-US"/>
          </a:p>
        </p:txBody>
      </p:sp>
      <p:sp>
        <p:nvSpPr>
          <p:cNvPr id="21" name="text-1391">
            <a:extLst>
              <a:ext uri="{FF2B5EF4-FFF2-40B4-BE49-F238E27FC236}">
                <a16:creationId xmlns:a16="http://schemas.microsoft.com/office/drawing/2014/main" id="{FAF390FF-23BD-4111-AB40-BE00C54D85F9}"/>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392">
            <a:extLst>
              <a:ext uri="{FF2B5EF4-FFF2-40B4-BE49-F238E27FC236}">
                <a16:creationId xmlns:a16="http://schemas.microsoft.com/office/drawing/2014/main" id="{E13241F4-BA5B-45BD-8245-B3D0FFA92886}"/>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Add subscriptions to v1</a:t>
            </a:r>
          </a:p>
        </p:txBody>
      </p:sp>
      <p:sp>
        <p:nvSpPr>
          <p:cNvPr id="23" name="text-1393">
            <a:extLst>
              <a:ext uri="{FF2B5EF4-FFF2-40B4-BE49-F238E27FC236}">
                <a16:creationId xmlns:a16="http://schemas.microsoft.com/office/drawing/2014/main" id="{988C5F3C-4DD3-475D-8E4A-EF05D58E32A8}"/>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394">
            <a:extLst>
              <a:ext uri="{FF2B5EF4-FFF2-40B4-BE49-F238E27FC236}">
                <a16:creationId xmlns:a16="http://schemas.microsoft.com/office/drawing/2014/main" id="{096AF2B0-358A-42CA-B3D2-75E6238405BF}"/>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395">
            <a:extLst>
              <a:ext uri="{FF2B5EF4-FFF2-40B4-BE49-F238E27FC236}">
                <a16:creationId xmlns:a16="http://schemas.microsoft.com/office/drawing/2014/main" id="{3717ED42-BB99-4A0B-B6B0-C62D0539FFD5}"/>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396">
            <a:extLst>
              <a:ext uri="{FF2B5EF4-FFF2-40B4-BE49-F238E27FC236}">
                <a16:creationId xmlns:a16="http://schemas.microsoft.com/office/drawing/2014/main" id="{BA458320-2C6A-4A8E-A442-AE7F07AA6905}"/>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397">
            <a:extLst>
              <a:ext uri="{FF2B5EF4-FFF2-40B4-BE49-F238E27FC236}">
                <a16:creationId xmlns:a16="http://schemas.microsoft.com/office/drawing/2014/main" id="{ED062D0E-40BD-4543-BDE1-3EB2ADC1BF38}"/>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398">
            <a:extLst>
              <a:ext uri="{FF2B5EF4-FFF2-40B4-BE49-F238E27FC236}">
                <a16:creationId xmlns:a16="http://schemas.microsoft.com/office/drawing/2014/main" id="{F4D65E0A-1D86-4531-B9A4-169B090AF4AE}"/>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399">
            <a:extLst>
              <a:ext uri="{FF2B5EF4-FFF2-40B4-BE49-F238E27FC236}">
                <a16:creationId xmlns:a16="http://schemas.microsoft.com/office/drawing/2014/main" id="{2E93A4EF-BDF2-41BF-80CC-C43A01F0135A}"/>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DATA, RELEASE &amp; SCOPE</a:t>
            </a:r>
          </a:p>
        </p:txBody>
      </p:sp>
      <p:sp>
        <p:nvSpPr>
          <p:cNvPr id="30" name="text-1400">
            <a:extLst>
              <a:ext uri="{FF2B5EF4-FFF2-40B4-BE49-F238E27FC236}">
                <a16:creationId xmlns:a16="http://schemas.microsoft.com/office/drawing/2014/main" id="{01D2522F-A39B-4861-9D25-7CD0ADD32511}"/>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Q48 / 49</a:t>
            </a:r>
          </a:p>
        </p:txBody>
      </p:sp>
    </p:spTree>
    <p:extLst>
      <p:ext uri="{BB962C8B-B14F-4D97-AF65-F5344CB8AC3E}">
        <p14:creationId xmlns:p14="http://schemas.microsoft.com/office/powerpoint/2010/main" val="979683765"/>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2EA"/>
        </a:solidFill>
        <a:effectLst/>
      </p:bgPr>
    </p:bg>
    <p:spTree>
      <p:nvGrpSpPr>
        <p:cNvPr id="1" name=""/>
        <p:cNvGrpSpPr/>
        <p:nvPr/>
      </p:nvGrpSpPr>
      <p:grpSpPr>
        <a:xfrm>
          <a:off x="0" y="0"/>
          <a:ext cx="0" cy="0"/>
          <a:chOff x="0" y="0"/>
          <a:chExt cx="0" cy="0"/>
        </a:xfrm>
      </p:grpSpPr>
      <p:pic>
        <p:nvPicPr>
          <p:cNvPr id="31" name="Picture 30"/>
          <p:cNvPicPr>
            <a:picLocks noChangeAspect="1"/>
          </p:cNvPicPr>
          <p:nvPr/>
        </p:nvPicPr>
        <p:blipFill>
          <a:blip r:embed="rId4"/>
          <a:stretch/>
        </p:blipFill>
        <p:spPr>
          <a:xfrm>
            <a:off x="11029950" y="235890"/>
            <a:ext cx="476250" cy="461671"/>
          </a:xfrm>
          <a:prstGeom prst="rect">
            <a:avLst/>
          </a:prstGeom>
        </p:spPr>
      </p:pic>
      <p:sp>
        <p:nvSpPr>
          <p:cNvPr id="2" name="rect-1401">
            <a:extLst>
              <a:ext uri="{FF2B5EF4-FFF2-40B4-BE49-F238E27FC236}">
                <a16:creationId xmlns:a16="http://schemas.microsoft.com/office/drawing/2014/main" id="{93F664B0-1EDA-42E7-8B87-8FFF68112EDE}"/>
              </a:ext>
            </a:extLst>
          </p:cNvPr>
          <p:cNvSpPr>
            <a:spLocks noGrp="1"/>
          </p:cNvSpPr>
          <p:nvPr/>
        </p:nvSpPr>
        <p:spPr>
          <a:xfrm>
            <a:off x="647700" y="438150"/>
            <a:ext cx="104775" cy="247650"/>
          </a:xfrm>
          <a:prstGeom prst="rect">
            <a:avLst/>
          </a:prstGeom>
          <a:solidFill>
            <a:srgbClr val="A0522D"/>
          </a:solidFill>
          <a:ln w="0">
            <a:noFill/>
            <a:prstDash val="solid"/>
          </a:ln>
        </p:spPr>
        <p:txBody>
          <a:bodyPr/>
          <a:lstStyle/>
          <a:p>
            <a:endParaRPr lang="en-US"/>
          </a:p>
        </p:txBody>
      </p:sp>
      <p:sp>
        <p:nvSpPr>
          <p:cNvPr id="3" name="text-1402">
            <a:extLst>
              <a:ext uri="{FF2B5EF4-FFF2-40B4-BE49-F238E27FC236}">
                <a16:creationId xmlns:a16="http://schemas.microsoft.com/office/drawing/2014/main" id="{A2E87464-3CEB-40E6-B700-17B318B01690}"/>
              </a:ext>
            </a:extLst>
          </p:cNvPr>
          <p:cNvSpPr>
            <a:spLocks noGrp="1"/>
          </p:cNvSpPr>
          <p:nvPr/>
        </p:nvSpPr>
        <p:spPr>
          <a:xfrm>
            <a:off x="857250" y="438150"/>
            <a:ext cx="5334000" cy="247650"/>
          </a:xfrm>
          <a:prstGeom prst="rect">
            <a:avLst/>
          </a:prstGeom>
          <a:noFill/>
          <a:ln w="0">
            <a:noFill/>
            <a:prstDash val="solid"/>
          </a:ln>
        </p:spPr>
        <p:txBody>
          <a:bodyPr wrap="square" lIns="0" tIns="0" rIns="0" bIns="0" anchor="ctr">
            <a:noAutofit/>
          </a:bodyPr>
          <a:lstStyle/>
          <a:p>
            <a:pPr algn="l">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DATA, RELEASE &amp; SCOPE</a:t>
            </a:r>
          </a:p>
        </p:txBody>
      </p:sp>
      <p:sp>
        <p:nvSpPr>
          <p:cNvPr id="4" name="text-1403">
            <a:extLst>
              <a:ext uri="{FF2B5EF4-FFF2-40B4-BE49-F238E27FC236}">
                <a16:creationId xmlns:a16="http://schemas.microsoft.com/office/drawing/2014/main" id="{C070E720-8445-4C5B-9F7B-050A069F4A07}"/>
              </a:ext>
            </a:extLst>
          </p:cNvPr>
          <p:cNvSpPr>
            <a:spLocks noGrp="1"/>
          </p:cNvSpPr>
          <p:nvPr/>
        </p:nvSpPr>
        <p:spPr>
          <a:xfrm>
            <a:off x="9239250" y="466725"/>
            <a:ext cx="15240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DECISION Q49</a:t>
            </a:r>
          </a:p>
        </p:txBody>
      </p:sp>
      <p:sp>
        <p:nvSpPr>
          <p:cNvPr id="5" name="text-1404">
            <a:extLst>
              <a:ext uri="{FF2B5EF4-FFF2-40B4-BE49-F238E27FC236}">
                <a16:creationId xmlns:a16="http://schemas.microsoft.com/office/drawing/2014/main" id="{E21EFBE1-87C0-4D88-B84D-3A495A674A31}"/>
              </a:ext>
            </a:extLst>
          </p:cNvPr>
          <p:cNvSpPr>
            <a:spLocks noGrp="1"/>
          </p:cNvSpPr>
          <p:nvPr/>
        </p:nvSpPr>
        <p:spPr>
          <a:xfrm>
            <a:off x="647700" y="895350"/>
            <a:ext cx="10096500" cy="781050"/>
          </a:xfrm>
          <a:prstGeom prst="rect">
            <a:avLst/>
          </a:prstGeom>
          <a:noFill/>
          <a:ln w="0">
            <a:noFill/>
            <a:prstDash val="solid"/>
          </a:ln>
        </p:spPr>
        <p:txBody>
          <a:bodyPr wrap="square" lIns="0" tIns="0" rIns="0" bIns="0" anchor="ctr">
            <a:noAutofit/>
          </a:bodyPr>
          <a:lstStyle/>
          <a:p>
            <a:pPr algn="l">
              <a:defRPr sz="3000" b="1">
                <a:solidFill>
                  <a:srgbClr val="141414"/>
                </a:solidFill>
                <a:latin typeface="Bahnschrift"/>
                <a:ea typeface="Bahnschrift"/>
                <a:cs typeface="Bahnschrift"/>
              </a:defRPr>
            </a:pPr>
            <a:r>
              <a:rPr sz="3000" b="1">
                <a:solidFill>
                  <a:srgbClr val="141414"/>
                </a:solidFill>
                <a:latin typeface="Bahnschrift"/>
                <a:ea typeface="Bahnschrift"/>
                <a:cs typeface="Bahnschrift"/>
              </a:rPr>
              <a:t>Which metric should be the north star?</a:t>
            </a:r>
          </a:p>
        </p:txBody>
      </p:sp>
      <p:sp>
        <p:nvSpPr>
          <p:cNvPr id="6" name="text-1405">
            <a:extLst>
              <a:ext uri="{FF2B5EF4-FFF2-40B4-BE49-F238E27FC236}">
                <a16:creationId xmlns:a16="http://schemas.microsoft.com/office/drawing/2014/main" id="{41509B2B-A265-4941-BABE-17B489BB887C}"/>
              </a:ext>
            </a:extLst>
          </p:cNvPr>
          <p:cNvSpPr>
            <a:spLocks noGrp="1"/>
          </p:cNvSpPr>
          <p:nvPr/>
        </p:nvSpPr>
        <p:spPr>
          <a:xfrm>
            <a:off x="647700" y="1809750"/>
            <a:ext cx="1428750" cy="209550"/>
          </a:xfrm>
          <a:prstGeom prst="rect">
            <a:avLst/>
          </a:prstGeom>
          <a:noFill/>
          <a:ln w="0">
            <a:noFill/>
            <a:prstDash val="solid"/>
          </a:ln>
        </p:spPr>
        <p:txBody>
          <a:bodyPr wrap="square" lIns="0" tIns="0" rIns="0" bIns="0" anchor="t">
            <a:noAutofit/>
          </a:bodyPr>
          <a:lstStyle/>
          <a:p>
            <a:pPr algn="l">
              <a:defRPr sz="1050" b="1">
                <a:solidFill>
                  <a:srgbClr val="A0522D"/>
                </a:solidFill>
                <a:latin typeface="Bahnschrift"/>
                <a:ea typeface="Bahnschrift"/>
                <a:cs typeface="Bahnschrift"/>
              </a:defRPr>
            </a:pPr>
            <a:r>
              <a:rPr sz="1050" b="1">
                <a:solidFill>
                  <a:srgbClr val="A0522D"/>
                </a:solidFill>
                <a:latin typeface="Bahnschrift"/>
                <a:ea typeface="Bahnschrift"/>
                <a:cs typeface="Bahnschrift"/>
              </a:rPr>
              <a:t>SYSTEM IMPACT</a:t>
            </a:r>
          </a:p>
        </p:txBody>
      </p:sp>
      <p:sp>
        <p:nvSpPr>
          <p:cNvPr id="7" name="text-1406">
            <a:extLst>
              <a:ext uri="{FF2B5EF4-FFF2-40B4-BE49-F238E27FC236}">
                <a16:creationId xmlns:a16="http://schemas.microsoft.com/office/drawing/2014/main" id="{2F21776E-2080-4F3E-B326-37B1C01B93AA}"/>
              </a:ext>
            </a:extLst>
          </p:cNvPr>
          <p:cNvSpPr>
            <a:spLocks noGrp="1"/>
          </p:cNvSpPr>
          <p:nvPr/>
        </p:nvSpPr>
        <p:spPr>
          <a:xfrm>
            <a:off x="2171700" y="1771650"/>
            <a:ext cx="9239250" cy="285750"/>
          </a:xfrm>
          <a:prstGeom prst="rect">
            <a:avLst/>
          </a:prstGeom>
          <a:noFill/>
          <a:ln w="0">
            <a:noFill/>
            <a:prstDash val="solid"/>
          </a:ln>
        </p:spPr>
        <p:txBody>
          <a:bodyPr wrap="square" lIns="0" tIns="0" rIns="0" bIns="0" anchor="ctr">
            <a:noAutofit/>
          </a:bodyPr>
          <a:lstStyle/>
          <a:p>
            <a:pPr algn="l">
              <a:defRPr sz="1350" b="0">
                <a:solidFill>
                  <a:srgbClr val="6C6964"/>
                </a:solidFill>
                <a:latin typeface="Arial"/>
                <a:ea typeface="Arial"/>
                <a:cs typeface="Arial"/>
              </a:defRPr>
            </a:pPr>
            <a:r>
              <a:rPr sz="1350" b="0">
                <a:solidFill>
                  <a:srgbClr val="6C6964"/>
                </a:solidFill>
                <a:latin typeface="Arial"/>
                <a:ea typeface="Arial"/>
                <a:cs typeface="Arial"/>
              </a:rPr>
              <a:t>Determines executive reporting and optimization priorities.</a:t>
            </a:r>
          </a:p>
        </p:txBody>
      </p:sp>
      <p:sp>
        <p:nvSpPr>
          <p:cNvPr id="8" name="rect-1407">
            <a:extLst>
              <a:ext uri="{FF2B5EF4-FFF2-40B4-BE49-F238E27FC236}">
                <a16:creationId xmlns:a16="http://schemas.microsoft.com/office/drawing/2014/main" id="{F545B403-50D1-4533-9154-18154991ADDB}"/>
              </a:ext>
            </a:extLst>
          </p:cNvPr>
          <p:cNvSpPr>
            <a:spLocks noGrp="1"/>
          </p:cNvSpPr>
          <p:nvPr/>
        </p:nvSpPr>
        <p:spPr>
          <a:xfrm>
            <a:off x="647700" y="2266950"/>
            <a:ext cx="10896600" cy="800100"/>
          </a:xfrm>
          <a:prstGeom prst="rect">
            <a:avLst/>
          </a:prstGeom>
          <a:solidFill>
            <a:srgbClr val="DCEBDF"/>
          </a:solidFill>
          <a:ln w="19050">
            <a:solidFill>
              <a:srgbClr val="1D6B45"/>
            </a:solidFill>
            <a:prstDash val="solid"/>
          </a:ln>
        </p:spPr>
        <p:txBody>
          <a:bodyPr/>
          <a:lstStyle/>
          <a:p>
            <a:endParaRPr lang="en-US"/>
          </a:p>
        </p:txBody>
      </p:sp>
      <p:sp>
        <p:nvSpPr>
          <p:cNvPr id="9" name="rect-1408">
            <a:extLst>
              <a:ext uri="{FF2B5EF4-FFF2-40B4-BE49-F238E27FC236}">
                <a16:creationId xmlns:a16="http://schemas.microsoft.com/office/drawing/2014/main" id="{6FE7CBDB-C0CC-44ED-B85D-329A48078A31}"/>
              </a:ext>
            </a:extLst>
          </p:cNvPr>
          <p:cNvSpPr>
            <a:spLocks noGrp="1"/>
          </p:cNvSpPr>
          <p:nvPr/>
        </p:nvSpPr>
        <p:spPr>
          <a:xfrm>
            <a:off x="647700" y="2266950"/>
            <a:ext cx="114300" cy="800100"/>
          </a:xfrm>
          <a:prstGeom prst="rect">
            <a:avLst/>
          </a:prstGeom>
          <a:solidFill>
            <a:srgbClr val="1D6B45"/>
          </a:solidFill>
          <a:ln w="0">
            <a:noFill/>
            <a:prstDash val="solid"/>
          </a:ln>
        </p:spPr>
        <p:txBody>
          <a:bodyPr/>
          <a:lstStyle/>
          <a:p>
            <a:endParaRPr lang="en-US"/>
          </a:p>
        </p:txBody>
      </p:sp>
      <p:sp>
        <p:nvSpPr>
          <p:cNvPr id="10" name="text-1409">
            <a:extLst>
              <a:ext uri="{FF2B5EF4-FFF2-40B4-BE49-F238E27FC236}">
                <a16:creationId xmlns:a16="http://schemas.microsoft.com/office/drawing/2014/main" id="{1BD75424-DF59-4389-921F-7A64DABC92B0}"/>
              </a:ext>
            </a:extLst>
          </p:cNvPr>
          <p:cNvSpPr>
            <a:spLocks noGrp="1"/>
          </p:cNvSpPr>
          <p:nvPr/>
        </p:nvSpPr>
        <p:spPr>
          <a:xfrm>
            <a:off x="933450" y="2466975"/>
            <a:ext cx="438150" cy="400050"/>
          </a:xfrm>
          <a:prstGeom prst="rect">
            <a:avLst/>
          </a:prstGeom>
          <a:noFill/>
          <a:ln w="0">
            <a:noFill/>
            <a:prstDash val="solid"/>
          </a:ln>
        </p:spPr>
        <p:txBody>
          <a:bodyPr wrap="square" lIns="0" tIns="0" rIns="0" bIns="0" anchor="ctr">
            <a:noAutofit/>
          </a:bodyPr>
          <a:lstStyle/>
          <a:p>
            <a:pPr algn="l">
              <a:defRPr sz="2250" b="1">
                <a:solidFill>
                  <a:srgbClr val="1D6B45"/>
                </a:solidFill>
                <a:latin typeface="Bahnschrift"/>
                <a:ea typeface="Bahnschrift"/>
                <a:cs typeface="Bahnschrift"/>
              </a:defRPr>
            </a:pPr>
            <a:r>
              <a:rPr sz="2250" b="1">
                <a:solidFill>
                  <a:srgbClr val="1D6B45"/>
                </a:solidFill>
                <a:latin typeface="Bahnschrift"/>
                <a:ea typeface="Bahnschrift"/>
                <a:cs typeface="Bahnschrift"/>
              </a:rPr>
              <a:t>A</a:t>
            </a:r>
          </a:p>
        </p:txBody>
      </p:sp>
      <p:sp>
        <p:nvSpPr>
          <p:cNvPr id="11" name="text-1410">
            <a:extLst>
              <a:ext uri="{FF2B5EF4-FFF2-40B4-BE49-F238E27FC236}">
                <a16:creationId xmlns:a16="http://schemas.microsoft.com/office/drawing/2014/main" id="{9E7574C8-7EEF-4A95-840E-0CAB87D21081}"/>
              </a:ext>
            </a:extLst>
          </p:cNvPr>
          <p:cNvSpPr>
            <a:spLocks noGrp="1"/>
          </p:cNvSpPr>
          <p:nvPr/>
        </p:nvSpPr>
        <p:spPr>
          <a:xfrm>
            <a:off x="1524000" y="2438400"/>
            <a:ext cx="7334250" cy="476250"/>
          </a:xfrm>
          <a:prstGeom prst="rect">
            <a:avLst/>
          </a:prstGeom>
          <a:noFill/>
          <a:ln w="0">
            <a:noFill/>
            <a:prstDash val="solid"/>
          </a:ln>
        </p:spPr>
        <p:txBody>
          <a:bodyPr wrap="square" lIns="0" tIns="0" rIns="0" bIns="0" anchor="ctr">
            <a:noAutofit/>
          </a:bodyPr>
          <a:lstStyle/>
          <a:p>
            <a:pPr algn="l">
              <a:defRPr sz="1950" b="1">
                <a:solidFill>
                  <a:srgbClr val="141414"/>
                </a:solidFill>
                <a:latin typeface="Arial"/>
                <a:ea typeface="Arial"/>
                <a:cs typeface="Arial"/>
              </a:defRPr>
            </a:pPr>
            <a:r>
              <a:rPr sz="1950" b="1">
                <a:solidFill>
                  <a:srgbClr val="141414"/>
                </a:solidFill>
                <a:latin typeface="Arial"/>
                <a:ea typeface="Arial"/>
                <a:cs typeface="Arial"/>
              </a:rPr>
              <a:t>Delivered contribution</a:t>
            </a:r>
          </a:p>
        </p:txBody>
      </p:sp>
      <p:sp>
        <p:nvSpPr>
          <p:cNvPr id="12" name="text-1411">
            <a:extLst>
              <a:ext uri="{FF2B5EF4-FFF2-40B4-BE49-F238E27FC236}">
                <a16:creationId xmlns:a16="http://schemas.microsoft.com/office/drawing/2014/main" id="{28EEC19C-AC39-411E-ADE4-714BCC79EF4B}"/>
              </a:ext>
            </a:extLst>
          </p:cNvPr>
          <p:cNvSpPr>
            <a:spLocks noGrp="1"/>
          </p:cNvSpPr>
          <p:nvPr/>
        </p:nvSpPr>
        <p:spPr>
          <a:xfrm>
            <a:off x="9096375" y="2533650"/>
            <a:ext cx="2095500" cy="266700"/>
          </a:xfrm>
          <a:prstGeom prst="rect">
            <a:avLst/>
          </a:prstGeom>
          <a:noFill/>
          <a:ln w="0">
            <a:noFill/>
            <a:prstDash val="solid"/>
          </a:ln>
        </p:spPr>
        <p:txBody>
          <a:bodyPr wrap="square" lIns="0" tIns="0" rIns="0" bIns="0" anchor="t">
            <a:noAutofit/>
          </a:bodyPr>
          <a:lstStyle/>
          <a:p>
            <a:pPr algn="r">
              <a:defRPr sz="1125" b="1">
                <a:solidFill>
                  <a:srgbClr val="1D6B45"/>
                </a:solidFill>
                <a:latin typeface="Bahnschrift"/>
                <a:ea typeface="Bahnschrift"/>
                <a:cs typeface="Bahnschrift"/>
              </a:defRPr>
            </a:pPr>
            <a:r>
              <a:rPr sz="1125" b="1">
                <a:solidFill>
                  <a:srgbClr val="1D6B45"/>
                </a:solidFill>
                <a:latin typeface="Bahnschrift"/>
                <a:ea typeface="Bahnschrift"/>
                <a:cs typeface="Bahnschrift"/>
              </a:rPr>
              <a:t>CURRENT PRD DIRECTION</a:t>
            </a:r>
          </a:p>
        </p:txBody>
      </p:sp>
      <p:sp>
        <p:nvSpPr>
          <p:cNvPr id="13" name="text-1412">
            <a:extLst>
              <a:ext uri="{FF2B5EF4-FFF2-40B4-BE49-F238E27FC236}">
                <a16:creationId xmlns:a16="http://schemas.microsoft.com/office/drawing/2014/main" id="{54F52D97-6F7E-4FB5-A4B8-18A9B1165C96}"/>
              </a:ext>
            </a:extLst>
          </p:cNvPr>
          <p:cNvSpPr>
            <a:spLocks noGrp="1"/>
          </p:cNvSpPr>
          <p:nvPr/>
        </p:nvSpPr>
        <p:spPr>
          <a:xfrm>
            <a:off x="11163300" y="2447925"/>
            <a:ext cx="304800" cy="400050"/>
          </a:xfrm>
          <a:prstGeom prst="rect">
            <a:avLst/>
          </a:prstGeom>
          <a:noFill/>
          <a:ln w="0">
            <a:noFill/>
            <a:prstDash val="solid"/>
          </a:ln>
        </p:spPr>
        <p:txBody>
          <a:bodyPr wrap="square" lIns="0" tIns="0" rIns="0" bIns="0" anchor="t">
            <a:noAutofit/>
          </a:bodyPr>
          <a:lstStyle/>
          <a:p>
            <a:pPr algn="r">
              <a:defRPr sz="2250" b="1">
                <a:solidFill>
                  <a:srgbClr val="1D6B45"/>
                </a:solidFill>
                <a:latin typeface="Arial"/>
                <a:ea typeface="Arial"/>
                <a:cs typeface="Arial"/>
              </a:defRPr>
            </a:pPr>
            <a:r>
              <a:rPr sz="2250" b="1">
                <a:solidFill>
                  <a:srgbClr val="1D6B45"/>
                </a:solidFill>
                <a:latin typeface="Arial"/>
                <a:ea typeface="Arial"/>
                <a:cs typeface="Arial"/>
              </a:rPr>
              <a:t>✓</a:t>
            </a:r>
          </a:p>
        </p:txBody>
      </p:sp>
      <p:sp>
        <p:nvSpPr>
          <p:cNvPr id="14" name="rect-1413">
            <a:extLst>
              <a:ext uri="{FF2B5EF4-FFF2-40B4-BE49-F238E27FC236}">
                <a16:creationId xmlns:a16="http://schemas.microsoft.com/office/drawing/2014/main" id="{438C43B0-08E7-4567-949B-339B74D4E590}"/>
              </a:ext>
            </a:extLst>
          </p:cNvPr>
          <p:cNvSpPr>
            <a:spLocks noGrp="1"/>
          </p:cNvSpPr>
          <p:nvPr/>
        </p:nvSpPr>
        <p:spPr>
          <a:xfrm>
            <a:off x="647700" y="3219450"/>
            <a:ext cx="10896600" cy="800100"/>
          </a:xfrm>
          <a:prstGeom prst="rect">
            <a:avLst/>
          </a:prstGeom>
          <a:solidFill>
            <a:srgbClr val="FFFFFF"/>
          </a:solidFill>
          <a:ln w="9525">
            <a:solidFill>
              <a:srgbClr val="D8D1C5"/>
            </a:solidFill>
            <a:prstDash val="solid"/>
          </a:ln>
        </p:spPr>
        <p:txBody>
          <a:bodyPr/>
          <a:lstStyle/>
          <a:p>
            <a:endParaRPr lang="en-US"/>
          </a:p>
        </p:txBody>
      </p:sp>
      <p:sp>
        <p:nvSpPr>
          <p:cNvPr id="15" name="rect-1414">
            <a:extLst>
              <a:ext uri="{FF2B5EF4-FFF2-40B4-BE49-F238E27FC236}">
                <a16:creationId xmlns:a16="http://schemas.microsoft.com/office/drawing/2014/main" id="{4D74DE33-4F2D-4655-AD63-CCC9D2AA7368}"/>
              </a:ext>
            </a:extLst>
          </p:cNvPr>
          <p:cNvSpPr>
            <a:spLocks noGrp="1"/>
          </p:cNvSpPr>
          <p:nvPr/>
        </p:nvSpPr>
        <p:spPr>
          <a:xfrm>
            <a:off x="647700" y="3219450"/>
            <a:ext cx="114300" cy="800100"/>
          </a:xfrm>
          <a:prstGeom prst="rect">
            <a:avLst/>
          </a:prstGeom>
          <a:solidFill>
            <a:srgbClr val="A0522D"/>
          </a:solidFill>
          <a:ln w="0">
            <a:noFill/>
            <a:prstDash val="solid"/>
          </a:ln>
        </p:spPr>
        <p:txBody>
          <a:bodyPr/>
          <a:lstStyle/>
          <a:p>
            <a:endParaRPr lang="en-US"/>
          </a:p>
        </p:txBody>
      </p:sp>
      <p:sp>
        <p:nvSpPr>
          <p:cNvPr id="16" name="text-1415">
            <a:extLst>
              <a:ext uri="{FF2B5EF4-FFF2-40B4-BE49-F238E27FC236}">
                <a16:creationId xmlns:a16="http://schemas.microsoft.com/office/drawing/2014/main" id="{7185EC9E-F092-4F0E-A130-CBD40FF56CBD}"/>
              </a:ext>
            </a:extLst>
          </p:cNvPr>
          <p:cNvSpPr>
            <a:spLocks noGrp="1"/>
          </p:cNvSpPr>
          <p:nvPr/>
        </p:nvSpPr>
        <p:spPr>
          <a:xfrm>
            <a:off x="933450" y="34194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B</a:t>
            </a:r>
          </a:p>
        </p:txBody>
      </p:sp>
      <p:sp>
        <p:nvSpPr>
          <p:cNvPr id="17" name="text-1416">
            <a:extLst>
              <a:ext uri="{FF2B5EF4-FFF2-40B4-BE49-F238E27FC236}">
                <a16:creationId xmlns:a16="http://schemas.microsoft.com/office/drawing/2014/main" id="{356C9FA0-4202-489C-93CA-CF685279482C}"/>
              </a:ext>
            </a:extLst>
          </p:cNvPr>
          <p:cNvSpPr>
            <a:spLocks noGrp="1"/>
          </p:cNvSpPr>
          <p:nvPr/>
        </p:nvSpPr>
        <p:spPr>
          <a:xfrm>
            <a:off x="1524000" y="33909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Conversion rate and average order value</a:t>
            </a:r>
          </a:p>
        </p:txBody>
      </p:sp>
      <p:sp>
        <p:nvSpPr>
          <p:cNvPr id="18" name="text-1417">
            <a:extLst>
              <a:ext uri="{FF2B5EF4-FFF2-40B4-BE49-F238E27FC236}">
                <a16:creationId xmlns:a16="http://schemas.microsoft.com/office/drawing/2014/main" id="{D6921567-55B3-4DB0-9992-1F8EDAA4B48A}"/>
              </a:ext>
            </a:extLst>
          </p:cNvPr>
          <p:cNvSpPr>
            <a:spLocks noGrp="1"/>
          </p:cNvSpPr>
          <p:nvPr/>
        </p:nvSpPr>
        <p:spPr>
          <a:xfrm>
            <a:off x="9096375" y="34861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19" name="rect-1418">
            <a:extLst>
              <a:ext uri="{FF2B5EF4-FFF2-40B4-BE49-F238E27FC236}">
                <a16:creationId xmlns:a16="http://schemas.microsoft.com/office/drawing/2014/main" id="{BE514C62-B7F4-4E1F-98FC-B87D28B9FE1B}"/>
              </a:ext>
            </a:extLst>
          </p:cNvPr>
          <p:cNvSpPr>
            <a:spLocks noGrp="1"/>
          </p:cNvSpPr>
          <p:nvPr/>
        </p:nvSpPr>
        <p:spPr>
          <a:xfrm>
            <a:off x="647700" y="4171950"/>
            <a:ext cx="10896600" cy="800100"/>
          </a:xfrm>
          <a:prstGeom prst="rect">
            <a:avLst/>
          </a:prstGeom>
          <a:solidFill>
            <a:srgbClr val="FFFFFF"/>
          </a:solidFill>
          <a:ln w="9525">
            <a:solidFill>
              <a:srgbClr val="D8D1C5"/>
            </a:solidFill>
            <a:prstDash val="solid"/>
          </a:ln>
        </p:spPr>
        <p:txBody>
          <a:bodyPr/>
          <a:lstStyle/>
          <a:p>
            <a:endParaRPr lang="en-US"/>
          </a:p>
        </p:txBody>
      </p:sp>
      <p:sp>
        <p:nvSpPr>
          <p:cNvPr id="20" name="rect-1419">
            <a:extLst>
              <a:ext uri="{FF2B5EF4-FFF2-40B4-BE49-F238E27FC236}">
                <a16:creationId xmlns:a16="http://schemas.microsoft.com/office/drawing/2014/main" id="{A2A61330-9F26-4575-9E39-571612B6F33C}"/>
              </a:ext>
            </a:extLst>
          </p:cNvPr>
          <p:cNvSpPr>
            <a:spLocks noGrp="1"/>
          </p:cNvSpPr>
          <p:nvPr/>
        </p:nvSpPr>
        <p:spPr>
          <a:xfrm>
            <a:off x="647700" y="4171950"/>
            <a:ext cx="114300" cy="800100"/>
          </a:xfrm>
          <a:prstGeom prst="rect">
            <a:avLst/>
          </a:prstGeom>
          <a:solidFill>
            <a:srgbClr val="A0522D"/>
          </a:solidFill>
          <a:ln w="0">
            <a:noFill/>
            <a:prstDash val="solid"/>
          </a:ln>
        </p:spPr>
        <p:txBody>
          <a:bodyPr/>
          <a:lstStyle/>
          <a:p>
            <a:endParaRPr lang="en-US"/>
          </a:p>
        </p:txBody>
      </p:sp>
      <p:sp>
        <p:nvSpPr>
          <p:cNvPr id="21" name="text-1420">
            <a:extLst>
              <a:ext uri="{FF2B5EF4-FFF2-40B4-BE49-F238E27FC236}">
                <a16:creationId xmlns:a16="http://schemas.microsoft.com/office/drawing/2014/main" id="{1F152C75-85D5-41B6-9E78-64F3D9E380F5}"/>
              </a:ext>
            </a:extLst>
          </p:cNvPr>
          <p:cNvSpPr>
            <a:spLocks noGrp="1"/>
          </p:cNvSpPr>
          <p:nvPr/>
        </p:nvSpPr>
        <p:spPr>
          <a:xfrm>
            <a:off x="933450" y="4371975"/>
            <a:ext cx="438150" cy="400050"/>
          </a:xfrm>
          <a:prstGeom prst="rect">
            <a:avLst/>
          </a:prstGeom>
          <a:noFill/>
          <a:ln w="0">
            <a:noFill/>
            <a:prstDash val="solid"/>
          </a:ln>
        </p:spPr>
        <p:txBody>
          <a:bodyPr wrap="square" lIns="0" tIns="0" rIns="0" bIns="0" anchor="ctr">
            <a:noAutofit/>
          </a:bodyPr>
          <a:lstStyle/>
          <a:p>
            <a:pPr algn="l">
              <a:defRPr sz="2250" b="1">
                <a:solidFill>
                  <a:srgbClr val="141414"/>
                </a:solidFill>
                <a:latin typeface="Bahnschrift"/>
                <a:ea typeface="Bahnschrift"/>
                <a:cs typeface="Bahnschrift"/>
              </a:defRPr>
            </a:pPr>
            <a:r>
              <a:rPr sz="2250" b="1">
                <a:solidFill>
                  <a:srgbClr val="141414"/>
                </a:solidFill>
                <a:latin typeface="Bahnschrift"/>
                <a:ea typeface="Bahnschrift"/>
                <a:cs typeface="Bahnschrift"/>
              </a:rPr>
              <a:t>C</a:t>
            </a:r>
          </a:p>
        </p:txBody>
      </p:sp>
      <p:sp>
        <p:nvSpPr>
          <p:cNvPr id="22" name="text-1421">
            <a:extLst>
              <a:ext uri="{FF2B5EF4-FFF2-40B4-BE49-F238E27FC236}">
                <a16:creationId xmlns:a16="http://schemas.microsoft.com/office/drawing/2014/main" id="{9967B493-7B4F-47C9-B149-CDED3B23248C}"/>
              </a:ext>
            </a:extLst>
          </p:cNvPr>
          <p:cNvSpPr>
            <a:spLocks noGrp="1"/>
          </p:cNvSpPr>
          <p:nvPr/>
        </p:nvSpPr>
        <p:spPr>
          <a:xfrm>
            <a:off x="1524000" y="4343400"/>
            <a:ext cx="7334250" cy="476250"/>
          </a:xfrm>
          <a:prstGeom prst="rect">
            <a:avLst/>
          </a:prstGeom>
          <a:noFill/>
          <a:ln w="0">
            <a:noFill/>
            <a:prstDash val="solid"/>
          </a:ln>
        </p:spPr>
        <p:txBody>
          <a:bodyPr wrap="square" lIns="0" tIns="0" rIns="0" bIns="0" anchor="ctr">
            <a:noAutofit/>
          </a:bodyPr>
          <a:lstStyle/>
          <a:p>
            <a:pPr algn="l">
              <a:defRPr sz="1950" b="0">
                <a:solidFill>
                  <a:srgbClr val="141414"/>
                </a:solidFill>
                <a:latin typeface="Arial"/>
                <a:ea typeface="Arial"/>
                <a:cs typeface="Arial"/>
              </a:defRPr>
            </a:pPr>
            <a:r>
              <a:rPr sz="1950" b="0">
                <a:solidFill>
                  <a:srgbClr val="141414"/>
                </a:solidFill>
                <a:latin typeface="Arial"/>
                <a:ea typeface="Arial"/>
                <a:cs typeface="Arial"/>
              </a:rPr>
              <a:t>Gross revenue</a:t>
            </a:r>
          </a:p>
        </p:txBody>
      </p:sp>
      <p:sp>
        <p:nvSpPr>
          <p:cNvPr id="23" name="text-1422">
            <a:extLst>
              <a:ext uri="{FF2B5EF4-FFF2-40B4-BE49-F238E27FC236}">
                <a16:creationId xmlns:a16="http://schemas.microsoft.com/office/drawing/2014/main" id="{0036BE4C-C24F-403B-AFCE-20B1CBE22D09}"/>
              </a:ext>
            </a:extLst>
          </p:cNvPr>
          <p:cNvSpPr>
            <a:spLocks noGrp="1"/>
          </p:cNvSpPr>
          <p:nvPr/>
        </p:nvSpPr>
        <p:spPr>
          <a:xfrm>
            <a:off x="9096375" y="4438650"/>
            <a:ext cx="2095500" cy="266700"/>
          </a:xfrm>
          <a:prstGeom prst="rect">
            <a:avLst/>
          </a:prstGeom>
          <a:noFill/>
          <a:ln w="0">
            <a:noFill/>
            <a:prstDash val="solid"/>
          </a:ln>
        </p:spPr>
        <p:txBody>
          <a:bodyPr wrap="square" lIns="0" tIns="0" rIns="0" bIns="0" anchor="t">
            <a:noAutofit/>
          </a:bodyPr>
          <a:lstStyle/>
          <a:p>
            <a:pPr algn="r">
              <a:defRPr sz="1125" b="1">
                <a:solidFill>
                  <a:srgbClr val="6C6964"/>
                </a:solidFill>
                <a:latin typeface="Bahnschrift"/>
                <a:ea typeface="Bahnschrift"/>
                <a:cs typeface="Bahnschrift"/>
              </a:defRPr>
            </a:pPr>
            <a:r>
              <a:rPr sz="1125" b="1">
                <a:solidFill>
                  <a:srgbClr val="6C6964"/>
                </a:solidFill>
                <a:latin typeface="Bahnschrift"/>
                <a:ea typeface="Bahnschrift"/>
                <a:cs typeface="Bahnschrift"/>
              </a:rPr>
              <a:t>ALTERNATIVE</a:t>
            </a:r>
          </a:p>
        </p:txBody>
      </p:sp>
      <p:sp>
        <p:nvSpPr>
          <p:cNvPr id="24" name="text-1423">
            <a:extLst>
              <a:ext uri="{FF2B5EF4-FFF2-40B4-BE49-F238E27FC236}">
                <a16:creationId xmlns:a16="http://schemas.microsoft.com/office/drawing/2014/main" id="{3E312328-32FA-429E-8F9B-17C57246642D}"/>
              </a:ext>
            </a:extLst>
          </p:cNvPr>
          <p:cNvSpPr>
            <a:spLocks noGrp="1"/>
          </p:cNvSpPr>
          <p:nvPr/>
        </p:nvSpPr>
        <p:spPr>
          <a:xfrm>
            <a:off x="647700" y="5295900"/>
            <a:ext cx="1714500" cy="228600"/>
          </a:xfrm>
          <a:prstGeom prst="rect">
            <a:avLst/>
          </a:prstGeom>
          <a:noFill/>
          <a:ln w="0">
            <a:noFill/>
            <a:prstDash val="solid"/>
          </a:ln>
        </p:spPr>
        <p:txBody>
          <a:bodyPr wrap="square" lIns="0" tIns="0" rIns="0" bIns="0" anchor="t">
            <a:noAutofit/>
          </a:bodyPr>
          <a:lstStyle/>
          <a:p>
            <a:pPr algn="l">
              <a:defRPr sz="1125" b="1">
                <a:solidFill>
                  <a:srgbClr val="141414"/>
                </a:solidFill>
                <a:latin typeface="Bahnschrift"/>
                <a:ea typeface="Bahnschrift"/>
                <a:cs typeface="Bahnschrift"/>
              </a:defRPr>
            </a:pPr>
            <a:r>
              <a:rPr sz="1125" b="1">
                <a:solidFill>
                  <a:srgbClr val="141414"/>
                </a:solidFill>
                <a:latin typeface="Bahnschrift"/>
                <a:ea typeface="Bahnschrift"/>
                <a:cs typeface="Bahnschrift"/>
              </a:rPr>
              <a:t>LEADER RESPONSE</a:t>
            </a:r>
          </a:p>
        </p:txBody>
      </p:sp>
      <p:sp>
        <p:nvSpPr>
          <p:cNvPr id="25" name="text-1424">
            <a:extLst>
              <a:ext uri="{FF2B5EF4-FFF2-40B4-BE49-F238E27FC236}">
                <a16:creationId xmlns:a16="http://schemas.microsoft.com/office/drawing/2014/main" id="{94D50587-89C1-4296-BF67-13101F9FF79F}"/>
              </a:ext>
            </a:extLst>
          </p:cNvPr>
          <p:cNvSpPr>
            <a:spLocks noGrp="1"/>
          </p:cNvSpPr>
          <p:nvPr/>
        </p:nvSpPr>
        <p:spPr>
          <a:xfrm>
            <a:off x="2457450" y="5257800"/>
            <a:ext cx="7239000" cy="304800"/>
          </a:xfrm>
          <a:prstGeom prst="rect">
            <a:avLst/>
          </a:prstGeom>
          <a:noFill/>
          <a:ln w="0">
            <a:noFill/>
            <a:prstDash val="solid"/>
          </a:ln>
        </p:spPr>
        <p:txBody>
          <a:bodyPr wrap="square" lIns="0" tIns="0" rIns="0" bIns="0" anchor="t">
            <a:noAutofit/>
          </a:bodyPr>
          <a:lstStyle/>
          <a:p>
            <a:pPr algn="l">
              <a:defRPr sz="1425" b="1">
                <a:solidFill>
                  <a:srgbClr val="141414"/>
                </a:solidFill>
                <a:latin typeface="Bahnschrift"/>
                <a:ea typeface="Bahnschrift"/>
                <a:cs typeface="Bahnschrift"/>
              </a:defRPr>
            </a:pPr>
            <a:r>
              <a:rPr sz="1425" b="1">
                <a:solidFill>
                  <a:srgbClr val="141414"/>
                </a:solidFill>
                <a:latin typeface="Bahnschrift"/>
                <a:ea typeface="Bahnschrift"/>
                <a:cs typeface="Bahnschrift"/>
              </a:rPr>
              <a:t>□ APPROVE A     □ SELECT B     □ SELECT C     □ DISCUSS</a:t>
            </a:r>
          </a:p>
        </p:txBody>
      </p:sp>
      <p:sp>
        <p:nvSpPr>
          <p:cNvPr id="26" name="text-1425">
            <a:extLst>
              <a:ext uri="{FF2B5EF4-FFF2-40B4-BE49-F238E27FC236}">
                <a16:creationId xmlns:a16="http://schemas.microsoft.com/office/drawing/2014/main" id="{F72DBD30-A46D-45B1-AFC5-81E5FA298DD1}"/>
              </a:ext>
            </a:extLst>
          </p:cNvPr>
          <p:cNvSpPr>
            <a:spLocks noGrp="1"/>
          </p:cNvSpPr>
          <p:nvPr/>
        </p:nvSpPr>
        <p:spPr>
          <a:xfrm>
            <a:off x="647700" y="5772150"/>
            <a:ext cx="1428750" cy="209550"/>
          </a:xfrm>
          <a:prstGeom prst="rect">
            <a:avLst/>
          </a:prstGeom>
          <a:noFill/>
          <a:ln w="0">
            <a:noFill/>
            <a:prstDash val="solid"/>
          </a:ln>
        </p:spPr>
        <p:txBody>
          <a:bodyPr wrap="square" lIns="0" tIns="0" rIns="0" bIns="0" anchor="t">
            <a:noAutofit/>
          </a:bodyPr>
          <a:lstStyle/>
          <a:p>
            <a:pPr algn="l">
              <a:defRPr sz="1200" b="0">
                <a:solidFill>
                  <a:srgbClr val="6C6964"/>
                </a:solidFill>
                <a:latin typeface="Arial"/>
                <a:ea typeface="Arial"/>
                <a:cs typeface="Arial"/>
              </a:defRPr>
            </a:pPr>
            <a:r>
              <a:rPr sz="1200" b="0">
                <a:solidFill>
                  <a:srgbClr val="6C6964"/>
                </a:solidFill>
                <a:latin typeface="Arial"/>
                <a:ea typeface="Arial"/>
                <a:cs typeface="Arial"/>
              </a:rPr>
              <a:t>Owner / note:</a:t>
            </a:r>
          </a:p>
        </p:txBody>
      </p:sp>
      <p:sp>
        <p:nvSpPr>
          <p:cNvPr id="27" name="line-1426">
            <a:extLst>
              <a:ext uri="{FF2B5EF4-FFF2-40B4-BE49-F238E27FC236}">
                <a16:creationId xmlns:a16="http://schemas.microsoft.com/office/drawing/2014/main" id="{D01AA9ED-3191-4049-B5ED-3D01DD7A2EE9}"/>
              </a:ext>
            </a:extLst>
          </p:cNvPr>
          <p:cNvSpPr>
            <a:spLocks noGrp="1"/>
          </p:cNvSpPr>
          <p:nvPr/>
        </p:nvSpPr>
        <p:spPr>
          <a:xfrm>
            <a:off x="1743075" y="5972175"/>
            <a:ext cx="7810500" cy="0"/>
          </a:xfrm>
          <a:prstGeom prst="line">
            <a:avLst/>
          </a:prstGeom>
          <a:noFill/>
          <a:ln w="9525">
            <a:solidFill>
              <a:srgbClr val="D8D1C5"/>
            </a:solidFill>
            <a:prstDash val="solid"/>
          </a:ln>
        </p:spPr>
        <p:txBody>
          <a:bodyPr/>
          <a:lstStyle/>
          <a:p>
            <a:endParaRPr lang="en-US"/>
          </a:p>
        </p:txBody>
      </p:sp>
      <p:sp>
        <p:nvSpPr>
          <p:cNvPr id="28" name="line-1427">
            <a:extLst>
              <a:ext uri="{FF2B5EF4-FFF2-40B4-BE49-F238E27FC236}">
                <a16:creationId xmlns:a16="http://schemas.microsoft.com/office/drawing/2014/main" id="{885416D2-7922-40C1-88B1-ECC316AED6BC}"/>
              </a:ext>
            </a:extLst>
          </p:cNvPr>
          <p:cNvSpPr>
            <a:spLocks noGrp="1"/>
          </p:cNvSpPr>
          <p:nvPr/>
        </p:nvSpPr>
        <p:spPr>
          <a:xfrm>
            <a:off x="647700" y="6438900"/>
            <a:ext cx="10896600" cy="0"/>
          </a:xfrm>
          <a:prstGeom prst="line">
            <a:avLst/>
          </a:prstGeom>
          <a:noFill/>
          <a:ln w="9525">
            <a:solidFill>
              <a:srgbClr val="D8D1C5"/>
            </a:solidFill>
            <a:prstDash val="solid"/>
          </a:ln>
        </p:spPr>
        <p:txBody>
          <a:bodyPr/>
          <a:lstStyle/>
          <a:p>
            <a:endParaRPr lang="en-US"/>
          </a:p>
        </p:txBody>
      </p:sp>
      <p:sp>
        <p:nvSpPr>
          <p:cNvPr id="29" name="text-1428">
            <a:extLst>
              <a:ext uri="{FF2B5EF4-FFF2-40B4-BE49-F238E27FC236}">
                <a16:creationId xmlns:a16="http://schemas.microsoft.com/office/drawing/2014/main" id="{08BD9FAE-8909-4190-8208-8EBEED322739}"/>
              </a:ext>
            </a:extLst>
          </p:cNvPr>
          <p:cNvSpPr>
            <a:spLocks noGrp="1"/>
          </p:cNvSpPr>
          <p:nvPr/>
        </p:nvSpPr>
        <p:spPr>
          <a:xfrm>
            <a:off x="647700" y="6515100"/>
            <a:ext cx="5143500" cy="209550"/>
          </a:xfrm>
          <a:prstGeom prst="rect">
            <a:avLst/>
          </a:prstGeom>
          <a:noFill/>
          <a:ln w="0">
            <a:noFill/>
            <a:prstDash val="solid"/>
          </a:ln>
        </p:spPr>
        <p:txBody>
          <a:bodyPr wrap="square" lIns="0" tIns="0" rIns="0" bIns="0" anchor="t">
            <a:noAutofit/>
          </a:bodyPr>
          <a:lstStyle/>
          <a:p>
            <a:pPr algn="l">
              <a:defRPr sz="975" b="1">
                <a:solidFill>
                  <a:srgbClr val="6C6964"/>
                </a:solidFill>
                <a:latin typeface="Bahnschrift"/>
                <a:ea typeface="Bahnschrift"/>
                <a:cs typeface="Bahnschrift"/>
              </a:defRPr>
            </a:pPr>
            <a:r>
              <a:rPr sz="975" b="1">
                <a:solidFill>
                  <a:srgbClr val="6C6964"/>
                </a:solidFill>
                <a:latin typeface="Bahnschrift"/>
                <a:ea typeface="Bahnschrift"/>
                <a:cs typeface="Bahnschrift"/>
              </a:rPr>
              <a:t>DATA, RELEASE &amp; SCOPE</a:t>
            </a:r>
          </a:p>
        </p:txBody>
      </p:sp>
      <p:sp>
        <p:nvSpPr>
          <p:cNvPr id="30" name="text-1429">
            <a:extLst>
              <a:ext uri="{FF2B5EF4-FFF2-40B4-BE49-F238E27FC236}">
                <a16:creationId xmlns:a16="http://schemas.microsoft.com/office/drawing/2014/main" id="{1ACCB4A6-D6A8-457C-ABD5-13FA74C08BC0}"/>
              </a:ext>
            </a:extLst>
          </p:cNvPr>
          <p:cNvSpPr>
            <a:spLocks noGrp="1"/>
          </p:cNvSpPr>
          <p:nvPr/>
        </p:nvSpPr>
        <p:spPr>
          <a:xfrm>
            <a:off x="10287000" y="6505575"/>
            <a:ext cx="1219200" cy="209550"/>
          </a:xfrm>
          <a:prstGeom prst="rect">
            <a:avLst/>
          </a:prstGeom>
          <a:noFill/>
          <a:ln w="0">
            <a:noFill/>
            <a:prstDash val="solid"/>
          </a:ln>
        </p:spPr>
        <p:txBody>
          <a:bodyPr wrap="square" lIns="0" tIns="0" rIns="0" bIns="0" anchor="t">
            <a:noAutofit/>
          </a:bodyPr>
          <a:lstStyle/>
          <a:p>
            <a:pPr algn="r">
              <a:defRPr sz="1050" b="1">
                <a:solidFill>
                  <a:srgbClr val="6C6964"/>
                </a:solidFill>
                <a:latin typeface="Bahnschrift"/>
                <a:ea typeface="Bahnschrift"/>
                <a:cs typeface="Bahnschrift"/>
              </a:defRPr>
            </a:pPr>
            <a:r>
              <a:rPr sz="1050" b="1">
                <a:solidFill>
                  <a:srgbClr val="6C6964"/>
                </a:solidFill>
                <a:latin typeface="Bahnschrift"/>
                <a:ea typeface="Bahnschrift"/>
                <a:cs typeface="Bahnschrift"/>
              </a:rPr>
              <a:t>Q49 / 49</a:t>
            </a:r>
          </a:p>
        </p:txBody>
      </p:sp>
    </p:spTree>
    <p:extLst>
      <p:ext uri="{BB962C8B-B14F-4D97-AF65-F5344CB8AC3E}">
        <p14:creationId xmlns:p14="http://schemas.microsoft.com/office/powerpoint/2010/main" val="297141460"/>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6572</Words>
  <Application>Microsoft Office PowerPoint</Application>
  <PresentationFormat>Widescreen</PresentationFormat>
  <Paragraphs>1288</Paragraphs>
  <Slides>50</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Bahnschrift</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Nayan Solanki</cp:lastModifiedBy>
  <cp:revision>1</cp:revision>
  <dcterms:created xsi:type="dcterms:W3CDTF">2026-08-04T00:24:00Z</dcterms:created>
  <dcterms:modified xsi:type="dcterms:W3CDTF">2026-08-06T04:32:32Z</dcterms:modified>
</cp:coreProperties>
</file>